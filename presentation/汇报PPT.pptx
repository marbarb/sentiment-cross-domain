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758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小组的项目是《社交媒体情感分析的跨域泛化》。这次扩展版汇报仍然围绕一个核心问题：在评论数据上训练好的模型，为什么迁移到微博这种社交媒体文本后会明显失效，以及我们怎样用数据层改进和可复现实验去缩小这个差距。封面右侧三个数字先给出结论：目标域有 6000 条微博样本，其中 3600 条用于弱监督伪标注；最佳目标域 Macro-F1 达到 0.927；最平衡的跨域衰减 DeltaF1 是 -0.019。后面的汇报会依次说明问题、数据、方法、证据和最终交付。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结构保持原来的五部分，但每一部分增加一页细节或证据。第一部分讲问题背景和评价约束；第二部分讲数据来源、划分和偏移审计；第三部分讲系统架构、方法矩阵和训练评估协议；第四部分讲实验结果、消融、负向发现和失败案例；第五部分总结贡献、局限和演示过渡。这样页数从 10 页扩展到 20 页，但叙事顺序不变。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这个题目不是简单的情感分类。源域是外卖评论，表达方式更集中在口味、配送、服务等消费体验上，标签也比较均衡。目标域是微博，文本里经常有转发链、表情、反讽和社会事件语境，而且我们刻意构造成负:正=2:1，模拟舆情监测中负面声音偏多的场景。因此，源域学到的词面模式迁移到微博时会失效，负面召回也会变得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这一页补充评价目标。跨域任务里，单看目标域 F1 不够，因为模型可能通过牺牲源域稳定性换取目标域分数，也可能因为阈值选择导致负面召回不足。所以我们同时看 Macro-F1、Weighted-F1、AUC、DeltaF1 和目标域负面召回率。DeltaF1 越接近 0，说明源域和目标域表现越平衡；负面召回率则对应舆情监测中漏报负面信息的风险。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这页说明数据规模。源域来自 ChineseNlpCorpus 的 waimai_10k，处理后 8000 条；目标域来自 HuggingFace 的 weibo_senti_100k，处理后 6000 条。目标域进一步切分成 train、val、test 和 unlabeled，其中 3600 条未标注样本用于弱监督伪标注。这一点很关键，因为中期阶段可能只是 smoke benchmark，而最终版已经换成真实公开语料，并且目标域满足 5k+ 的规模要求。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这一页把数据划分和方法联系起来。源域主要用于训练基础情感分类能力；目标域 train 很小，只占 600 条，用于模拟现实中人工标注昂贵的情况；目标域 unlabeled 有 3600 条，适合弱监督伪标注；目标域 val 用来调阈值，尤其要约束负面召回；test 则只在最终报告中使用。这样做的好处是每个模块都对应一个明确的数据来源，避免训练和评估混在一起。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这一页进一步解释为什么目标域更难。微博文本平均长度约 51.9 字，比源域评论长得多，里面常常有转发链、表情符号、社会事件实体和反讽表达。源域里的“好吃、配送、服务”等词，迁移到微博时不一定有同样意义；微博里的“哈哈、祝福、鼓掌”也可能出现在负面或讽刺语境中。因此我们不仅需要模型，还需要错误案例和失败模式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这一页展示系统架构。流程从公开语料开始，经过 TextCleaner 做去噪、去重和字段统一，然后生成 source_full 和 social_full 两个正式数据文件。接着进入特征编码和 E0-E6 实验矩阵，每个方法跑 3 个随机种子，并在目标域验证集调阈值。最后输出 JSON、CSV、PNG 图表和 PDF/Markdown 报告。架构重点不是只跑一次模型，而是让数据、代码、结果和报告可以互相追溯。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这一页补充可复现性。最终交付不只是 PPT 和报告，而是包含数据准备、实验运行、报告生成和验证脚本。别人可以运行 run_final 重新生成结果，也可以用 verify_final 快速检查已有产物是否完整。报告中的数据规模、实验指标和错误样本都来自本地结果文件，而不是手工填写。这个设计能减少答辩时最常见的问题：数字从哪里来、结果能不能复跑、失败案例是不是临时编的。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这一页是方法矩阵。E0 是 TF-IDF+LR 的源域基线，给出下限；E1 增强 lexical encoder，加入字符 n-gram 和情感词典；E2 加入弱监督伪标注；E3 使用少量目标域金标做 adapter calibration；E4 组合伪标注和 adapter；E5 做领域特征过滤；E6 使用 char1-5 更宽的特征空间作为 backbone 替换。这样每个模块都有可比较的对照。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这一页解释训练逻辑。对于每个方法，训练数据从源域开始，如果启用伪标注，就加入目标域 unlabeled 中的高置信样本；如果启用 adapter，就加入加权的目标域 train 金标样本。模型训练后，不直接用默认 0.5 阈值，而是在目标域验证集上搜索最优阈值，同时让负面召回尽量不低于 0.85。最后再在源域和目标域测试集上报告结果。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这一页先看基线。E0 的目标域 F1 只有 0.625，E1 增强 lexical 特征后也只有 0.644，说明单纯把源域模型迁移到微博仍然有明显衰减。E1 的负面召回达到 0.873，但正例召回较弱，说明它更偏向预测负面，不能代表整体分类能力好。因此后面需要伪标注、目标域校准和更宽特征空间来补充目标域信号。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这一页展示最终结果图。蓝色是目标域 Macro-F1，绿色是负面召回，黄色是目标域 AUC。可以看到 E3 的目标域 F1 最高，达到 0.927，负面召回也达到 0.958；E6 的目标域 F1 是 0.890，但 DeltaF1 只有 -0.019，是源域和目标域表现最平衡的方法。E5 虽然负面召回不低，但 F1 明显回落，后面会作为负向消融分析。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这一页解释结果，不只是报数字。E3 使用少量目标域金标样本做校准，所以它最直接地补上了目标域语境和类别分布信息，目标域 F1 最好。E6 使用 char1-5 更宽特征空间，它未必达到最高目标 F1，但源域和目标域之间的差距最小，说明特征覆盖更均衡。因此如果业务只关心微博舆情上线效果，可以优先考虑 E3；如果课程实验强调跨域泛化稳定性，E6 是很重要的补充结论。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这一页讲正向消融。E1 是增强特征但只用源域训练，目标 F1 为 0.644。加入弱监督伪标注后，E2 提升到 0.753，说明 unlabeled 目标域数据确实提供了有用的目标域词面信号。E3 加入少量目标域金标校准后提升到 0.927，是最大提升来源。这个结果说明，在跨域情感分析里，少量高质量目标域标注比盲目堆模型更关键。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这一页讲负向消融。E5 做领域特征过滤，目标是去掉强领域特异 n-gram，模拟 domain-adversarial 的效果。它确实把 MMD 从 0.049 降到 0.016，但目标 F1 只有 0.681，明显低于 E2、E3 和 E6。原因是过滤过强时，可能把微博目标域里的关键情感触发词也删掉了。这说明跨域对齐不能只看分布距离，还要看任务指标和错误样本。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这一页展示具体错误。样本里有很多“美味、太香、不错”这样的正向词，所以 E0 预测为正面；但真实标签是负面，因为整体语境里有“吃多了、抓狂”等负面体验。线性 n-gram 模型容易抓住局部词面，却没有能力理解跨句语义和反讽。这类失败案例说明，最终模型即使指标提升，也仍然需要上下文编码器、表情特征和困难样本主动学习来继续改进。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这一页承认局限。为了保证课程环境中无 GPU、无外部账号也能复现，最终可运行实验使用 lexical/hash 特征来模拟完整迁移框架。这让 E0-E6 消融非常快、非常稳定，但对长转发链、反讽、表情和跨句语义的建模能力弱于 BERT/RoBERTa。后续工作可以在保持同一数据 split 和同一评估协议的基础上，加入上下文编码器、人工一致性评估和更精细的错误类型标注。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最后总结三点贡献。第一，使用真实公开数据构建了源域 8000 条、目标域 6000 条的跨域情感任务；第二，完成 E0-E6 消融矩阵，每个方法 3 个随机种子并报告均值和标准差；第三，形成了数据准备、实验运行、结果验证和报告生成的可复现闭环。关键结论是：E3 目标域校准最有效，E6 跨域衰减最平衡，E5 提醒我们不能只看分布距离。接下来可以进入 3 分钟系统演示，展示这些产物如何被验证。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社交媒体情感分析的跨域泛化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76656" y="1115568"/>
            <a:ext cx="7132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面向分布偏移的 Data-Centric 改进与可复现实验系统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1700784"/>
            <a:ext cx="129844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 DEFENSE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13232" y="4315968"/>
            <a:ext cx="41148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小组成员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李乘黄 3220251475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马啸 3220251484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THAM WAN HEI 3820251057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化润宇 3220251231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13232" y="5559552"/>
            <a:ext cx="2926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日期：2026-06-13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321040" y="713232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30768" y="822960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39912" y="1234440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目标域微博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8439912" y="1499616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 3600 条 unlabeled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321040" y="20574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16712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39912" y="257860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最佳目标 F1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8439912" y="28437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target adapter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321040" y="3401568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30768" y="3511296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-0.019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39912" y="3922776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最平衡 DeltaF1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8439912" y="4187952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E6 char1-5 backbone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AGENDA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汇报顺序保持五段结构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502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746504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63240" y="1773936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为什么跨域情感分析值得做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914400" y="2167128"/>
            <a:ext cx="6309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432304"/>
            <a:ext cx="502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423160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数据介绍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063240" y="2450592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来源、规模、偏移与审计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914400" y="2843784"/>
            <a:ext cx="6309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108960"/>
            <a:ext cx="502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00200" y="3099816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63240" y="312724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架构、基线、进阶模块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914400" y="3520440"/>
            <a:ext cx="6309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3785616"/>
            <a:ext cx="502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600200" y="3776472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实验结果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063240" y="3803904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指标、消融、失败案例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914400" y="4197096"/>
            <a:ext cx="6309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0120" y="4462272"/>
            <a:ext cx="502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600200" y="4453128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总结演示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063240" y="4480560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贡献、局限与系统 demo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914400" y="4873752"/>
            <a:ext cx="6309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MOTIVATION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问题背景：源域模型直接迁移到微博会遇到双重偏移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文本风格偏移 + 类别分布偏移共同导致目标域性能衰减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22960" y="1783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1892808"/>
            <a:ext cx="2807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源域：评论文本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950976" y="2167128"/>
            <a:ext cx="2807208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waimai_10k 外卖评论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短文本、商品/服务体验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标签均衡，平均 22.9 字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容易学到口味、配送、服务词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4526280" y="1783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54296" y="1892808"/>
            <a:ext cx="2807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目标域：微博文本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4654296" y="2167128"/>
            <a:ext cx="2807208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weibo_senti_100k 微博情感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转发链、表情、反讽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负面偏重，平均 51.9 字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更接近舆情监测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8229600" y="1783080"/>
            <a:ext cx="2788920" cy="2057400"/>
          </a:xfrm>
          <a:prstGeom prst="roundRect">
            <a:avLst>
              <a:gd name="adj" fmla="val 2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57616" y="1892808"/>
            <a:ext cx="253288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Domain shift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8357616" y="2167128"/>
            <a:ext cx="2532888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同一情感标签在两个域里的词面、语境和类别比例都不同；目标域不能只看 accuracy。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932688" y="4343400"/>
            <a:ext cx="9784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业务价值：更早发现负面舆情，负面召回率必须足够高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科学价值：量化 F1(source) 与 F1(target) 的衰减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工程价值：形成数据、实验、报告一键复现闭环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 DETAIL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评价目标不能只看目标域 F1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DeltaF1、负面召回和 AUC 共同约束跨域泛化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68680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78408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DeltaF1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87552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跨域衰减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987552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F1(source) - F1(target)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3182112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91840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Neg 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00984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舆情风险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3300984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目标域负面召回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5486400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596128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AUC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605272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阈值无关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5605272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排序能力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7799832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09560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Macro-F1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918704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主指标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7918704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类别不均衡更稳健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9601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验收逻辑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60120" y="3977640"/>
            <a:ext cx="99669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如果 DeltaF1 很大，说明跨域衰减仍然明显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如果负面召回低，舆情场景会漏掉关键负面评论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如果只优化 MMD/KL，可能降低分布距离但损伤情感触发词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最终实验必须同时报告均值和标准差，避免单个随机种子偶然性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 AUDIT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数据介绍：正式数据不是示例数据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源域 8000 条，目标域 6000 条，目标域满足 5k+ 要求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75096"/>
              </p:ext>
            </p:extLst>
          </p:nvPr>
        </p:nvGraphicFramePr>
        <p:xfrm>
          <a:off x="640080" y="1664208"/>
          <a:ext cx="7909560" cy="126187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域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raw rows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processed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train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val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test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unlabeled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正例比例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平均长度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源域 waimai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11987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8000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5600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50.0%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22.9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目标域 weibo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119000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6000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3600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33.3%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51.9</a:t>
                      </a:r>
                      <a:endParaRPr lang="en-US" sz="78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4400" y="379476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24128" y="390448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2:1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33272" y="431596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目标域负:正</a:t>
            </a:r>
            <a:endParaRPr lang="en-US" sz="860" dirty="0"/>
          </a:p>
        </p:txBody>
      </p:sp>
      <p:sp>
        <p:nvSpPr>
          <p:cNvPr id="13" name="Text 9"/>
          <p:cNvSpPr/>
          <p:nvPr/>
        </p:nvSpPr>
        <p:spPr>
          <a:xfrm>
            <a:off x="1033272" y="45811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模拟负面舆情偏重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3246120" y="379476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55848" y="390448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3600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364992" y="431596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未标注样本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3364992" y="45811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用于弱监督伪标注</a:t>
            </a:r>
            <a:endParaRPr lang="en-US" sz="720" dirty="0"/>
          </a:p>
        </p:txBody>
      </p:sp>
      <p:sp>
        <p:nvSpPr>
          <p:cNvPr id="18" name="Shape 14"/>
          <p:cNvSpPr/>
          <p:nvPr/>
        </p:nvSpPr>
        <p:spPr>
          <a:xfrm>
            <a:off x="5577840" y="379476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687568" y="390448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696712" y="431596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目标域金标训练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5696712" y="45811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少量标注适配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 SPLIT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数据划分为方法设计服务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目标域少量金标 + 大量 unlabeled 支撑 adapter 和 pseudo labels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scripts/prepare_real_data.py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5800" y="1828800"/>
            <a:ext cx="2359152" cy="1554480"/>
          </a:xfrm>
          <a:prstGeom prst="roundRect">
            <a:avLst>
              <a:gd name="adj" fmla="val 35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193852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 train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813816" y="2212848"/>
            <a:ext cx="21031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5600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学习评论域基础情感特征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317296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474720" y="1828800"/>
            <a:ext cx="2359152" cy="1554480"/>
          </a:xfrm>
          <a:prstGeom prst="roundRect">
            <a:avLst>
              <a:gd name="adj" fmla="val 352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2736" y="193852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train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3602736" y="2212848"/>
            <a:ext cx="21031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少量金标校准 adapter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596188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63640" y="1828800"/>
            <a:ext cx="2359152" cy="1554480"/>
          </a:xfrm>
          <a:prstGeom prst="roundRect">
            <a:avLst>
              <a:gd name="adj" fmla="val 352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93852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unlabeled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6391656" y="2212848"/>
            <a:ext cx="21031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3600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高置信弱监督伪标注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875080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052560" y="1828800"/>
            <a:ext cx="2359152" cy="1554480"/>
          </a:xfrm>
          <a:prstGeom prst="roundRect">
            <a:avLst>
              <a:gd name="adj" fmla="val 35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80576" y="193852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val/test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9180576" y="2212848"/>
            <a:ext cx="21031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 / 1200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调阈值与最终评估分离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914400" y="4160520"/>
            <a:ext cx="98755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目标域验证集负责选择阈值 tau，避免测试集泄漏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unlabeled 只通过高置信伪标注进入训练，不直接参与测试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负面召回率作为阈值约束，服务于舆情业务目标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 SHIFT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数据偏移来自文本风格、长度和语义触发词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微博目标域更长、更噪，且正负词面冲突更频繁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final_error_cases.csv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77240" y="1627632"/>
            <a:ext cx="2834640" cy="2011680"/>
          </a:xfrm>
          <a:prstGeom prst="roundRect">
            <a:avLst>
              <a:gd name="adj" fmla="val 272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" y="1737360"/>
            <a:ext cx="25786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长度差异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905256" y="2011680"/>
            <a:ext cx="2578608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源域平均 22.9 字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目标域平均 51.9 字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更容易出现跨句语义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3886200" y="1627632"/>
            <a:ext cx="2834640" cy="2011680"/>
          </a:xfrm>
          <a:prstGeom prst="roundRect">
            <a:avLst>
              <a:gd name="adj" fmla="val 272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14216" y="1737360"/>
            <a:ext cx="25786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噪声差异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4014216" y="2011680"/>
            <a:ext cx="2578608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转发链、表情、话题标签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文本片段之间语义跳跃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局部词面不可靠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995160" y="1627632"/>
            <a:ext cx="2834640" cy="2011680"/>
          </a:xfrm>
          <a:prstGeom prst="roundRect">
            <a:avLst>
              <a:gd name="adj" fmla="val 272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23176" y="1737360"/>
            <a:ext cx="25786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类别差异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7123176" y="2011680"/>
            <a:ext cx="2578608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源域标签均衡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目标域负面偏重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评估必须关注负面召回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877824" y="4160520"/>
            <a:ext cx="731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" y="4553712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数据偏移不是一个单独模块能解决的问题，所以后续实验把伪标注、目标域校准、领域过滤和 backbone 替换放进同一消融矩阵。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ARCHITECTURE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技术方案：从公开语料到可复现实验闭环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每一步都有文件产物，方便验收、复跑和定位问题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Flow source: scripts/prepare_real_data.py, src/experiments/final_runner.py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1298448" cy="1078992"/>
          </a:xfrm>
          <a:prstGeom prst="roundRect">
            <a:avLst>
              <a:gd name="adj" fmla="val 508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" y="1984248"/>
            <a:ext cx="1042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公开语料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630936" y="2258568"/>
            <a:ext cx="104241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waimai_10k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weibo_senti_100k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1856232" y="226771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30552" y="1874520"/>
            <a:ext cx="1298448" cy="1078992"/>
          </a:xfrm>
          <a:prstGeom prst="roundRect">
            <a:avLst>
              <a:gd name="adj" fmla="val 508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8568" y="1984248"/>
            <a:ext cx="1042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清洗去噪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258568" y="2258568"/>
            <a:ext cx="104241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TextCleaner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去重、过滤噪声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3483864" y="226771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58184" y="1874520"/>
            <a:ext cx="1298448" cy="1078992"/>
          </a:xfrm>
          <a:prstGeom prst="roundRect">
            <a:avLst>
              <a:gd name="adj" fmla="val 508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86200" y="1984248"/>
            <a:ext cx="1042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数据切分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3886200" y="2258568"/>
            <a:ext cx="104241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train / val / test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unlabeled 目标域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5111496" y="226771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85816" y="1874520"/>
            <a:ext cx="1298448" cy="1078992"/>
          </a:xfrm>
          <a:prstGeom prst="roundRect">
            <a:avLst>
              <a:gd name="adj" fmla="val 508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13832" y="1984248"/>
            <a:ext cx="1042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特征编码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513832" y="2258568"/>
            <a:ext cx="104241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char n-gram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情感词典特征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6739128" y="226771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013448" y="1874520"/>
            <a:ext cx="1298448" cy="1078992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41464" y="1984248"/>
            <a:ext cx="1042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实验矩阵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7141464" y="2258568"/>
            <a:ext cx="104241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E0-E6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seeds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8366760" y="226771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641080" y="1874520"/>
            <a:ext cx="1298448" cy="1078992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69096" y="1984248"/>
            <a:ext cx="1042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阈值评估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8769096" y="2258568"/>
            <a:ext cx="104241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Macro-F1 / AUC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Neg Recall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9994392" y="226771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268712" y="1874520"/>
            <a:ext cx="1298448" cy="1078992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396728" y="1984248"/>
            <a:ext cx="1042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结果报告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10396728" y="2258568"/>
            <a:ext cx="104241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metrics / summary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error cases / report</a:t>
            </a:r>
            <a:endParaRPr lang="en-US" sz="960" dirty="0"/>
          </a:p>
        </p:txBody>
      </p:sp>
      <p:sp>
        <p:nvSpPr>
          <p:cNvPr id="36" name="Text 33"/>
          <p:cNvSpPr/>
          <p:nvPr/>
        </p:nvSpPr>
        <p:spPr>
          <a:xfrm>
            <a:off x="822960" y="4160520"/>
            <a:ext cx="10241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`verify_final.py` 检查数据规模、E0-E6 完整性、每个方法 3 seeds 和达标指标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`final_metrics.json` 与 `final_summary.csv` 是报告数字来源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`final_error_cases.csv` 支撑失败案例分析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REPRODUCIBILITY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可复现设计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运行脚本、验证脚本、指标文件和报告生成链路一一对应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README, scripts/verify_final.py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396850"/>
              </p:ext>
            </p:extLst>
          </p:nvPr>
        </p:nvGraphicFramePr>
        <p:xfrm>
          <a:off x="868680" y="1691640"/>
          <a:ext cx="9235440" cy="23774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阶段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命令/文件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作用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数据准备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scripts/prepare_real_data.py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下载并生成 source/social full split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实验运行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./scripts/run_final.sh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执行 E0-E6、3 seeds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报告生成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scripts/generate_final_report.py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读取 metrics/audit 生成报告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交付验收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scripts/verify_final.py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检查数据、指标、报告和达标条件</a:t>
                      </a:r>
                      <a:endParaRPr lang="en-US" sz="84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960120" y="4572000"/>
            <a:ext cx="4251960" cy="804672"/>
          </a:xfrm>
          <a:prstGeom prst="roundRect">
            <a:avLst>
              <a:gd name="adj" fmla="val 681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88136" y="4681728"/>
            <a:ext cx="39959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复现命令</a:t>
            </a:r>
            <a:endParaRPr lang="en-US" sz="880" dirty="0"/>
          </a:p>
        </p:txBody>
      </p:sp>
      <p:sp>
        <p:nvSpPr>
          <p:cNvPr id="12" name="Text 8"/>
          <p:cNvSpPr/>
          <p:nvPr/>
        </p:nvSpPr>
        <p:spPr>
          <a:xfrm>
            <a:off x="1088136" y="4956048"/>
            <a:ext cx="399592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./scripts/run_final.sh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scripts/verify_final.py</a:t>
            </a:r>
            <a:endParaRPr lang="en-US" sz="960" dirty="0"/>
          </a:p>
        </p:txBody>
      </p:sp>
      <p:sp>
        <p:nvSpPr>
          <p:cNvPr id="13" name="Shape 9"/>
          <p:cNvSpPr/>
          <p:nvPr/>
        </p:nvSpPr>
        <p:spPr>
          <a:xfrm>
            <a:off x="5623560" y="4572000"/>
            <a:ext cx="4343400" cy="804672"/>
          </a:xfrm>
          <a:prstGeom prst="roundRect">
            <a:avLst>
              <a:gd name="adj" fmla="val 681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51576" y="4681728"/>
            <a:ext cx="40873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快速验收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5751576" y="4956048"/>
            <a:ext cx="408736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 target &gt;= 5000、E0-E6、3 seeds、DeltaF1 与负面召回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METHOD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技术方案：E0-E6 隔离每个模块的贡献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同一数据、同一指标、三随机种子，避免单模型故事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src/experiments/final_runner.py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227597"/>
              </p:ext>
            </p:extLst>
          </p:nvPr>
        </p:nvGraphicFramePr>
        <p:xfrm>
          <a:off x="777240" y="1508760"/>
          <a:ext cx="7104888" cy="3145536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方法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关键变化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E0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TF-IDF+LR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仅源域训练，浅层下限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E1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strong lexical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char n-gram + 情感词典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E2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pseudo labels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加入高置信目标域伪标注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E3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target adapter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少量目标域金标校准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E4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pseudo + adapter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组合 E2 与 E3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E5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 filter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过滤强领域特异 n-gram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E6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char1-5 backbone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扩大特征空间</a:t>
                      </a:r>
                      <a:endParaRPr lang="en-US" sz="82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726680" y="1600200"/>
            <a:ext cx="2834640" cy="2011680"/>
          </a:xfrm>
          <a:prstGeom prst="roundRect">
            <a:avLst>
              <a:gd name="adj" fmla="val 272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854696" y="1709928"/>
            <a:ext cx="25786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</a:t>
            </a:r>
            <a:endParaRPr lang="en-US" sz="880" dirty="0"/>
          </a:p>
        </p:txBody>
      </p:sp>
      <p:sp>
        <p:nvSpPr>
          <p:cNvPr id="12" name="Text 8"/>
          <p:cNvSpPr/>
          <p:nvPr/>
        </p:nvSpPr>
        <p:spPr>
          <a:xfrm>
            <a:off x="7854696" y="1984248"/>
            <a:ext cx="2578608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每次只改变一个主要模块；报告均值±标准差；同时观察 F1、AUC、DeltaF1 和负面召回。</a:t>
            </a:r>
            <a:endParaRPr lang="en-US" sz="960" dirty="0"/>
          </a:p>
        </p:txBody>
      </p:sp>
      <p:sp>
        <p:nvSpPr>
          <p:cNvPr id="13" name="Shape 9"/>
          <p:cNvSpPr/>
          <p:nvPr/>
        </p:nvSpPr>
        <p:spPr>
          <a:xfrm>
            <a:off x="7726680" y="3913632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54696" y="4023360"/>
            <a:ext cx="25786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核心对照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7854696" y="4297680"/>
            <a:ext cx="25786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E1→E2 看伪标注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E1→E3 看校准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E4→E5 看领域过滤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TRAINING PROTOCOL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训练与评估协议：阈值选择也纳入实验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目标域验证集调 tau，并约束负面召回不低于业务要求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src/experiments/final_runner.py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2296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核心逻辑伪代码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1965960"/>
            <a:ext cx="4892040" cy="2148840"/>
          </a:xfrm>
          <a:prstGeom prst="roundRect">
            <a:avLst>
              <a:gd name="adj" fmla="val 255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148840"/>
            <a:ext cx="4434840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method in E0..E6: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train_data = source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pseudo: add high_conf(unlabeled)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adapter: add weighted(target_train)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model = sparse_logreg(features)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tau = argmax F1(target_val)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with neg_recall &gt;= 0.85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report source_test / target_test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6355080" y="187452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83096" y="1984248"/>
            <a:ext cx="1664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为什么调阈值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6483096" y="2258568"/>
            <a:ext cx="166420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类别不均衡下默认阈值可能漏掉负面评论。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8549640" y="187452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77656" y="1984248"/>
            <a:ext cx="1664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3 seeds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8677656" y="2258568"/>
            <a:ext cx="166420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降低单次采样、模型初始化和伪标注选择的偶然性。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6355080" y="3703320"/>
            <a:ext cx="42976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源域测试集衡量基础能力是否被破坏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目标域测试集衡量迁移效果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DeltaF1 衡量跨域性能差距是否真正收窄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 GAP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基线证明：source-only 迁移存在明显衰减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E0/E1 在目标域 F1 只有 0.625/0.644，不能满足最终目标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results/final_summary.csv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960120" y="173736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69848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0.625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78992" y="225856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 Target F1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1078992" y="25237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source-only 浅层基线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3246120" y="173736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55848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0.644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64992" y="225856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 Target F1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3364992" y="25237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增强 lexical 后仍不足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5532120" y="173736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41848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0.222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650992" y="225856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 DeltaF1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5650992" y="25237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跨域差距明显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7818120" y="173736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27848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0.873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936992" y="225856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 Neg Recall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7936992" y="25237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偏负面但整体 F1 低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96012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基线结论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60120" y="4096512"/>
            <a:ext cx="96012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增强特征本身不能解决微博语境和标签偏移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负面召回高不等于模型全面好，因为正例召回会被牺牲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后续模块必须同时提升目标域 F1 并控制 DeltaF1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RESULTS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实验结果：E3 目标域 F1 最佳，E6 跨域衰减最平衡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Macro-F1 / Negative Recall / Target AUC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results/final_summary.csv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pic>
        <p:nvPicPr>
          <p:cNvPr id="9" name="Image 0" descr="/Users/lichenghuang/workspace/homeworks/data-mining/2026-5-30midterm/sentiment-cross-domain/results/final_metric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6492240" cy="3675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01000" y="16002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110728" y="170992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0.927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119872" y="212140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Target F1</a:t>
            </a:r>
            <a:endParaRPr lang="en-US" sz="860" dirty="0"/>
          </a:p>
        </p:txBody>
      </p:sp>
      <p:sp>
        <p:nvSpPr>
          <p:cNvPr id="13" name="Text 9"/>
          <p:cNvSpPr/>
          <p:nvPr/>
        </p:nvSpPr>
        <p:spPr>
          <a:xfrm>
            <a:off x="8119872" y="23865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少量目标域金标校准最有效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8001000" y="29718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110728" y="308152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-0.019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19872" y="349300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E6 DeltaF1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8119872" y="37581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源域/目标域性能最均衡</a:t>
            </a:r>
            <a:endParaRPr lang="en-US" sz="720" dirty="0"/>
          </a:p>
        </p:txBody>
      </p:sp>
      <p:sp>
        <p:nvSpPr>
          <p:cNvPr id="18" name="Shape 14"/>
          <p:cNvSpPr/>
          <p:nvPr/>
        </p:nvSpPr>
        <p:spPr>
          <a:xfrm>
            <a:off x="8001000" y="43434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110728" y="445312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0.958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8119872" y="486460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Neg Recall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8119872" y="51297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满足舆情场景 Recall 要求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RESULT INTERPRETATION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E3 与 E6 是两个不同意义上的最优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一个追求目标域最高分，一个追求跨域稳定性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results/final_metrics.json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68680" y="1691640"/>
            <a:ext cx="4069080" cy="1965960"/>
          </a:xfrm>
          <a:prstGeom prst="roundRect">
            <a:avLst>
              <a:gd name="adj" fmla="val 279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696" y="1801368"/>
            <a:ext cx="3813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E3：目标域性能最优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996696" y="2075688"/>
            <a:ext cx="3813048" cy="1490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F1=0.927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Neg Recall=0.958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原因：少量目标域金标直接校准微博语境与阈值。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5577840" y="1691640"/>
            <a:ext cx="4069080" cy="1965960"/>
          </a:xfrm>
          <a:prstGeom prst="roundRect">
            <a:avLst>
              <a:gd name="adj" fmla="val 279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05856" y="1801368"/>
            <a:ext cx="3813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E6：跨域衰减最平衡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5705856" y="2075688"/>
            <a:ext cx="3813048" cy="1490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F1=0.890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DeltaF1=-0.019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原因：char1-5 扩大特征覆盖，源域和目标域表现更接近。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914400" y="4160520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汇报时的落点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526280"/>
            <a:ext cx="950976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最高目标域效果和最佳泛化平衡不是同一个问题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E3 适合实际部署时优先追求目标域效果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E6 证明 backbone/特征空间会影响跨域稳定性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ABLATION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消融证明：伪标注和校准有效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E1→E2→E3 展示目标域信号逐步增强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results/final_summary.csv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05840" y="182880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 source-only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23160" y="1865376"/>
            <a:ext cx="24688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23160" y="1865376"/>
            <a:ext cx="1589959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82880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0.644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05840" y="233172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E2 + pseudo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23160" y="2368296"/>
            <a:ext cx="24688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23160" y="2368296"/>
            <a:ext cx="1859067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3172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0.753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05840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+ adapter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423160" y="2871216"/>
            <a:ext cx="24688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23160" y="2871216"/>
            <a:ext cx="228865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2834640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0.927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92240" y="1691640"/>
            <a:ext cx="3611880" cy="1078992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1801368"/>
            <a:ext cx="33558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E2 的贡献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6620256" y="2075688"/>
            <a:ext cx="335584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无标注目标域样本经高置信筛选后，补充微博词面和表达习惯。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492240" y="3035808"/>
            <a:ext cx="3611880" cy="1078992"/>
          </a:xfrm>
          <a:prstGeom prst="roundRect">
            <a:avLst>
              <a:gd name="adj" fmla="val 508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0256" y="3145536"/>
            <a:ext cx="33558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的贡献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6620256" y="3419856"/>
            <a:ext cx="335584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少量目标域金标样本直接修正类别边界和阈值，是收益最大模块。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1005840" y="4526280"/>
            <a:ext cx="6583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 F1 提升路径：0.644 → 0.753 → 0.927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NEGATIVE ABLATION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负向发现：分布距离降低不等于分类效果更好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E5 降低 MMD，但目标 F1 只有 0.681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results/final_summary.csv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914400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24128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0.016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3272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MMD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1033272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分布距离降低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55848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0.681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64992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E5 Target F1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3364992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分类效果回落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5577840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87568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0.898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696712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E5 Neg Recall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5696712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负面召回尚可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7909560" y="1627632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37576" y="173736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8037576" y="2011680"/>
            <a:ext cx="2487168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强行删除领域特异 n-gram 会降低域差异，但也可能删除目标域关键情感词。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96012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方法失效案例的意义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60120" y="4389120"/>
            <a:ext cx="9692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如果只报告成功方法，会掩盖方法边界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E5 说明数据对齐指标必须和分类指标一起看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后续可以改为软权重过滤，而不是硬删除特征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FAILURE CASE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失败案例：正向词并不总是正向情绪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微博文本中局部情感词与整体语境经常冲突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results/final_error_cases.csv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77240" y="1481328"/>
            <a:ext cx="644652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700784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真实错误样本（E0）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7552" y="2075688"/>
            <a:ext cx="5897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“今天又吃多了[抓狂]这劲爆的音乐配上如此的美味，实在无法抗拒啊！黑菌意大利米饭配烤奶酪片太香……现在已经飘飘然了！”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7552" y="2962656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真实标签：负面 / 预测：正面 / positive prob=0.619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635240" y="1481328"/>
            <a:ext cx="2971800" cy="1078992"/>
          </a:xfrm>
          <a:prstGeom prst="roundRect">
            <a:avLst>
              <a:gd name="adj" fmla="val 508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63256" y="1591056"/>
            <a:ext cx="2715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为什么会错？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7763256" y="1865376"/>
            <a:ext cx="27157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局部有正向词；整体语境却包含负面体验和反讽。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7635240" y="2761488"/>
            <a:ext cx="2971800" cy="1078992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63256" y="2871216"/>
            <a:ext cx="2715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改进方向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7763256" y="3145536"/>
            <a:ext cx="27157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加入上下文编码器、表情/反讽特征，并建立困难样本集。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914400" y="4251960"/>
            <a:ext cx="9601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错误类型用于指导下一轮主动学习采样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失败案例证明 lexical/hash 特征仍有边界</a:t>
            </a:r>
            <a:endParaRPr lang="en-US" sz="11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LIMITATIONS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局限性：CPU 友好版本牺牲了深层语义建模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8778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最终实验可复现，但不是语义能力的上限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final_report.md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22960" y="1691640"/>
            <a:ext cx="2971800" cy="1600200"/>
          </a:xfrm>
          <a:prstGeom prst="roundRect">
            <a:avLst>
              <a:gd name="adj" fmla="val 3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1801368"/>
            <a:ext cx="2715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当前局限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950976" y="2075688"/>
            <a:ext cx="2715768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lexical/hash 特征速度快、可复现，但缺少深层上下文语义。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4160520" y="1691640"/>
            <a:ext cx="2971800" cy="1600200"/>
          </a:xfrm>
          <a:prstGeom prst="roundRect">
            <a:avLst>
              <a:gd name="adj" fmla="val 342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8536" y="1801368"/>
            <a:ext cx="2715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风险场景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4288536" y="2075688"/>
            <a:ext cx="2715768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反讽、表情组合、长转发链、社会事件实体可能造成误判。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498080" y="1691640"/>
            <a:ext cx="2971800" cy="1600200"/>
          </a:xfrm>
          <a:prstGeom prst="roundRect">
            <a:avLst>
              <a:gd name="adj" fmla="val 342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6096" y="1801368"/>
            <a:ext cx="2715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后续升级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7626096" y="2075688"/>
            <a:ext cx="2715768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 BERT/RoBERTa 微调，补人工一致性和主动学习。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896112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保持可比性的前提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14400" y="4416552"/>
            <a:ext cx="9692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不更换数据 split，保证和当前 E0-E6 结果可比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沿用 Macro-F1、AUC、DeltaF1、Neg Recall 指标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把 final_error_cases.csv 作为困难样本评估集的一部分</a:t>
            </a:r>
            <a:endParaRPr lang="en-US" sz="11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WRAP-UP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总结：目标域校准最有效，跨域平衡需要更宽特征空间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repository results and final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68680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78408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0.927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87552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最佳目标 F1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987552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target adapter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3182112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91840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-0.019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00984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最平衡 DeltaF1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3300984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E6 char1-5 backbone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5486400" y="16916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D9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596128" y="1801368"/>
            <a:ext cx="17373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605272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目标域规模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5605272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真实公开微博数据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914400" y="3977640"/>
            <a:ext cx="9509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真实数据：源域 8000，目标域 6000，含 unlabeled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完整消融：E0-E6、3 seeds、均值±标准差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可复现闭环：prepare_real_data / run_final / verify_final / report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2065</Words>
  <Application>Microsoft Macintosh PowerPoint</Application>
  <PresentationFormat>宽屏</PresentationFormat>
  <Paragraphs>446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PingFang SC</vt:lpstr>
      <vt:lpstr>Arial</vt:lpstr>
      <vt:lpstr>Menlo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数据挖掘课程项目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社交媒体情感分析的跨域泛化：扩展汇报版</dc:title>
  <dc:subject>社交媒体情感分析的跨域泛化</dc:subject>
  <dc:creator>李乘黄、马啸、THAM WAN HEI、化润宇</dc:creator>
  <cp:lastModifiedBy>乘黄 李</cp:lastModifiedBy>
  <cp:revision>3</cp:revision>
  <dcterms:created xsi:type="dcterms:W3CDTF">2026-06-13T07:03:42Z</dcterms:created>
  <dcterms:modified xsi:type="dcterms:W3CDTF">2026-06-13T08:38:29Z</dcterms:modified>
</cp:coreProperties>
</file>
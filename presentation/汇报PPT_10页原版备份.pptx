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38"/>
  </p:normalViewPr>
  <p:slideViewPr>
    <p:cSldViewPr snapToGrid="0">
      <p:cViewPr varScale="1">
        <p:scale>
          <a:sx n="118" d="100"/>
          <a:sy n="118" d="100"/>
        </p:scale>
        <p:origin x="5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F8FAC2F3-08F2-4661-82DE-2F97A9E6325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B5D00B0-D012-4F96-8D2F-03AB908FE8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87186BB-C69A-44D7-B66B-AB985D631F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000250"/>
          </a:xfrm>
          <a:prstGeom prst="rect">
            <a:avLst/>
          </a:prstGeom>
          <a:solidFill>
            <a:srgbClr val="172033"/>
          </a:solidFill>
          <a:ln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7D0DCEA-043E-4638-8E0A-428DAE108353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95250" cy="781050"/>
          </a:xfrm>
          <a:prstGeom prst="rect">
            <a:avLst/>
          </a:prstGeom>
          <a:solidFill>
            <a:srgbClr val="2563EB"/>
          </a:solidFill>
          <a:ln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6D06CA1-7268-4A5E-A59B-E67579EF8A27}"/>
              </a:ext>
            </a:extLst>
          </p:cNvPr>
          <p:cNvSpPr>
            <a:spLocks noGrp="1"/>
          </p:cNvSpPr>
          <p:nvPr/>
        </p:nvSpPr>
        <p:spPr>
          <a:xfrm>
            <a:off x="895350" y="590550"/>
            <a:ext cx="85725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 i="0">
                <a:solidFill>
                  <a:srgbClr val="FFFFFF"/>
                </a:solidFill>
              </a:defRPr>
            </a:pPr>
            <a:r>
              <a:t>社交媒体情感分析的跨域泛化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712CA0A-9C43-444D-AFDB-791E6DD95EC1}"/>
              </a:ext>
            </a:extLst>
          </p:cNvPr>
          <p:cNvSpPr>
            <a:spLocks noGrp="1"/>
          </p:cNvSpPr>
          <p:nvPr/>
        </p:nvSpPr>
        <p:spPr>
          <a:xfrm>
            <a:off x="914400" y="1200150"/>
            <a:ext cx="85725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 i="0">
                <a:solidFill>
                  <a:srgbClr val="DDE7F7"/>
                </a:solidFill>
              </a:defRPr>
            </a:pPr>
            <a:r>
              <a:t>面向分布偏移的 Data-Centric 改进与可复现实验系统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EB2B1EC-1899-44A7-A08C-9962830D76D3}"/>
              </a:ext>
            </a:extLst>
          </p:cNvPr>
          <p:cNvSpPr>
            <a:spLocks noGrp="1"/>
          </p:cNvSpPr>
          <p:nvPr/>
        </p:nvSpPr>
        <p:spPr>
          <a:xfrm>
            <a:off x="914400" y="1581150"/>
            <a:ext cx="51435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0" i="0">
                <a:solidFill>
                  <a:srgbClr val="9FB4D9"/>
                </a:solidFill>
              </a:defRPr>
            </a:pPr>
            <a:r>
              <a:t>数据挖掘课程项目 · 最终答辩材料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C71BDC5-3DFB-4EFE-A047-8671329C881A}"/>
              </a:ext>
            </a:extLst>
          </p:cNvPr>
          <p:cNvSpPr>
            <a:spLocks noGrp="1"/>
          </p:cNvSpPr>
          <p:nvPr/>
        </p:nvSpPr>
        <p:spPr>
          <a:xfrm>
            <a:off x="685800" y="2438400"/>
            <a:ext cx="11430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2563EB"/>
                </a:solidFill>
              </a:defRPr>
            </a:pPr>
            <a:r>
              <a:t>小组成员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3913BA-4914-4F6B-AA56-F2EC4853108B}"/>
              </a:ext>
            </a:extLst>
          </p:cNvPr>
          <p:cNvSpPr>
            <a:spLocks noGrp="1"/>
          </p:cNvSpPr>
          <p:nvPr/>
        </p:nvSpPr>
        <p:spPr>
          <a:xfrm>
            <a:off x="685800" y="2819400"/>
            <a:ext cx="4762500" cy="1143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 i="0">
                <a:solidFill>
                  <a:srgbClr val="0F172A"/>
                </a:solidFill>
              </a:defRPr>
            </a:pPr>
            <a:r>
              <a:t>李乘黄 3220251475</a:t>
            </a:r>
          </a:p>
          <a:p>
            <a:pPr>
              <a:defRPr sz="1725" b="1" i="0">
                <a:solidFill>
                  <a:srgbClr val="0F172A"/>
                </a:solidFill>
              </a:defRPr>
            </a:pPr>
            <a:r>
              <a:t>马啸 3220251484</a:t>
            </a:r>
          </a:p>
          <a:p>
            <a:pPr>
              <a:defRPr sz="1725" b="1" i="0">
                <a:solidFill>
                  <a:srgbClr val="0F172A"/>
                </a:solidFill>
              </a:defRPr>
            </a:pPr>
            <a:r>
              <a:t>THAM WAN HEI 3820251057</a:t>
            </a:r>
          </a:p>
          <a:p>
            <a:pPr>
              <a:defRPr sz="1725" b="1" i="0">
                <a:solidFill>
                  <a:srgbClr val="0F172A"/>
                </a:solidFill>
              </a:defRPr>
            </a:pPr>
            <a:r>
              <a:t>化润宇 3220251231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6CCB345-D577-4B75-B111-269BE9ED4D88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34290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 i="0">
                <a:solidFill>
                  <a:srgbClr val="64748B"/>
                </a:solidFill>
              </a:defRPr>
            </a:pPr>
            <a:r>
              <a:t>日期：2026-06-12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886CE486-8855-4467-9905-CD1AED1ECA03}"/>
              </a:ext>
            </a:extLst>
          </p:cNvPr>
          <p:cNvSpPr>
            <a:spLocks noGrp="1"/>
          </p:cNvSpPr>
          <p:nvPr/>
        </p:nvSpPr>
        <p:spPr>
          <a:xfrm>
            <a:off x="5905500" y="2476500"/>
            <a:ext cx="167640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61B97D6-C7D4-480F-8A17-E6007237893C}"/>
              </a:ext>
            </a:extLst>
          </p:cNvPr>
          <p:cNvSpPr>
            <a:spLocks noGrp="1"/>
          </p:cNvSpPr>
          <p:nvPr/>
        </p:nvSpPr>
        <p:spPr>
          <a:xfrm>
            <a:off x="5905500" y="2476500"/>
            <a:ext cx="47625" cy="1219200"/>
          </a:xfrm>
          <a:prstGeom prst="rect">
            <a:avLst/>
          </a:prstGeom>
          <a:solidFill>
            <a:srgbClr val="2563EB"/>
          </a:solidFill>
          <a:ln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07C8646-986A-4DCB-B269-CDD63E426B81}"/>
              </a:ext>
            </a:extLst>
          </p:cNvPr>
          <p:cNvSpPr>
            <a:spLocks noGrp="1"/>
          </p:cNvSpPr>
          <p:nvPr/>
        </p:nvSpPr>
        <p:spPr>
          <a:xfrm>
            <a:off x="6076950" y="2628900"/>
            <a:ext cx="14097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1" i="0">
                <a:solidFill>
                  <a:srgbClr val="2563EB"/>
                </a:solidFill>
              </a:defRPr>
            </a:pPr>
            <a:r>
              <a:t>6000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ED054A1-F8C5-460D-8733-9B232E9134EC}"/>
              </a:ext>
            </a:extLst>
          </p:cNvPr>
          <p:cNvSpPr>
            <a:spLocks noGrp="1"/>
          </p:cNvSpPr>
          <p:nvPr/>
        </p:nvSpPr>
        <p:spPr>
          <a:xfrm>
            <a:off x="6076950" y="3019425"/>
            <a:ext cx="14097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0F172A"/>
                </a:solidFill>
              </a:defRPr>
            </a:pPr>
            <a:r>
              <a:t>目标域微博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3D62C0F-EE2B-4117-B57C-A1BA6C92A2B4}"/>
              </a:ext>
            </a:extLst>
          </p:cNvPr>
          <p:cNvSpPr>
            <a:spLocks noGrp="1"/>
          </p:cNvSpPr>
          <p:nvPr/>
        </p:nvSpPr>
        <p:spPr>
          <a:xfrm>
            <a:off x="6076950" y="3276600"/>
            <a:ext cx="14097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0" i="0">
                <a:solidFill>
                  <a:srgbClr val="64748B"/>
                </a:solidFill>
              </a:defRPr>
            </a:pPr>
            <a:r>
              <a:t>含 3600 条 unlabeled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E4B15A3C-19B4-4ED1-8482-83366C3D9CC7}"/>
              </a:ext>
            </a:extLst>
          </p:cNvPr>
          <p:cNvSpPr>
            <a:spLocks noGrp="1"/>
          </p:cNvSpPr>
          <p:nvPr/>
        </p:nvSpPr>
        <p:spPr>
          <a:xfrm>
            <a:off x="7829550" y="2476500"/>
            <a:ext cx="167640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432853F-0997-4542-9410-3B1CEBFCDC67}"/>
              </a:ext>
            </a:extLst>
          </p:cNvPr>
          <p:cNvSpPr>
            <a:spLocks noGrp="1"/>
          </p:cNvSpPr>
          <p:nvPr/>
        </p:nvSpPr>
        <p:spPr>
          <a:xfrm>
            <a:off x="7829550" y="2476500"/>
            <a:ext cx="47625" cy="1219200"/>
          </a:xfrm>
          <a:prstGeom prst="rect">
            <a:avLst/>
          </a:prstGeom>
          <a:solidFill>
            <a:srgbClr val="16A34A"/>
          </a:solidFill>
          <a:ln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FF52C46-B4C7-4E66-83A3-5F8E92CC18EF}"/>
              </a:ext>
            </a:extLst>
          </p:cNvPr>
          <p:cNvSpPr>
            <a:spLocks noGrp="1"/>
          </p:cNvSpPr>
          <p:nvPr/>
        </p:nvSpPr>
        <p:spPr>
          <a:xfrm>
            <a:off x="8001000" y="2628900"/>
            <a:ext cx="14097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1" i="0">
                <a:solidFill>
                  <a:srgbClr val="16A34A"/>
                </a:solidFill>
              </a:defRPr>
            </a:pPr>
            <a:r>
              <a:t>0.927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0F6CB87-D708-4B88-9CFF-D132DE2A1A9D}"/>
              </a:ext>
            </a:extLst>
          </p:cNvPr>
          <p:cNvSpPr>
            <a:spLocks noGrp="1"/>
          </p:cNvSpPr>
          <p:nvPr/>
        </p:nvSpPr>
        <p:spPr>
          <a:xfrm>
            <a:off x="8001000" y="3019425"/>
            <a:ext cx="14097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0F172A"/>
                </a:solidFill>
              </a:defRPr>
            </a:pPr>
            <a:r>
              <a:t>最佳目标 F1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F0BD9AF-61D2-46D2-AECE-15C91E983C4C}"/>
              </a:ext>
            </a:extLst>
          </p:cNvPr>
          <p:cNvSpPr>
            <a:spLocks noGrp="1"/>
          </p:cNvSpPr>
          <p:nvPr/>
        </p:nvSpPr>
        <p:spPr>
          <a:xfrm>
            <a:off x="8001000" y="3276600"/>
            <a:ext cx="14097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0" i="0">
                <a:solidFill>
                  <a:srgbClr val="64748B"/>
                </a:solidFill>
              </a:defRPr>
            </a:pPr>
            <a:r>
              <a:t>E3 target adapter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C11EBDEC-4274-416D-B41D-C514F24618D5}"/>
              </a:ext>
            </a:extLst>
          </p:cNvPr>
          <p:cNvSpPr>
            <a:spLocks noGrp="1"/>
          </p:cNvSpPr>
          <p:nvPr/>
        </p:nvSpPr>
        <p:spPr>
          <a:xfrm>
            <a:off x="9753600" y="2476500"/>
            <a:ext cx="167640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B65EBB5-2DAB-4E15-83F8-D3F33005E886}"/>
              </a:ext>
            </a:extLst>
          </p:cNvPr>
          <p:cNvSpPr>
            <a:spLocks noGrp="1"/>
          </p:cNvSpPr>
          <p:nvPr/>
        </p:nvSpPr>
        <p:spPr>
          <a:xfrm>
            <a:off x="9753600" y="2476500"/>
            <a:ext cx="47625" cy="1219200"/>
          </a:xfrm>
          <a:prstGeom prst="rect">
            <a:avLst/>
          </a:prstGeom>
          <a:solidFill>
            <a:srgbClr val="F59E0B"/>
          </a:solidFill>
          <a:ln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FA7BAD1-68FB-411A-8C2C-B066E3E04D1C}"/>
              </a:ext>
            </a:extLst>
          </p:cNvPr>
          <p:cNvSpPr>
            <a:spLocks noGrp="1"/>
          </p:cNvSpPr>
          <p:nvPr/>
        </p:nvSpPr>
        <p:spPr>
          <a:xfrm>
            <a:off x="9925050" y="2628900"/>
            <a:ext cx="14097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1" i="0">
                <a:solidFill>
                  <a:srgbClr val="F59E0B"/>
                </a:solidFill>
              </a:defRPr>
            </a:pPr>
            <a:r>
              <a:t>-0.019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2B3B636-2618-41A3-8D6D-6FD829C0CC37}"/>
              </a:ext>
            </a:extLst>
          </p:cNvPr>
          <p:cNvSpPr>
            <a:spLocks noGrp="1"/>
          </p:cNvSpPr>
          <p:nvPr/>
        </p:nvSpPr>
        <p:spPr>
          <a:xfrm>
            <a:off x="9925050" y="3019425"/>
            <a:ext cx="14097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0F172A"/>
                </a:solidFill>
              </a:defRPr>
            </a:pPr>
            <a:r>
              <a:t>最平衡 DeltaF1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4D61AFD-6AAE-41B6-BD33-010A83968019}"/>
              </a:ext>
            </a:extLst>
          </p:cNvPr>
          <p:cNvSpPr>
            <a:spLocks noGrp="1"/>
          </p:cNvSpPr>
          <p:nvPr/>
        </p:nvSpPr>
        <p:spPr>
          <a:xfrm>
            <a:off x="9925050" y="3276600"/>
            <a:ext cx="14097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0" i="0">
                <a:solidFill>
                  <a:srgbClr val="64748B"/>
                </a:solidFill>
              </a:defRPr>
            </a:pPr>
            <a:r>
              <a:t>E6 char1-5 backbone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940E5B7-B44A-4C17-8C12-7F9C04005293}"/>
              </a:ext>
            </a:extLst>
          </p:cNvPr>
          <p:cNvSpPr>
            <a:spLocks noGrp="1"/>
          </p:cNvSpPr>
          <p:nvPr/>
        </p:nvSpPr>
        <p:spPr>
          <a:xfrm>
            <a:off x="5905500" y="4095750"/>
            <a:ext cx="5524500" cy="19050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C99117C-4D4A-4224-BC92-110282E489D9}"/>
              </a:ext>
            </a:extLst>
          </p:cNvPr>
          <p:cNvSpPr>
            <a:spLocks noGrp="1"/>
          </p:cNvSpPr>
          <p:nvPr/>
        </p:nvSpPr>
        <p:spPr>
          <a:xfrm>
            <a:off x="5905500" y="4343400"/>
            <a:ext cx="12382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 i="0">
                <a:solidFill>
                  <a:srgbClr val="2563EB"/>
                </a:solidFill>
              </a:defRPr>
            </a:pPr>
            <a:r>
              <a:t>一句话结论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2F8F1CB-D85B-40F7-B09C-5AF68DF9F51A}"/>
              </a:ext>
            </a:extLst>
          </p:cNvPr>
          <p:cNvSpPr>
            <a:spLocks noGrp="1"/>
          </p:cNvSpPr>
          <p:nvPr/>
        </p:nvSpPr>
        <p:spPr>
          <a:xfrm>
            <a:off x="5905500" y="4648200"/>
            <a:ext cx="533400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 i="0">
                <a:solidFill>
                  <a:srgbClr val="0F172A"/>
                </a:solidFill>
              </a:defRPr>
            </a:pPr>
            <a:r>
              <a:t>少量目标域标注 + 弱监督/适配策略，能显著缩小评论源域到微博目标域的情感分类性能衰减。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2B3447A-732A-404A-903C-28653911CFA2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7810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0" i="0">
                <a:solidFill>
                  <a:srgbClr val="64748B"/>
                </a:solidFill>
              </a:defRPr>
            </a:pPr>
            <a:r>
              <a:t>Artifacts: final_report, final_metrics, final_data_audit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DF58964-03CF-447D-B29C-B7188D364BF8}"/>
              </a:ext>
            </a:extLst>
          </p:cNvPr>
          <p:cNvSpPr>
            <a:spLocks noGrp="1"/>
          </p:cNvSpPr>
          <p:nvPr/>
        </p:nvSpPr>
        <p:spPr>
          <a:xfrm>
            <a:off x="11163300" y="6438900"/>
            <a:ext cx="4191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 i="0">
                <a:solidFill>
                  <a:srgbClr val="64748B"/>
                </a:solidFill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57769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56C02A31-09C1-4EA4-B7FC-06B4C91113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C5CDAC3-CE05-4310-A7C4-6C8D3A16389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76200" cy="209550"/>
          </a:xfrm>
          <a:prstGeom prst="rect">
            <a:avLst/>
          </a:prstGeom>
          <a:solidFill>
            <a:srgbClr val="2563EB"/>
          </a:solidFill>
          <a:ln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99E1A8B-EC37-4911-9803-DCE840E99C6C}"/>
              </a:ext>
            </a:extLst>
          </p:cNvPr>
          <p:cNvSpPr>
            <a:spLocks noGrp="1"/>
          </p:cNvSpPr>
          <p:nvPr/>
        </p:nvSpPr>
        <p:spPr>
          <a:xfrm>
            <a:off x="800100" y="371475"/>
            <a:ext cx="24765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2563EB"/>
                </a:solidFill>
              </a:defRPr>
            </a:pPr>
            <a:r>
              <a:t>AGENDA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DD7E1E4-FEA5-40E8-81EB-992398C70650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04875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 b="1" i="0">
                <a:solidFill>
                  <a:srgbClr val="0F172A"/>
                </a:solidFill>
              </a:defRPr>
            </a:pPr>
            <a:r>
              <a:rPr dirty="0" err="1"/>
              <a:t>汇报</a:t>
            </a:r>
            <a:r>
              <a:rPr lang="zh-CN" altLang="en-US" dirty="0"/>
              <a:t>顺序：</a:t>
            </a:r>
            <a:r>
              <a:rPr dirty="0"/>
              <a:t>“</a:t>
            </a:r>
            <a:r>
              <a:rPr dirty="0" err="1"/>
              <a:t>问题</a:t>
            </a:r>
            <a:r>
              <a:rPr dirty="0"/>
              <a:t>—</a:t>
            </a:r>
            <a:r>
              <a:rPr dirty="0" err="1"/>
              <a:t>数据</a:t>
            </a:r>
            <a:r>
              <a:rPr dirty="0"/>
              <a:t>—</a:t>
            </a:r>
            <a:r>
              <a:rPr dirty="0" err="1"/>
              <a:t>方法</a:t>
            </a:r>
            <a:r>
              <a:rPr dirty="0"/>
              <a:t>—</a:t>
            </a:r>
            <a:r>
              <a:rPr dirty="0" err="1"/>
              <a:t>证据</a:t>
            </a:r>
            <a:r>
              <a:rPr dirty="0"/>
              <a:t>—</a:t>
            </a:r>
            <a:r>
              <a:rPr dirty="0" err="1"/>
              <a:t>演示</a:t>
            </a:r>
            <a:r>
              <a:rPr dirty="0"/>
              <a:t>”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D977C81-CE5B-4DEA-995E-6D080F07D8AC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972800" cy="19050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AEAB488C-E96B-4EE6-8834-7DA4CF012F84}"/>
              </a:ext>
            </a:extLst>
          </p:cNvPr>
          <p:cNvSpPr>
            <a:spLocks noGrp="1"/>
          </p:cNvSpPr>
          <p:nvPr/>
        </p:nvSpPr>
        <p:spPr>
          <a:xfrm>
            <a:off x="819150" y="2333625"/>
            <a:ext cx="1562100" cy="156210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A259E5D-6700-45DC-8AC4-10F1EE6371BC}"/>
              </a:ext>
            </a:extLst>
          </p:cNvPr>
          <p:cNvSpPr>
            <a:spLocks noGrp="1"/>
          </p:cNvSpPr>
          <p:nvPr/>
        </p:nvSpPr>
        <p:spPr>
          <a:xfrm>
            <a:off x="1009650" y="2552700"/>
            <a:ext cx="6477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1" i="0">
                <a:solidFill>
                  <a:srgbClr val="2563EB"/>
                </a:solidFill>
              </a:defRPr>
            </a:pPr>
            <a: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0BDFA34-2747-4655-87E9-8B6A208CC20D}"/>
              </a:ext>
            </a:extLst>
          </p:cNvPr>
          <p:cNvSpPr>
            <a:spLocks noGrp="1"/>
          </p:cNvSpPr>
          <p:nvPr/>
        </p:nvSpPr>
        <p:spPr>
          <a:xfrm>
            <a:off x="1009650" y="3105150"/>
            <a:ext cx="12001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0F172A"/>
                </a:solidFill>
              </a:defRPr>
            </a:pPr>
            <a:r>
              <a:t>问题背景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2ADED8E-5C5E-41EB-8685-1E72730625A0}"/>
              </a:ext>
            </a:extLst>
          </p:cNvPr>
          <p:cNvSpPr>
            <a:spLocks noGrp="1"/>
          </p:cNvSpPr>
          <p:nvPr/>
        </p:nvSpPr>
        <p:spPr>
          <a:xfrm>
            <a:off x="1009650" y="3495675"/>
            <a:ext cx="12001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64748B"/>
                </a:solidFill>
              </a:defRPr>
            </a:pPr>
            <a:r>
              <a:t>为什么跨域情感分析值得做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FAF6D28-B244-41E0-A6A0-BEBCEADB03CA}"/>
              </a:ext>
            </a:extLst>
          </p:cNvPr>
          <p:cNvSpPr>
            <a:spLocks noGrp="1"/>
          </p:cNvSpPr>
          <p:nvPr/>
        </p:nvSpPr>
        <p:spPr>
          <a:xfrm>
            <a:off x="2381250" y="3105150"/>
            <a:ext cx="495300" cy="2857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E6E8CAC7-C2BD-4F95-8AE4-8BDA07BF289C}"/>
              </a:ext>
            </a:extLst>
          </p:cNvPr>
          <p:cNvSpPr>
            <a:spLocks noGrp="1"/>
          </p:cNvSpPr>
          <p:nvPr/>
        </p:nvSpPr>
        <p:spPr>
          <a:xfrm>
            <a:off x="2838450" y="30480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03F7D42C-1B00-4AB7-8709-0FF2CBD73AB4}"/>
              </a:ext>
            </a:extLst>
          </p:cNvPr>
          <p:cNvSpPr>
            <a:spLocks noGrp="1"/>
          </p:cNvSpPr>
          <p:nvPr/>
        </p:nvSpPr>
        <p:spPr>
          <a:xfrm>
            <a:off x="2971800" y="2333625"/>
            <a:ext cx="1562100" cy="156210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682771D-AF6C-4E73-BC87-511537D70D84}"/>
              </a:ext>
            </a:extLst>
          </p:cNvPr>
          <p:cNvSpPr>
            <a:spLocks noGrp="1"/>
          </p:cNvSpPr>
          <p:nvPr/>
        </p:nvSpPr>
        <p:spPr>
          <a:xfrm>
            <a:off x="3162300" y="2552700"/>
            <a:ext cx="6477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1" i="0">
                <a:solidFill>
                  <a:srgbClr val="2563EB"/>
                </a:solidFill>
              </a:defRPr>
            </a:pPr>
            <a:r>
              <a:t>02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604A0FE-47F5-42E0-B06E-B92A930713E0}"/>
              </a:ext>
            </a:extLst>
          </p:cNvPr>
          <p:cNvSpPr>
            <a:spLocks noGrp="1"/>
          </p:cNvSpPr>
          <p:nvPr/>
        </p:nvSpPr>
        <p:spPr>
          <a:xfrm>
            <a:off x="3162300" y="3105150"/>
            <a:ext cx="12001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0F172A"/>
                </a:solidFill>
              </a:defRPr>
            </a:pPr>
            <a:r>
              <a:t>数据介绍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FEC39B0-CA27-40FA-B9A9-A204E28728CF}"/>
              </a:ext>
            </a:extLst>
          </p:cNvPr>
          <p:cNvSpPr>
            <a:spLocks noGrp="1"/>
          </p:cNvSpPr>
          <p:nvPr/>
        </p:nvSpPr>
        <p:spPr>
          <a:xfrm>
            <a:off x="3162300" y="3495675"/>
            <a:ext cx="12001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64748B"/>
                </a:solidFill>
              </a:defRPr>
            </a:pPr>
            <a:r>
              <a:t>来源、规模、偏移与审计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DC61E33-E7AE-4FF7-9B37-F56ABD24CB3A}"/>
              </a:ext>
            </a:extLst>
          </p:cNvPr>
          <p:cNvSpPr>
            <a:spLocks noGrp="1"/>
          </p:cNvSpPr>
          <p:nvPr/>
        </p:nvSpPr>
        <p:spPr>
          <a:xfrm>
            <a:off x="4533900" y="3105150"/>
            <a:ext cx="495300" cy="2857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DB84B9E9-A892-4947-A559-903BF9EB0366}"/>
              </a:ext>
            </a:extLst>
          </p:cNvPr>
          <p:cNvSpPr>
            <a:spLocks noGrp="1"/>
          </p:cNvSpPr>
          <p:nvPr/>
        </p:nvSpPr>
        <p:spPr>
          <a:xfrm>
            <a:off x="4991100" y="30480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B4CDDD18-CF94-4D4F-B630-ACEB925A76E5}"/>
              </a:ext>
            </a:extLst>
          </p:cNvPr>
          <p:cNvSpPr>
            <a:spLocks noGrp="1"/>
          </p:cNvSpPr>
          <p:nvPr/>
        </p:nvSpPr>
        <p:spPr>
          <a:xfrm>
            <a:off x="5124450" y="2333625"/>
            <a:ext cx="1562100" cy="1562100"/>
          </a:xfrm>
          <a:prstGeom prst="roundRect">
            <a:avLst>
              <a:gd name="adj" fmla="val 6098"/>
            </a:avLst>
          </a:prstGeom>
          <a:solidFill>
            <a:srgbClr val="EFF6FF"/>
          </a:solidFill>
          <a:ln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0CC9824-F8B5-4FFB-A073-D285F1EB6F10}"/>
              </a:ext>
            </a:extLst>
          </p:cNvPr>
          <p:cNvSpPr>
            <a:spLocks noGrp="1"/>
          </p:cNvSpPr>
          <p:nvPr/>
        </p:nvSpPr>
        <p:spPr>
          <a:xfrm>
            <a:off x="5314950" y="2552700"/>
            <a:ext cx="6477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1" i="0">
                <a:solidFill>
                  <a:srgbClr val="2563EB"/>
                </a:solidFill>
              </a:defRPr>
            </a:pPr>
            <a:r>
              <a:t>03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2A9E6D4-DA5D-4394-B51F-0BB5FB518512}"/>
              </a:ext>
            </a:extLst>
          </p:cNvPr>
          <p:cNvSpPr>
            <a:spLocks noGrp="1"/>
          </p:cNvSpPr>
          <p:nvPr/>
        </p:nvSpPr>
        <p:spPr>
          <a:xfrm>
            <a:off x="5314950" y="3105150"/>
            <a:ext cx="12001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0F172A"/>
                </a:solidFill>
              </a:defRPr>
            </a:pPr>
            <a:r>
              <a:t>技术方案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1875704-B29B-437C-BDB0-55F6FE1AF29F}"/>
              </a:ext>
            </a:extLst>
          </p:cNvPr>
          <p:cNvSpPr>
            <a:spLocks noGrp="1"/>
          </p:cNvSpPr>
          <p:nvPr/>
        </p:nvSpPr>
        <p:spPr>
          <a:xfrm>
            <a:off x="5314950" y="3495675"/>
            <a:ext cx="12001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64748B"/>
                </a:solidFill>
              </a:defRPr>
            </a:pPr>
            <a:r>
              <a:t>架构、基线、进阶模块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999E9FF-B70F-46C6-9B3E-226A2886FE32}"/>
              </a:ext>
            </a:extLst>
          </p:cNvPr>
          <p:cNvSpPr>
            <a:spLocks noGrp="1"/>
          </p:cNvSpPr>
          <p:nvPr/>
        </p:nvSpPr>
        <p:spPr>
          <a:xfrm>
            <a:off x="6686550" y="3105150"/>
            <a:ext cx="495300" cy="2857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339E7AC3-1579-451B-9F20-E4FCBA7372C4}"/>
              </a:ext>
            </a:extLst>
          </p:cNvPr>
          <p:cNvSpPr>
            <a:spLocks noGrp="1"/>
          </p:cNvSpPr>
          <p:nvPr/>
        </p:nvSpPr>
        <p:spPr>
          <a:xfrm>
            <a:off x="7143750" y="30480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396CB398-EB25-449D-A9E8-18D0B5C5E8C9}"/>
              </a:ext>
            </a:extLst>
          </p:cNvPr>
          <p:cNvSpPr>
            <a:spLocks noGrp="1"/>
          </p:cNvSpPr>
          <p:nvPr/>
        </p:nvSpPr>
        <p:spPr>
          <a:xfrm>
            <a:off x="7277100" y="2333625"/>
            <a:ext cx="1562100" cy="156210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77EE54D-57DF-4446-8836-508562CDB1A4}"/>
              </a:ext>
            </a:extLst>
          </p:cNvPr>
          <p:cNvSpPr>
            <a:spLocks noGrp="1"/>
          </p:cNvSpPr>
          <p:nvPr/>
        </p:nvSpPr>
        <p:spPr>
          <a:xfrm>
            <a:off x="7467600" y="2552700"/>
            <a:ext cx="6477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1" i="0">
                <a:solidFill>
                  <a:srgbClr val="2563EB"/>
                </a:solidFill>
              </a:defRPr>
            </a:pPr>
            <a:r>
              <a:t>04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64B2FC3-9A23-4459-B322-62AB86817D32}"/>
              </a:ext>
            </a:extLst>
          </p:cNvPr>
          <p:cNvSpPr>
            <a:spLocks noGrp="1"/>
          </p:cNvSpPr>
          <p:nvPr/>
        </p:nvSpPr>
        <p:spPr>
          <a:xfrm>
            <a:off x="7467600" y="3105150"/>
            <a:ext cx="12001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0F172A"/>
                </a:solidFill>
              </a:defRPr>
            </a:pPr>
            <a:r>
              <a:t>实验结果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7768ADF-03E8-4216-96D0-D719F08BD5E1}"/>
              </a:ext>
            </a:extLst>
          </p:cNvPr>
          <p:cNvSpPr>
            <a:spLocks noGrp="1"/>
          </p:cNvSpPr>
          <p:nvPr/>
        </p:nvSpPr>
        <p:spPr>
          <a:xfrm>
            <a:off x="7467600" y="3495675"/>
            <a:ext cx="12001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64748B"/>
                </a:solidFill>
              </a:defRPr>
            </a:pPr>
            <a:r>
              <a:t>指标、消融、失败案例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C584436-2C54-45D9-A2B8-3B3C53213AE7}"/>
              </a:ext>
            </a:extLst>
          </p:cNvPr>
          <p:cNvSpPr>
            <a:spLocks noGrp="1"/>
          </p:cNvSpPr>
          <p:nvPr/>
        </p:nvSpPr>
        <p:spPr>
          <a:xfrm>
            <a:off x="8839200" y="3105150"/>
            <a:ext cx="495300" cy="2857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C17DD756-737C-49D9-8871-270BADEA6E78}"/>
              </a:ext>
            </a:extLst>
          </p:cNvPr>
          <p:cNvSpPr>
            <a:spLocks noGrp="1"/>
          </p:cNvSpPr>
          <p:nvPr/>
        </p:nvSpPr>
        <p:spPr>
          <a:xfrm>
            <a:off x="9296400" y="30480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F6BBC12B-B083-429D-B22C-EB1573EAEF6D}"/>
              </a:ext>
            </a:extLst>
          </p:cNvPr>
          <p:cNvSpPr>
            <a:spLocks noGrp="1"/>
          </p:cNvSpPr>
          <p:nvPr/>
        </p:nvSpPr>
        <p:spPr>
          <a:xfrm>
            <a:off x="9429750" y="2333625"/>
            <a:ext cx="1562100" cy="156210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7366BDB-7796-43F9-A0CA-36D0DFD99946}"/>
              </a:ext>
            </a:extLst>
          </p:cNvPr>
          <p:cNvSpPr>
            <a:spLocks noGrp="1"/>
          </p:cNvSpPr>
          <p:nvPr/>
        </p:nvSpPr>
        <p:spPr>
          <a:xfrm>
            <a:off x="9620250" y="2552700"/>
            <a:ext cx="6477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1" i="0">
                <a:solidFill>
                  <a:srgbClr val="2563EB"/>
                </a:solidFill>
              </a:defRPr>
            </a:pPr>
            <a:r>
              <a:t>05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1F2203F-A137-4394-84AA-2C3BEA78D3A3}"/>
              </a:ext>
            </a:extLst>
          </p:cNvPr>
          <p:cNvSpPr>
            <a:spLocks noGrp="1"/>
          </p:cNvSpPr>
          <p:nvPr/>
        </p:nvSpPr>
        <p:spPr>
          <a:xfrm>
            <a:off x="9620250" y="3105150"/>
            <a:ext cx="12001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0F172A"/>
                </a:solidFill>
              </a:defRPr>
            </a:pPr>
            <a:r>
              <a:t>总结演示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BFF2628-95DF-4E1F-AD23-92A104658B85}"/>
              </a:ext>
            </a:extLst>
          </p:cNvPr>
          <p:cNvSpPr>
            <a:spLocks noGrp="1"/>
          </p:cNvSpPr>
          <p:nvPr/>
        </p:nvSpPr>
        <p:spPr>
          <a:xfrm>
            <a:off x="9620250" y="3495675"/>
            <a:ext cx="12001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64748B"/>
                </a:solidFill>
              </a:defRPr>
            </a:pPr>
            <a:r>
              <a:t>贡献、局限与 3 分钟系统 demo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76AD2E6-BCAC-4DC5-B030-D5437EF0204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7810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0" i="0">
                <a:solidFill>
                  <a:srgbClr val="64748B"/>
                </a:solidFill>
              </a:defRPr>
            </a:pPr>
            <a:r>
              <a:t>Source: repository results and final report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FA2C1F1-1809-4CD3-AFEC-2C52BAC3876C}"/>
              </a:ext>
            </a:extLst>
          </p:cNvPr>
          <p:cNvSpPr>
            <a:spLocks noGrp="1"/>
          </p:cNvSpPr>
          <p:nvPr/>
        </p:nvSpPr>
        <p:spPr>
          <a:xfrm>
            <a:off x="11163300" y="6438900"/>
            <a:ext cx="4191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 i="0">
                <a:solidFill>
                  <a:srgbClr val="64748B"/>
                </a:solidFill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2145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F2FBC805-04E0-4F5E-BCF5-4E9FC4E93DB6}"/>
              </a:ext>
            </a:extLst>
          </p:cNvPr>
          <p:cNvSpPr>
            <a:spLocks noGrp="1"/>
          </p:cNvSpPr>
          <p:nvPr/>
        </p:nvSpPr>
        <p:spPr>
          <a:xfrm>
            <a:off x="0" y="34290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8098703-A0C0-42C7-B174-E537EEB0055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76200" cy="209550"/>
          </a:xfrm>
          <a:prstGeom prst="rect">
            <a:avLst/>
          </a:prstGeom>
          <a:solidFill>
            <a:srgbClr val="2563EB"/>
          </a:solidFill>
          <a:ln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17A86F-5911-499D-A831-0BFD3F83F844}"/>
              </a:ext>
            </a:extLst>
          </p:cNvPr>
          <p:cNvSpPr>
            <a:spLocks noGrp="1"/>
          </p:cNvSpPr>
          <p:nvPr/>
        </p:nvSpPr>
        <p:spPr>
          <a:xfrm>
            <a:off x="800100" y="371475"/>
            <a:ext cx="24765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2563EB"/>
                </a:solidFill>
              </a:defRPr>
            </a:pPr>
            <a:r>
              <a:t>MOTIVATION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A3A16A6-D656-41F2-ABB2-4FC9409830B8}"/>
              </a:ext>
            </a:extLst>
          </p:cNvPr>
          <p:cNvSpPr>
            <a:spLocks noGrp="1"/>
          </p:cNvSpPr>
          <p:nvPr/>
        </p:nvSpPr>
        <p:spPr>
          <a:xfrm>
            <a:off x="609600" y="657225"/>
            <a:ext cx="1078230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 b="1" i="0">
                <a:solidFill>
                  <a:srgbClr val="0F172A"/>
                </a:solidFill>
              </a:defRPr>
            </a:pPr>
            <a:r>
              <a:rPr lang="zh-CN" altLang="en-US" dirty="0"/>
              <a:t>问题背景：</a:t>
            </a:r>
            <a:endParaRPr lang="en-US" altLang="zh-CN" dirty="0"/>
          </a:p>
          <a:p>
            <a:pPr>
              <a:defRPr sz="2850" b="1" i="0">
                <a:solidFill>
                  <a:srgbClr val="0F172A"/>
                </a:solidFill>
              </a:defRPr>
            </a:pPr>
            <a:r>
              <a:rPr dirty="0" err="1"/>
              <a:t>评论域模型直接迁移到微博，会遭遇文本风格与类别分布双重偏移</a:t>
            </a:r>
            <a:endParaRPr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D99748-AAA8-4F10-9366-F01C5A7E2F71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972800" cy="19050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8E89531D-0388-4E2E-9CEC-E0300C06D24D}"/>
              </a:ext>
            </a:extLst>
          </p:cNvPr>
          <p:cNvSpPr>
            <a:spLocks noGrp="1"/>
          </p:cNvSpPr>
          <p:nvPr/>
        </p:nvSpPr>
        <p:spPr>
          <a:xfrm>
            <a:off x="800100" y="2076450"/>
            <a:ext cx="4629150" cy="2247900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D3DAED5-E716-4761-9ED2-C19EAAE60F23}"/>
              </a:ext>
            </a:extLst>
          </p:cNvPr>
          <p:cNvSpPr>
            <a:spLocks noGrp="1"/>
          </p:cNvSpPr>
          <p:nvPr/>
        </p:nvSpPr>
        <p:spPr>
          <a:xfrm>
            <a:off x="1066800" y="2305050"/>
            <a:ext cx="20955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 i="0">
                <a:solidFill>
                  <a:srgbClr val="0F172A"/>
                </a:solidFill>
              </a:defRPr>
            </a:pPr>
            <a:r>
              <a:t>源域：评论文本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7F725D7-6E56-44F5-9DBC-B82DF984D6AD}"/>
              </a:ext>
            </a:extLst>
          </p:cNvPr>
          <p:cNvSpPr>
            <a:spLocks noGrp="1"/>
          </p:cNvSpPr>
          <p:nvPr/>
        </p:nvSpPr>
        <p:spPr>
          <a:xfrm>
            <a:off x="1066800" y="2781300"/>
            <a:ext cx="3905250" cy="990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 i="0">
                <a:solidFill>
                  <a:srgbClr val="0F172A"/>
                </a:solidFill>
              </a:defRPr>
            </a:pPr>
            <a:r>
              <a:t>waimai_10k 外卖评论</a:t>
            </a:r>
          </a:p>
          <a:p>
            <a:pPr>
              <a:defRPr sz="1500" b="0" i="0">
                <a:solidFill>
                  <a:srgbClr val="0F172A"/>
                </a:solidFill>
              </a:defRPr>
            </a:pPr>
            <a:r>
              <a:t>短文本、商品/服务体验、标签均衡</a:t>
            </a:r>
          </a:p>
          <a:p>
            <a:pPr>
              <a:defRPr sz="1500" b="0" i="0">
                <a:solidFill>
                  <a:srgbClr val="0F172A"/>
                </a:solidFill>
              </a:defRPr>
            </a:pPr>
            <a:r>
              <a:t>平均长度约 22.9 字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672A701-A82F-43D4-B994-0C1D82160579}"/>
              </a:ext>
            </a:extLst>
          </p:cNvPr>
          <p:cNvSpPr>
            <a:spLocks noGrp="1"/>
          </p:cNvSpPr>
          <p:nvPr/>
        </p:nvSpPr>
        <p:spPr>
          <a:xfrm>
            <a:off x="1066800" y="3943350"/>
            <a:ext cx="3619500" cy="19050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A0368A4-3606-4BA9-AE31-C941F9F853F8}"/>
              </a:ext>
            </a:extLst>
          </p:cNvPr>
          <p:cNvSpPr>
            <a:spLocks noGrp="1"/>
          </p:cNvSpPr>
          <p:nvPr/>
        </p:nvSpPr>
        <p:spPr>
          <a:xfrm>
            <a:off x="1066800" y="4095750"/>
            <a:ext cx="38100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64748B"/>
                </a:solidFill>
              </a:defRPr>
            </a:pPr>
            <a:r>
              <a:t>模型容易学到：口味、配送、服务等评论词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32E538FA-0824-43D5-9089-3ADD6D2BBEC8}"/>
              </a:ext>
            </a:extLst>
          </p:cNvPr>
          <p:cNvSpPr>
            <a:spLocks noGrp="1"/>
          </p:cNvSpPr>
          <p:nvPr/>
        </p:nvSpPr>
        <p:spPr>
          <a:xfrm>
            <a:off x="6762750" y="2076450"/>
            <a:ext cx="4629150" cy="2247900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FBA2C10-DFA6-43EB-8C54-6334D997DBF2}"/>
              </a:ext>
            </a:extLst>
          </p:cNvPr>
          <p:cNvSpPr>
            <a:spLocks noGrp="1"/>
          </p:cNvSpPr>
          <p:nvPr/>
        </p:nvSpPr>
        <p:spPr>
          <a:xfrm>
            <a:off x="7029450" y="2305050"/>
            <a:ext cx="20955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 i="0">
                <a:solidFill>
                  <a:srgbClr val="0F172A"/>
                </a:solidFill>
              </a:defRPr>
            </a:pPr>
            <a:r>
              <a:t>目标域：微博文本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44283B5-2F89-48D8-B012-B64ECC88B21D}"/>
              </a:ext>
            </a:extLst>
          </p:cNvPr>
          <p:cNvSpPr>
            <a:spLocks noGrp="1"/>
          </p:cNvSpPr>
          <p:nvPr/>
        </p:nvSpPr>
        <p:spPr>
          <a:xfrm>
            <a:off x="7029450" y="2781300"/>
            <a:ext cx="3905250" cy="990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 i="0">
                <a:solidFill>
                  <a:srgbClr val="0F172A"/>
                </a:solidFill>
              </a:defRPr>
            </a:pPr>
            <a:r>
              <a:t>weibo_senti_100k 微博情感</a:t>
            </a:r>
          </a:p>
          <a:p>
            <a:pPr>
              <a:defRPr sz="1500" b="0" i="0">
                <a:solidFill>
                  <a:srgbClr val="0F172A"/>
                </a:solidFill>
              </a:defRPr>
            </a:pPr>
            <a:r>
              <a:t>转发链、表情、反讽、语境混杂</a:t>
            </a:r>
          </a:p>
          <a:p>
            <a:pPr>
              <a:defRPr sz="1500" b="0" i="0">
                <a:solidFill>
                  <a:srgbClr val="0F172A"/>
                </a:solidFill>
              </a:defRPr>
            </a:pPr>
            <a:r>
              <a:t>负面偏重：负:正 = 2:1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129903A-D988-4B18-B0CB-AF7C38351C4E}"/>
              </a:ext>
            </a:extLst>
          </p:cNvPr>
          <p:cNvSpPr>
            <a:spLocks noGrp="1"/>
          </p:cNvSpPr>
          <p:nvPr/>
        </p:nvSpPr>
        <p:spPr>
          <a:xfrm>
            <a:off x="7029450" y="3943350"/>
            <a:ext cx="3619500" cy="19050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C1823B9-C9CC-4DE8-B542-0D2F7AAD7C54}"/>
              </a:ext>
            </a:extLst>
          </p:cNvPr>
          <p:cNvSpPr>
            <a:spLocks noGrp="1"/>
          </p:cNvSpPr>
          <p:nvPr/>
        </p:nvSpPr>
        <p:spPr>
          <a:xfrm>
            <a:off x="7029450" y="4095750"/>
            <a:ext cx="38100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64748B"/>
                </a:solidFill>
              </a:defRPr>
            </a:pPr>
            <a:r>
              <a:t>目标更接近舆情监测：负面召回不能低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3F17B1E-3812-4B74-81C0-3BB651FE5F48}"/>
              </a:ext>
            </a:extLst>
          </p:cNvPr>
          <p:cNvSpPr>
            <a:spLocks noGrp="1"/>
          </p:cNvSpPr>
          <p:nvPr/>
        </p:nvSpPr>
        <p:spPr>
          <a:xfrm>
            <a:off x="5581650" y="3067050"/>
            <a:ext cx="1009650" cy="38100"/>
          </a:xfrm>
          <a:prstGeom prst="rect">
            <a:avLst/>
          </a:prstGeom>
          <a:solidFill>
            <a:srgbClr val="2563EB"/>
          </a:solidFill>
          <a:ln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802F833-BFAB-47BB-8696-931E8BC9B683}"/>
              </a:ext>
            </a:extLst>
          </p:cNvPr>
          <p:cNvSpPr>
            <a:spLocks noGrp="1"/>
          </p:cNvSpPr>
          <p:nvPr/>
        </p:nvSpPr>
        <p:spPr>
          <a:xfrm>
            <a:off x="5562600" y="2705100"/>
            <a:ext cx="1066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 i="0">
                <a:solidFill>
                  <a:srgbClr val="2563EB"/>
                </a:solidFill>
              </a:defRPr>
            </a:pPr>
            <a:r>
              <a:t>Domain shift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2AAC8D2C-73F8-43D2-B379-66D16331D23C}"/>
              </a:ext>
            </a:extLst>
          </p:cNvPr>
          <p:cNvSpPr>
            <a:spLocks noGrp="1"/>
          </p:cNvSpPr>
          <p:nvPr/>
        </p:nvSpPr>
        <p:spPr>
          <a:xfrm>
            <a:off x="800100" y="4810125"/>
            <a:ext cx="24765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A11A412-0106-485C-B80F-483A8D41B791}"/>
              </a:ext>
            </a:extLst>
          </p:cNvPr>
          <p:cNvSpPr>
            <a:spLocks noGrp="1"/>
          </p:cNvSpPr>
          <p:nvPr/>
        </p:nvSpPr>
        <p:spPr>
          <a:xfrm>
            <a:off x="800100" y="4810125"/>
            <a:ext cx="47625" cy="990600"/>
          </a:xfrm>
          <a:prstGeom prst="rect">
            <a:avLst/>
          </a:prstGeom>
          <a:solidFill>
            <a:srgbClr val="16A34A"/>
          </a:solidFill>
          <a:ln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94695DE-2FB3-40A8-A9E1-11D112C95B40}"/>
              </a:ext>
            </a:extLst>
          </p:cNvPr>
          <p:cNvSpPr>
            <a:spLocks noGrp="1"/>
          </p:cNvSpPr>
          <p:nvPr/>
        </p:nvSpPr>
        <p:spPr>
          <a:xfrm>
            <a:off x="971550" y="4962525"/>
            <a:ext cx="22098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1" i="0">
                <a:solidFill>
                  <a:srgbClr val="16A34A"/>
                </a:solidFill>
              </a:defRPr>
            </a:pPr>
            <a:r>
              <a:t>业务价值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D5173E2-29FD-40B7-83E0-BE4ABD2E643B}"/>
              </a:ext>
            </a:extLst>
          </p:cNvPr>
          <p:cNvSpPr>
            <a:spLocks noGrp="1"/>
          </p:cNvSpPr>
          <p:nvPr/>
        </p:nvSpPr>
        <p:spPr>
          <a:xfrm>
            <a:off x="971550" y="5353050"/>
            <a:ext cx="22098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0F172A"/>
                </a:solidFill>
              </a:defRPr>
            </a:pPr>
            <a:r>
              <a:t>更早发现负面舆情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C98BA97-E077-4192-8931-D7DD396CD4C4}"/>
              </a:ext>
            </a:extLst>
          </p:cNvPr>
          <p:cNvSpPr>
            <a:spLocks noGrp="1"/>
          </p:cNvSpPr>
          <p:nvPr/>
        </p:nvSpPr>
        <p:spPr>
          <a:xfrm>
            <a:off x="971550" y="5610225"/>
            <a:ext cx="22098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0" i="0">
                <a:solidFill>
                  <a:srgbClr val="64748B"/>
                </a:solidFill>
              </a:defRPr>
            </a:pPr>
            <a:r>
              <a:t>Recall negative &gt;= 0.85</a:t>
            </a: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34EDC0DC-E733-4D93-AFC4-E3E4BF0551A7}"/>
              </a:ext>
            </a:extLst>
          </p:cNvPr>
          <p:cNvSpPr>
            <a:spLocks noGrp="1"/>
          </p:cNvSpPr>
          <p:nvPr/>
        </p:nvSpPr>
        <p:spPr>
          <a:xfrm>
            <a:off x="3638550" y="4810125"/>
            <a:ext cx="24765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61EDDD2-077A-42B1-8572-B0EFFEB0D9F9}"/>
              </a:ext>
            </a:extLst>
          </p:cNvPr>
          <p:cNvSpPr>
            <a:spLocks noGrp="1"/>
          </p:cNvSpPr>
          <p:nvPr/>
        </p:nvSpPr>
        <p:spPr>
          <a:xfrm>
            <a:off x="3638550" y="4810125"/>
            <a:ext cx="47625" cy="990600"/>
          </a:xfrm>
          <a:prstGeom prst="rect">
            <a:avLst/>
          </a:prstGeom>
          <a:solidFill>
            <a:srgbClr val="2563EB"/>
          </a:solidFill>
          <a:ln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944F5AC-4EAC-4698-8A9F-891E3E8D0088}"/>
              </a:ext>
            </a:extLst>
          </p:cNvPr>
          <p:cNvSpPr>
            <a:spLocks noGrp="1"/>
          </p:cNvSpPr>
          <p:nvPr/>
        </p:nvSpPr>
        <p:spPr>
          <a:xfrm>
            <a:off x="3810000" y="4962525"/>
            <a:ext cx="22098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1" i="0">
                <a:solidFill>
                  <a:srgbClr val="2563EB"/>
                </a:solidFill>
              </a:defRPr>
            </a:pPr>
            <a:r>
              <a:t>科学价值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EB0B67C-A4EC-4537-A861-D8CEADF27AEE}"/>
              </a:ext>
            </a:extLst>
          </p:cNvPr>
          <p:cNvSpPr>
            <a:spLocks noGrp="1"/>
          </p:cNvSpPr>
          <p:nvPr/>
        </p:nvSpPr>
        <p:spPr>
          <a:xfrm>
            <a:off x="3810000" y="5353050"/>
            <a:ext cx="22098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0F172A"/>
                </a:solidFill>
              </a:defRPr>
            </a:pPr>
            <a:r>
              <a:t>量化跨域性能衰减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867F8FE-E443-4B55-8CB3-096881B91F93}"/>
              </a:ext>
            </a:extLst>
          </p:cNvPr>
          <p:cNvSpPr>
            <a:spLocks noGrp="1"/>
          </p:cNvSpPr>
          <p:nvPr/>
        </p:nvSpPr>
        <p:spPr>
          <a:xfrm>
            <a:off x="3810000" y="5610225"/>
            <a:ext cx="22098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0" i="0">
                <a:solidFill>
                  <a:srgbClr val="64748B"/>
                </a:solidFill>
              </a:defRPr>
            </a:pPr>
            <a:r>
              <a:t>DeltaF1 = F1s - F1t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9E4B3CF2-0C0B-4AD6-95C6-4D5EC0B40D70}"/>
              </a:ext>
            </a:extLst>
          </p:cNvPr>
          <p:cNvSpPr>
            <a:spLocks noGrp="1"/>
          </p:cNvSpPr>
          <p:nvPr/>
        </p:nvSpPr>
        <p:spPr>
          <a:xfrm>
            <a:off x="6477000" y="4810125"/>
            <a:ext cx="24765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1832527-F574-4558-B915-3EA16E9B8F8B}"/>
              </a:ext>
            </a:extLst>
          </p:cNvPr>
          <p:cNvSpPr>
            <a:spLocks noGrp="1"/>
          </p:cNvSpPr>
          <p:nvPr/>
        </p:nvSpPr>
        <p:spPr>
          <a:xfrm>
            <a:off x="6477000" y="4810125"/>
            <a:ext cx="47625" cy="990600"/>
          </a:xfrm>
          <a:prstGeom prst="rect">
            <a:avLst/>
          </a:prstGeom>
          <a:solidFill>
            <a:srgbClr val="F59E0B"/>
          </a:solidFill>
          <a:ln>
            <a:noFill/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DFB42A1-375C-49A8-8D5C-73A0F40EE377}"/>
              </a:ext>
            </a:extLst>
          </p:cNvPr>
          <p:cNvSpPr>
            <a:spLocks noGrp="1"/>
          </p:cNvSpPr>
          <p:nvPr/>
        </p:nvSpPr>
        <p:spPr>
          <a:xfrm>
            <a:off x="6648450" y="4962525"/>
            <a:ext cx="22098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1" i="0">
                <a:solidFill>
                  <a:srgbClr val="F59E0B"/>
                </a:solidFill>
              </a:defRPr>
            </a:pPr>
            <a:r>
              <a:t>工程价值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1F93CA3-0037-443C-B558-49992D33BCAF}"/>
              </a:ext>
            </a:extLst>
          </p:cNvPr>
          <p:cNvSpPr>
            <a:spLocks noGrp="1"/>
          </p:cNvSpPr>
          <p:nvPr/>
        </p:nvSpPr>
        <p:spPr>
          <a:xfrm>
            <a:off x="6648450" y="5353050"/>
            <a:ext cx="22098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0F172A"/>
                </a:solidFill>
              </a:defRPr>
            </a:pPr>
            <a:r>
              <a:t>可复现实验闭环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E14C465-F23D-4799-92F7-71B13183C3F1}"/>
              </a:ext>
            </a:extLst>
          </p:cNvPr>
          <p:cNvSpPr>
            <a:spLocks noGrp="1"/>
          </p:cNvSpPr>
          <p:nvPr/>
        </p:nvSpPr>
        <p:spPr>
          <a:xfrm>
            <a:off x="6648450" y="5610225"/>
            <a:ext cx="22098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0" i="0">
                <a:solidFill>
                  <a:srgbClr val="64748B"/>
                </a:solidFill>
              </a:defRPr>
            </a:pPr>
            <a:r>
              <a:t>数据、指标、报告一键生成</a:t>
            </a: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0546AD93-CAC2-4EBA-9CA9-9F8CF8554A73}"/>
              </a:ext>
            </a:extLst>
          </p:cNvPr>
          <p:cNvSpPr>
            <a:spLocks noGrp="1"/>
          </p:cNvSpPr>
          <p:nvPr/>
        </p:nvSpPr>
        <p:spPr>
          <a:xfrm>
            <a:off x="800100" y="6134100"/>
            <a:ext cx="66675" cy="66675"/>
          </a:xfrm>
          <a:prstGeom prst="roundRect">
            <a:avLst>
              <a:gd name="adj" fmla="val 42857"/>
            </a:avLst>
          </a:prstGeom>
          <a:solidFill>
            <a:srgbClr val="DC2626"/>
          </a:solidFill>
          <a:ln>
            <a:noFill/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84E3199-8B04-41F5-8A06-F3E6EE3E8F89}"/>
              </a:ext>
            </a:extLst>
          </p:cNvPr>
          <p:cNvSpPr>
            <a:spLocks noGrp="1"/>
          </p:cNvSpPr>
          <p:nvPr/>
        </p:nvSpPr>
        <p:spPr>
          <a:xfrm>
            <a:off x="971550" y="6057900"/>
            <a:ext cx="85915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 i="0">
                <a:solidFill>
                  <a:srgbClr val="0F172A"/>
                </a:solidFill>
              </a:defRPr>
            </a:pPr>
            <a:r>
              <a:t>核心问题：只靠源域训练的模型，目标域表现会明显下降。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9025516-9E78-4459-96BB-0160C766480E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7810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0" i="0">
                <a:solidFill>
                  <a:srgbClr val="64748B"/>
                </a:solidFill>
              </a:defRPr>
            </a:pPr>
            <a:r>
              <a:t>Source: repository results and final report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63AC824-ADC8-4040-A69E-DE58992294BF}"/>
              </a:ext>
            </a:extLst>
          </p:cNvPr>
          <p:cNvSpPr>
            <a:spLocks noGrp="1"/>
          </p:cNvSpPr>
          <p:nvPr/>
        </p:nvSpPr>
        <p:spPr>
          <a:xfrm>
            <a:off x="11163300" y="6438900"/>
            <a:ext cx="4191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 i="0">
                <a:solidFill>
                  <a:srgbClr val="64748B"/>
                </a:solidFill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73188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矩形 122">
            <a:extLst>
              <a:ext uri="{FF2B5EF4-FFF2-40B4-BE49-F238E27FC236}">
                <a16:creationId xmlns:a16="http://schemas.microsoft.com/office/drawing/2014/main" id="{53EFF33E-4BFE-444F-8899-2DC5FA0158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33868DD-B0A8-47D0-B59A-F7D90B14CDF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76200" cy="209550"/>
          </a:xfrm>
          <a:prstGeom prst="rect">
            <a:avLst/>
          </a:prstGeom>
          <a:solidFill>
            <a:srgbClr val="2563EB"/>
          </a:solidFill>
          <a:ln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78F20ED-0B10-4932-8257-7F2423C94FEA}"/>
              </a:ext>
            </a:extLst>
          </p:cNvPr>
          <p:cNvSpPr>
            <a:spLocks noGrp="1"/>
          </p:cNvSpPr>
          <p:nvPr/>
        </p:nvSpPr>
        <p:spPr>
          <a:xfrm>
            <a:off x="800100" y="371475"/>
            <a:ext cx="24765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2563EB"/>
                </a:solidFill>
              </a:defRPr>
            </a:pPr>
            <a:r>
              <a:t>DATA AUDIT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FD52F85-DC39-406C-AAF2-7AB4AB3FE68F}"/>
              </a:ext>
            </a:extLst>
          </p:cNvPr>
          <p:cNvSpPr>
            <a:spLocks noGrp="1"/>
          </p:cNvSpPr>
          <p:nvPr/>
        </p:nvSpPr>
        <p:spPr>
          <a:xfrm>
            <a:off x="609600" y="634093"/>
            <a:ext cx="904875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 b="1" i="0">
                <a:solidFill>
                  <a:srgbClr val="0F172A"/>
                </a:solidFill>
              </a:defRPr>
            </a:pPr>
            <a:r>
              <a:rPr lang="zh-CN" altLang="en-US" dirty="0"/>
              <a:t>数据介绍：</a:t>
            </a:r>
            <a:endParaRPr lang="en-US" altLang="zh-CN" dirty="0"/>
          </a:p>
          <a:p>
            <a:pPr>
              <a:defRPr sz="2850" b="1" i="0">
                <a:solidFill>
                  <a:srgbClr val="0F172A"/>
                </a:solidFill>
              </a:defRPr>
            </a:pPr>
            <a:r>
              <a:rPr dirty="0" err="1"/>
              <a:t>正式数据满足目标域</a:t>
            </a:r>
            <a:r>
              <a:rPr dirty="0"/>
              <a:t> 5k+ </a:t>
            </a:r>
            <a:r>
              <a:rPr dirty="0" err="1"/>
              <a:t>要求，并刻意保留负面偏重场景</a:t>
            </a:r>
            <a:endParaRPr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E6A3923-F0F2-47DA-A9BD-4AB7261050DA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972800" cy="19050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9A065CE-A854-40D4-B689-C5F44C34AE33}"/>
              </a:ext>
            </a:extLst>
          </p:cNvPr>
          <p:cNvSpPr>
            <a:spLocks noGrp="1"/>
          </p:cNvSpPr>
          <p:nvPr/>
        </p:nvSpPr>
        <p:spPr>
          <a:xfrm>
            <a:off x="685800" y="2038350"/>
            <a:ext cx="1428750" cy="400050"/>
          </a:xfrm>
          <a:prstGeom prst="rect">
            <a:avLst/>
          </a:prstGeom>
          <a:solidFill>
            <a:srgbClr val="25324A"/>
          </a:solidFill>
          <a:ln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B0C4876-53B4-42FC-8B6F-115928261B8E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27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 i="0">
                <a:solidFill>
                  <a:srgbClr val="FFFFFF"/>
                </a:solidFill>
              </a:defRPr>
            </a:pPr>
            <a:r>
              <a:t>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8015203-6114-4821-B986-431FE57F2C22}"/>
              </a:ext>
            </a:extLst>
          </p:cNvPr>
          <p:cNvSpPr>
            <a:spLocks noGrp="1"/>
          </p:cNvSpPr>
          <p:nvPr/>
        </p:nvSpPr>
        <p:spPr>
          <a:xfrm>
            <a:off x="2114550" y="2038350"/>
            <a:ext cx="1009650" cy="400050"/>
          </a:xfrm>
          <a:prstGeom prst="rect">
            <a:avLst/>
          </a:prstGeom>
          <a:solidFill>
            <a:srgbClr val="25324A"/>
          </a:solidFill>
          <a:ln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FDF14F0-0F40-446F-A6E4-C2B624E189F0}"/>
              </a:ext>
            </a:extLst>
          </p:cNvPr>
          <p:cNvSpPr>
            <a:spLocks noGrp="1"/>
          </p:cNvSpPr>
          <p:nvPr/>
        </p:nvSpPr>
        <p:spPr>
          <a:xfrm>
            <a:off x="2190750" y="2114550"/>
            <a:ext cx="8572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 i="0">
                <a:solidFill>
                  <a:srgbClr val="FFFFFF"/>
                </a:solidFill>
              </a:defRPr>
            </a:pPr>
            <a:r>
              <a:t>raw rows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03EE373-A310-42B5-B012-C24121BFF074}"/>
              </a:ext>
            </a:extLst>
          </p:cNvPr>
          <p:cNvSpPr>
            <a:spLocks noGrp="1"/>
          </p:cNvSpPr>
          <p:nvPr/>
        </p:nvSpPr>
        <p:spPr>
          <a:xfrm>
            <a:off x="3124200" y="2038350"/>
            <a:ext cx="1066800" cy="400050"/>
          </a:xfrm>
          <a:prstGeom prst="rect">
            <a:avLst/>
          </a:prstGeom>
          <a:solidFill>
            <a:srgbClr val="25324A"/>
          </a:solidFill>
          <a:ln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94A1E5D-D83B-435E-9719-F14307F0458A}"/>
              </a:ext>
            </a:extLst>
          </p:cNvPr>
          <p:cNvSpPr>
            <a:spLocks noGrp="1"/>
          </p:cNvSpPr>
          <p:nvPr/>
        </p:nvSpPr>
        <p:spPr>
          <a:xfrm>
            <a:off x="3200400" y="2114550"/>
            <a:ext cx="914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 i="0">
                <a:solidFill>
                  <a:srgbClr val="FFFFFF"/>
                </a:solidFill>
              </a:defRPr>
            </a:pPr>
            <a:r>
              <a:t>processed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9A2BA94-19A0-45A0-8F69-4AD4615209B8}"/>
              </a:ext>
            </a:extLst>
          </p:cNvPr>
          <p:cNvSpPr>
            <a:spLocks noGrp="1"/>
          </p:cNvSpPr>
          <p:nvPr/>
        </p:nvSpPr>
        <p:spPr>
          <a:xfrm>
            <a:off x="4191000" y="2038350"/>
            <a:ext cx="819150" cy="400050"/>
          </a:xfrm>
          <a:prstGeom prst="rect">
            <a:avLst/>
          </a:prstGeom>
          <a:solidFill>
            <a:srgbClr val="25324A"/>
          </a:solidFill>
          <a:ln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62F1E3E-3DDE-47CB-975C-F03B1419B9B2}"/>
              </a:ext>
            </a:extLst>
          </p:cNvPr>
          <p:cNvSpPr>
            <a:spLocks noGrp="1"/>
          </p:cNvSpPr>
          <p:nvPr/>
        </p:nvSpPr>
        <p:spPr>
          <a:xfrm>
            <a:off x="4267200" y="2114550"/>
            <a:ext cx="6667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 i="0">
                <a:solidFill>
                  <a:srgbClr val="FFFFFF"/>
                </a:solidFill>
              </a:defRPr>
            </a:pPr>
            <a:r>
              <a:t>train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AB5B185-F3D0-4BCA-B687-5CD1BFD49EFE}"/>
              </a:ext>
            </a:extLst>
          </p:cNvPr>
          <p:cNvSpPr>
            <a:spLocks noGrp="1"/>
          </p:cNvSpPr>
          <p:nvPr/>
        </p:nvSpPr>
        <p:spPr>
          <a:xfrm>
            <a:off x="5010150" y="2038350"/>
            <a:ext cx="704850" cy="400050"/>
          </a:xfrm>
          <a:prstGeom prst="rect">
            <a:avLst/>
          </a:prstGeom>
          <a:solidFill>
            <a:srgbClr val="25324A"/>
          </a:solidFill>
          <a:ln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575AA14-53D9-43B4-982D-42625F742D8D}"/>
              </a:ext>
            </a:extLst>
          </p:cNvPr>
          <p:cNvSpPr>
            <a:spLocks noGrp="1"/>
          </p:cNvSpPr>
          <p:nvPr/>
        </p:nvSpPr>
        <p:spPr>
          <a:xfrm>
            <a:off x="5086350" y="2114550"/>
            <a:ext cx="5524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 i="0">
                <a:solidFill>
                  <a:srgbClr val="FFFFFF"/>
                </a:solidFill>
              </a:defRPr>
            </a:pPr>
            <a:r>
              <a:t>val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4F1B966-7B93-46C1-BDF3-75A6AA8F7C08}"/>
              </a:ext>
            </a:extLst>
          </p:cNvPr>
          <p:cNvSpPr>
            <a:spLocks noGrp="1"/>
          </p:cNvSpPr>
          <p:nvPr/>
        </p:nvSpPr>
        <p:spPr>
          <a:xfrm>
            <a:off x="5715000" y="2038350"/>
            <a:ext cx="704850" cy="400050"/>
          </a:xfrm>
          <a:prstGeom prst="rect">
            <a:avLst/>
          </a:prstGeom>
          <a:solidFill>
            <a:srgbClr val="25324A"/>
          </a:solidFill>
          <a:ln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EAB6DA0-F62A-4914-8322-883FF2862BF0}"/>
              </a:ext>
            </a:extLst>
          </p:cNvPr>
          <p:cNvSpPr>
            <a:spLocks noGrp="1"/>
          </p:cNvSpPr>
          <p:nvPr/>
        </p:nvSpPr>
        <p:spPr>
          <a:xfrm>
            <a:off x="5791200" y="2114550"/>
            <a:ext cx="5524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 i="0">
                <a:solidFill>
                  <a:srgbClr val="FFFFFF"/>
                </a:solidFill>
              </a:defRPr>
            </a:pPr>
            <a:r>
              <a:t>test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A830B5D-8B32-4962-B2B7-CE2E7DF0A1E2}"/>
              </a:ext>
            </a:extLst>
          </p:cNvPr>
          <p:cNvSpPr>
            <a:spLocks noGrp="1"/>
          </p:cNvSpPr>
          <p:nvPr/>
        </p:nvSpPr>
        <p:spPr>
          <a:xfrm>
            <a:off x="6419850" y="2038350"/>
            <a:ext cx="1066800" cy="400050"/>
          </a:xfrm>
          <a:prstGeom prst="rect">
            <a:avLst/>
          </a:prstGeom>
          <a:solidFill>
            <a:srgbClr val="25324A"/>
          </a:solidFill>
          <a:ln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F661B2E-244F-4552-96E5-DFE6D447F7D2}"/>
              </a:ext>
            </a:extLst>
          </p:cNvPr>
          <p:cNvSpPr>
            <a:spLocks noGrp="1"/>
          </p:cNvSpPr>
          <p:nvPr/>
        </p:nvSpPr>
        <p:spPr>
          <a:xfrm>
            <a:off x="6496050" y="2114550"/>
            <a:ext cx="914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 i="0">
                <a:solidFill>
                  <a:srgbClr val="FFFFFF"/>
                </a:solidFill>
              </a:defRPr>
            </a:pPr>
            <a:r>
              <a:t>unlabeled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0941FAB-4BC7-4D13-B68C-99D8C72E64BA}"/>
              </a:ext>
            </a:extLst>
          </p:cNvPr>
          <p:cNvSpPr>
            <a:spLocks noGrp="1"/>
          </p:cNvSpPr>
          <p:nvPr/>
        </p:nvSpPr>
        <p:spPr>
          <a:xfrm>
            <a:off x="7486650" y="2038350"/>
            <a:ext cx="876300" cy="400050"/>
          </a:xfrm>
          <a:prstGeom prst="rect">
            <a:avLst/>
          </a:prstGeom>
          <a:solidFill>
            <a:srgbClr val="25324A"/>
          </a:solidFill>
          <a:ln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5F6A44C-44C6-4A6E-BE60-B71E6CA67320}"/>
              </a:ext>
            </a:extLst>
          </p:cNvPr>
          <p:cNvSpPr>
            <a:spLocks noGrp="1"/>
          </p:cNvSpPr>
          <p:nvPr/>
        </p:nvSpPr>
        <p:spPr>
          <a:xfrm>
            <a:off x="7562850" y="2114550"/>
            <a:ext cx="7239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 i="0">
                <a:solidFill>
                  <a:srgbClr val="FFFFFF"/>
                </a:solidFill>
              </a:defRPr>
            </a:pPr>
            <a:r>
              <a:t>正例比例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3C2E888-2C28-401F-8A19-086F4EE05AC1}"/>
              </a:ext>
            </a:extLst>
          </p:cNvPr>
          <p:cNvSpPr>
            <a:spLocks noGrp="1"/>
          </p:cNvSpPr>
          <p:nvPr/>
        </p:nvSpPr>
        <p:spPr>
          <a:xfrm>
            <a:off x="8362950" y="2038350"/>
            <a:ext cx="876300" cy="400050"/>
          </a:xfrm>
          <a:prstGeom prst="rect">
            <a:avLst/>
          </a:prstGeom>
          <a:solidFill>
            <a:srgbClr val="25324A"/>
          </a:solidFill>
          <a:ln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5D5090C-FC81-472C-B14C-D6FB74E8BCC3}"/>
              </a:ext>
            </a:extLst>
          </p:cNvPr>
          <p:cNvSpPr>
            <a:spLocks noGrp="1"/>
          </p:cNvSpPr>
          <p:nvPr/>
        </p:nvSpPr>
        <p:spPr>
          <a:xfrm>
            <a:off x="8439150" y="2114550"/>
            <a:ext cx="7239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 i="0">
                <a:solidFill>
                  <a:srgbClr val="FFFFFF"/>
                </a:solidFill>
              </a:defRPr>
            </a:pPr>
            <a:r>
              <a:t>平均长度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47570C8-370E-4CDC-8762-EE5B9B02FBC1}"/>
              </a:ext>
            </a:extLst>
          </p:cNvPr>
          <p:cNvSpPr>
            <a:spLocks noGrp="1"/>
          </p:cNvSpPr>
          <p:nvPr/>
        </p:nvSpPr>
        <p:spPr>
          <a:xfrm>
            <a:off x="685800" y="2438400"/>
            <a:ext cx="1428750" cy="400050"/>
          </a:xfrm>
          <a:prstGeom prst="rect">
            <a:avLst/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82BF314-FE20-4542-AD9C-CB5884B47E60}"/>
              </a:ext>
            </a:extLst>
          </p:cNvPr>
          <p:cNvSpPr>
            <a:spLocks noGrp="1"/>
          </p:cNvSpPr>
          <p:nvPr/>
        </p:nvSpPr>
        <p:spPr>
          <a:xfrm>
            <a:off x="685800" y="2438400"/>
            <a:ext cx="14287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9172311-6B2F-4EE1-9359-218812CADAC5}"/>
              </a:ext>
            </a:extLst>
          </p:cNvPr>
          <p:cNvSpPr>
            <a:spLocks noGrp="1"/>
          </p:cNvSpPr>
          <p:nvPr/>
        </p:nvSpPr>
        <p:spPr>
          <a:xfrm>
            <a:off x="685800" y="2828925"/>
            <a:ext cx="14287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9459E99-74B8-45E4-B791-4A07BF0C1E74}"/>
              </a:ext>
            </a:extLst>
          </p:cNvPr>
          <p:cNvSpPr>
            <a:spLocks noGrp="1"/>
          </p:cNvSpPr>
          <p:nvPr/>
        </p:nvSpPr>
        <p:spPr>
          <a:xfrm>
            <a:off x="762000" y="2514600"/>
            <a:ext cx="127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 i="0">
                <a:solidFill>
                  <a:srgbClr val="0F172A"/>
                </a:solidFill>
              </a:defRPr>
            </a:pPr>
            <a:r>
              <a:t>源域 waimai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5431D8A-2BD0-4DD8-B379-C89DDFBBB2C7}"/>
              </a:ext>
            </a:extLst>
          </p:cNvPr>
          <p:cNvSpPr>
            <a:spLocks noGrp="1"/>
          </p:cNvSpPr>
          <p:nvPr/>
        </p:nvSpPr>
        <p:spPr>
          <a:xfrm>
            <a:off x="2114550" y="2438400"/>
            <a:ext cx="1009650" cy="400050"/>
          </a:xfrm>
          <a:prstGeom prst="rect">
            <a:avLst/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F6FD392-A430-42C2-844B-BFADA24E2B54}"/>
              </a:ext>
            </a:extLst>
          </p:cNvPr>
          <p:cNvSpPr>
            <a:spLocks noGrp="1"/>
          </p:cNvSpPr>
          <p:nvPr/>
        </p:nvSpPr>
        <p:spPr>
          <a:xfrm>
            <a:off x="2114550" y="2438400"/>
            <a:ext cx="10096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3513FE8-4D8D-4413-9DCF-1F72197934A4}"/>
              </a:ext>
            </a:extLst>
          </p:cNvPr>
          <p:cNvSpPr>
            <a:spLocks noGrp="1"/>
          </p:cNvSpPr>
          <p:nvPr/>
        </p:nvSpPr>
        <p:spPr>
          <a:xfrm>
            <a:off x="2114550" y="2828925"/>
            <a:ext cx="10096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45DB332-2B6C-423B-A9D0-A7DBC7AC24A2}"/>
              </a:ext>
            </a:extLst>
          </p:cNvPr>
          <p:cNvSpPr>
            <a:spLocks noGrp="1"/>
          </p:cNvSpPr>
          <p:nvPr/>
        </p:nvSpPr>
        <p:spPr>
          <a:xfrm>
            <a:off x="2190750" y="2514600"/>
            <a:ext cx="8572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 i="0">
                <a:solidFill>
                  <a:srgbClr val="0F172A"/>
                </a:solidFill>
              </a:defRPr>
            </a:pPr>
            <a:r>
              <a:t>11987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835A955-7090-4D25-98D1-05F8CBB1A7A7}"/>
              </a:ext>
            </a:extLst>
          </p:cNvPr>
          <p:cNvSpPr>
            <a:spLocks noGrp="1"/>
          </p:cNvSpPr>
          <p:nvPr/>
        </p:nvSpPr>
        <p:spPr>
          <a:xfrm>
            <a:off x="3124200" y="2438400"/>
            <a:ext cx="1066800" cy="400050"/>
          </a:xfrm>
          <a:prstGeom prst="rect">
            <a:avLst/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BEF4721-9A30-4410-AE3D-07CFE04409A1}"/>
              </a:ext>
            </a:extLst>
          </p:cNvPr>
          <p:cNvSpPr>
            <a:spLocks noGrp="1"/>
          </p:cNvSpPr>
          <p:nvPr/>
        </p:nvSpPr>
        <p:spPr>
          <a:xfrm>
            <a:off x="3124200" y="2438400"/>
            <a:ext cx="10668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C511757-151B-494F-B81D-08578E61233A}"/>
              </a:ext>
            </a:extLst>
          </p:cNvPr>
          <p:cNvSpPr>
            <a:spLocks noGrp="1"/>
          </p:cNvSpPr>
          <p:nvPr/>
        </p:nvSpPr>
        <p:spPr>
          <a:xfrm>
            <a:off x="3124200" y="2828925"/>
            <a:ext cx="10668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6075B56-EE6A-4189-BA12-0BBF8B694FA4}"/>
              </a:ext>
            </a:extLst>
          </p:cNvPr>
          <p:cNvSpPr>
            <a:spLocks noGrp="1"/>
          </p:cNvSpPr>
          <p:nvPr/>
        </p:nvSpPr>
        <p:spPr>
          <a:xfrm>
            <a:off x="3200400" y="2514600"/>
            <a:ext cx="914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 i="0">
                <a:solidFill>
                  <a:srgbClr val="0F172A"/>
                </a:solidFill>
              </a:defRPr>
            </a:pPr>
            <a:r>
              <a:t>8000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660196F-5547-4B36-B9D0-AA871D4DBF97}"/>
              </a:ext>
            </a:extLst>
          </p:cNvPr>
          <p:cNvSpPr>
            <a:spLocks noGrp="1"/>
          </p:cNvSpPr>
          <p:nvPr/>
        </p:nvSpPr>
        <p:spPr>
          <a:xfrm>
            <a:off x="4191000" y="2438400"/>
            <a:ext cx="819150" cy="400050"/>
          </a:xfrm>
          <a:prstGeom prst="rect">
            <a:avLst/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F4EE2BF-B07D-442A-87F0-C0A4850F9C9D}"/>
              </a:ext>
            </a:extLst>
          </p:cNvPr>
          <p:cNvSpPr>
            <a:spLocks noGrp="1"/>
          </p:cNvSpPr>
          <p:nvPr/>
        </p:nvSpPr>
        <p:spPr>
          <a:xfrm>
            <a:off x="4191000" y="2438400"/>
            <a:ext cx="8191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DEC3860-5844-4C56-B65F-E648A38681B9}"/>
              </a:ext>
            </a:extLst>
          </p:cNvPr>
          <p:cNvSpPr>
            <a:spLocks noGrp="1"/>
          </p:cNvSpPr>
          <p:nvPr/>
        </p:nvSpPr>
        <p:spPr>
          <a:xfrm>
            <a:off x="4191000" y="2828925"/>
            <a:ext cx="8191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E107B9F-81E2-47B0-BC16-B0BD38216A04}"/>
              </a:ext>
            </a:extLst>
          </p:cNvPr>
          <p:cNvSpPr>
            <a:spLocks noGrp="1"/>
          </p:cNvSpPr>
          <p:nvPr/>
        </p:nvSpPr>
        <p:spPr>
          <a:xfrm>
            <a:off x="4267200" y="2514600"/>
            <a:ext cx="6667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 i="0">
                <a:solidFill>
                  <a:srgbClr val="0F172A"/>
                </a:solidFill>
              </a:defRPr>
            </a:pPr>
            <a:r>
              <a:t>5600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58BC599-ED0E-44FA-BDB0-F679DB8F7A25}"/>
              </a:ext>
            </a:extLst>
          </p:cNvPr>
          <p:cNvSpPr>
            <a:spLocks noGrp="1"/>
          </p:cNvSpPr>
          <p:nvPr/>
        </p:nvSpPr>
        <p:spPr>
          <a:xfrm>
            <a:off x="5010150" y="2438400"/>
            <a:ext cx="704850" cy="400050"/>
          </a:xfrm>
          <a:prstGeom prst="rect">
            <a:avLst/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D7E8316-E4A8-4153-ACE0-E942C5AF2EDC}"/>
              </a:ext>
            </a:extLst>
          </p:cNvPr>
          <p:cNvSpPr>
            <a:spLocks noGrp="1"/>
          </p:cNvSpPr>
          <p:nvPr/>
        </p:nvSpPr>
        <p:spPr>
          <a:xfrm>
            <a:off x="5010150" y="2438400"/>
            <a:ext cx="7048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AC94628-A182-4990-826F-7396B2913CEB}"/>
              </a:ext>
            </a:extLst>
          </p:cNvPr>
          <p:cNvSpPr>
            <a:spLocks noGrp="1"/>
          </p:cNvSpPr>
          <p:nvPr/>
        </p:nvSpPr>
        <p:spPr>
          <a:xfrm>
            <a:off x="5010150" y="2828925"/>
            <a:ext cx="7048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FF535D3-1009-44BE-96BC-93300332736C}"/>
              </a:ext>
            </a:extLst>
          </p:cNvPr>
          <p:cNvSpPr>
            <a:spLocks noGrp="1"/>
          </p:cNvSpPr>
          <p:nvPr/>
        </p:nvSpPr>
        <p:spPr>
          <a:xfrm>
            <a:off x="5086350" y="2514600"/>
            <a:ext cx="5524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 i="0">
                <a:solidFill>
                  <a:srgbClr val="0F172A"/>
                </a:solidFill>
              </a:defRPr>
            </a:pPr>
            <a:r>
              <a:t>1200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4DC82FE-0961-455A-ADC8-B94198046E8E}"/>
              </a:ext>
            </a:extLst>
          </p:cNvPr>
          <p:cNvSpPr>
            <a:spLocks noGrp="1"/>
          </p:cNvSpPr>
          <p:nvPr/>
        </p:nvSpPr>
        <p:spPr>
          <a:xfrm>
            <a:off x="5715000" y="2438400"/>
            <a:ext cx="704850" cy="400050"/>
          </a:xfrm>
          <a:prstGeom prst="rect">
            <a:avLst/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AB14AF7C-548A-4A71-B96E-14B30F6A2415}"/>
              </a:ext>
            </a:extLst>
          </p:cNvPr>
          <p:cNvSpPr>
            <a:spLocks noGrp="1"/>
          </p:cNvSpPr>
          <p:nvPr/>
        </p:nvSpPr>
        <p:spPr>
          <a:xfrm>
            <a:off x="5715000" y="2438400"/>
            <a:ext cx="7048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2ED5F79-243B-400B-A482-D786862A9F90}"/>
              </a:ext>
            </a:extLst>
          </p:cNvPr>
          <p:cNvSpPr>
            <a:spLocks noGrp="1"/>
          </p:cNvSpPr>
          <p:nvPr/>
        </p:nvSpPr>
        <p:spPr>
          <a:xfrm>
            <a:off x="5715000" y="2828925"/>
            <a:ext cx="7048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841279D-5276-4CDC-8F08-3B2F5C5D998B}"/>
              </a:ext>
            </a:extLst>
          </p:cNvPr>
          <p:cNvSpPr>
            <a:spLocks noGrp="1"/>
          </p:cNvSpPr>
          <p:nvPr/>
        </p:nvSpPr>
        <p:spPr>
          <a:xfrm>
            <a:off x="5791200" y="2514600"/>
            <a:ext cx="5524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 i="0">
                <a:solidFill>
                  <a:srgbClr val="0F172A"/>
                </a:solidFill>
              </a:defRPr>
            </a:pPr>
            <a:r>
              <a:t>1200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F679E247-22D1-467E-A38A-CF4A6A0ED9E3}"/>
              </a:ext>
            </a:extLst>
          </p:cNvPr>
          <p:cNvSpPr>
            <a:spLocks noGrp="1"/>
          </p:cNvSpPr>
          <p:nvPr/>
        </p:nvSpPr>
        <p:spPr>
          <a:xfrm>
            <a:off x="6419850" y="2438400"/>
            <a:ext cx="1066800" cy="400050"/>
          </a:xfrm>
          <a:prstGeom prst="rect">
            <a:avLst/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CDF2A06-E856-4DF1-B4E5-9CC23EC2B2B8}"/>
              </a:ext>
            </a:extLst>
          </p:cNvPr>
          <p:cNvSpPr>
            <a:spLocks noGrp="1"/>
          </p:cNvSpPr>
          <p:nvPr/>
        </p:nvSpPr>
        <p:spPr>
          <a:xfrm>
            <a:off x="6419850" y="2438400"/>
            <a:ext cx="10668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7C5588FE-DDE5-4AB3-80FA-EE7993222744}"/>
              </a:ext>
            </a:extLst>
          </p:cNvPr>
          <p:cNvSpPr>
            <a:spLocks noGrp="1"/>
          </p:cNvSpPr>
          <p:nvPr/>
        </p:nvSpPr>
        <p:spPr>
          <a:xfrm>
            <a:off x="6419850" y="2828925"/>
            <a:ext cx="10668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0E219DE-FF60-4DDF-8F88-AAF435319419}"/>
              </a:ext>
            </a:extLst>
          </p:cNvPr>
          <p:cNvSpPr>
            <a:spLocks noGrp="1"/>
          </p:cNvSpPr>
          <p:nvPr/>
        </p:nvSpPr>
        <p:spPr>
          <a:xfrm>
            <a:off x="6496050" y="2514600"/>
            <a:ext cx="914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 i="0">
                <a:solidFill>
                  <a:srgbClr val="0F172A"/>
                </a:solidFill>
              </a:defRPr>
            </a:pPr>
            <a:r>
              <a:t>0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0B5828CC-9C4E-4739-8042-561AB8893035}"/>
              </a:ext>
            </a:extLst>
          </p:cNvPr>
          <p:cNvSpPr>
            <a:spLocks noGrp="1"/>
          </p:cNvSpPr>
          <p:nvPr/>
        </p:nvSpPr>
        <p:spPr>
          <a:xfrm>
            <a:off x="7486650" y="2438400"/>
            <a:ext cx="876300" cy="400050"/>
          </a:xfrm>
          <a:prstGeom prst="rect">
            <a:avLst/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4A0E564F-2DC5-4284-B355-6E5305C575C9}"/>
              </a:ext>
            </a:extLst>
          </p:cNvPr>
          <p:cNvSpPr>
            <a:spLocks noGrp="1"/>
          </p:cNvSpPr>
          <p:nvPr/>
        </p:nvSpPr>
        <p:spPr>
          <a:xfrm>
            <a:off x="7486650" y="2438400"/>
            <a:ext cx="8763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0970211A-8F21-431D-B973-C0613D840204}"/>
              </a:ext>
            </a:extLst>
          </p:cNvPr>
          <p:cNvSpPr>
            <a:spLocks noGrp="1"/>
          </p:cNvSpPr>
          <p:nvPr/>
        </p:nvSpPr>
        <p:spPr>
          <a:xfrm>
            <a:off x="7486650" y="2828925"/>
            <a:ext cx="8763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E0B7EEE4-FF2B-4B71-9C11-5D7D4F7A49D3}"/>
              </a:ext>
            </a:extLst>
          </p:cNvPr>
          <p:cNvSpPr>
            <a:spLocks noGrp="1"/>
          </p:cNvSpPr>
          <p:nvPr/>
        </p:nvSpPr>
        <p:spPr>
          <a:xfrm>
            <a:off x="7562850" y="2514600"/>
            <a:ext cx="7239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 i="0">
                <a:solidFill>
                  <a:srgbClr val="0F172A"/>
                </a:solidFill>
              </a:defRPr>
            </a:pPr>
            <a:r>
              <a:t>50.0%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DFC08355-0742-4309-9C71-42925D135BB8}"/>
              </a:ext>
            </a:extLst>
          </p:cNvPr>
          <p:cNvSpPr>
            <a:spLocks noGrp="1"/>
          </p:cNvSpPr>
          <p:nvPr/>
        </p:nvSpPr>
        <p:spPr>
          <a:xfrm>
            <a:off x="8362950" y="2438400"/>
            <a:ext cx="876300" cy="400050"/>
          </a:xfrm>
          <a:prstGeom prst="rect">
            <a:avLst/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E6C1F970-C1A6-4C51-9AAD-BDBF6D220AAD}"/>
              </a:ext>
            </a:extLst>
          </p:cNvPr>
          <p:cNvSpPr>
            <a:spLocks noGrp="1"/>
          </p:cNvSpPr>
          <p:nvPr/>
        </p:nvSpPr>
        <p:spPr>
          <a:xfrm>
            <a:off x="8362950" y="2438400"/>
            <a:ext cx="8763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A647F2E5-C42F-4F6B-8A84-1D1F57FEF971}"/>
              </a:ext>
            </a:extLst>
          </p:cNvPr>
          <p:cNvSpPr>
            <a:spLocks noGrp="1"/>
          </p:cNvSpPr>
          <p:nvPr/>
        </p:nvSpPr>
        <p:spPr>
          <a:xfrm>
            <a:off x="8362950" y="2828925"/>
            <a:ext cx="8763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34F11581-9D17-47D6-8AA9-64E53E3CA56C}"/>
              </a:ext>
            </a:extLst>
          </p:cNvPr>
          <p:cNvSpPr>
            <a:spLocks noGrp="1"/>
          </p:cNvSpPr>
          <p:nvPr/>
        </p:nvSpPr>
        <p:spPr>
          <a:xfrm>
            <a:off x="8439150" y="2514600"/>
            <a:ext cx="7239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 i="0">
                <a:solidFill>
                  <a:srgbClr val="0F172A"/>
                </a:solidFill>
              </a:defRPr>
            </a:pPr>
            <a:r>
              <a:t>22.9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F73573C-0E14-4229-9208-C27DE244FDD7}"/>
              </a:ext>
            </a:extLst>
          </p:cNvPr>
          <p:cNvSpPr>
            <a:spLocks noGrp="1"/>
          </p:cNvSpPr>
          <p:nvPr/>
        </p:nvSpPr>
        <p:spPr>
          <a:xfrm>
            <a:off x="685800" y="2838450"/>
            <a:ext cx="1428750" cy="400050"/>
          </a:xfrm>
          <a:prstGeom prst="rect">
            <a:avLst/>
          </a:prstGeom>
          <a:solidFill>
            <a:srgbClr val="F1F5F9"/>
          </a:solidFill>
          <a:ln>
            <a:noFill/>
            <a:prstDash val="solid"/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80353CAC-DA32-4A9B-99A2-1F986CAEA08B}"/>
              </a:ext>
            </a:extLst>
          </p:cNvPr>
          <p:cNvSpPr>
            <a:spLocks noGrp="1"/>
          </p:cNvSpPr>
          <p:nvPr/>
        </p:nvSpPr>
        <p:spPr>
          <a:xfrm>
            <a:off x="685800" y="2838450"/>
            <a:ext cx="14287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E9FB561A-E040-4D39-A380-6A356FD62045}"/>
              </a:ext>
            </a:extLst>
          </p:cNvPr>
          <p:cNvSpPr>
            <a:spLocks noGrp="1"/>
          </p:cNvSpPr>
          <p:nvPr/>
        </p:nvSpPr>
        <p:spPr>
          <a:xfrm>
            <a:off x="685800" y="3228975"/>
            <a:ext cx="14287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AC9A735E-5D81-4CEE-BBC5-9904F57BAD14}"/>
              </a:ext>
            </a:extLst>
          </p:cNvPr>
          <p:cNvSpPr>
            <a:spLocks noGrp="1"/>
          </p:cNvSpPr>
          <p:nvPr/>
        </p:nvSpPr>
        <p:spPr>
          <a:xfrm>
            <a:off x="762000" y="2914650"/>
            <a:ext cx="127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 i="0">
                <a:solidFill>
                  <a:srgbClr val="0F172A"/>
                </a:solidFill>
              </a:defRPr>
            </a:pPr>
            <a:r>
              <a:t>目标域 weibo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C18F1E37-DCF9-4A42-8825-E995FE68F840}"/>
              </a:ext>
            </a:extLst>
          </p:cNvPr>
          <p:cNvSpPr>
            <a:spLocks noGrp="1"/>
          </p:cNvSpPr>
          <p:nvPr/>
        </p:nvSpPr>
        <p:spPr>
          <a:xfrm>
            <a:off x="2114550" y="2838450"/>
            <a:ext cx="1009650" cy="400050"/>
          </a:xfrm>
          <a:prstGeom prst="rect">
            <a:avLst/>
          </a:prstGeom>
          <a:solidFill>
            <a:srgbClr val="F1F5F9"/>
          </a:solidFill>
          <a:ln>
            <a:noFill/>
            <a:prstDash val="solid"/>
          </a:ln>
        </p:spPr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B685C2F8-67A9-48C7-A5DD-FD7BE9DF3272}"/>
              </a:ext>
            </a:extLst>
          </p:cNvPr>
          <p:cNvSpPr>
            <a:spLocks noGrp="1"/>
          </p:cNvSpPr>
          <p:nvPr/>
        </p:nvSpPr>
        <p:spPr>
          <a:xfrm>
            <a:off x="2114550" y="2838450"/>
            <a:ext cx="10096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0D5191AC-8247-49C2-A918-34EE5FC69513}"/>
              </a:ext>
            </a:extLst>
          </p:cNvPr>
          <p:cNvSpPr>
            <a:spLocks noGrp="1"/>
          </p:cNvSpPr>
          <p:nvPr/>
        </p:nvSpPr>
        <p:spPr>
          <a:xfrm>
            <a:off x="2114550" y="3228975"/>
            <a:ext cx="10096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7C1D88D9-4B79-41B4-8E90-187FF03C90AA}"/>
              </a:ext>
            </a:extLst>
          </p:cNvPr>
          <p:cNvSpPr>
            <a:spLocks noGrp="1"/>
          </p:cNvSpPr>
          <p:nvPr/>
        </p:nvSpPr>
        <p:spPr>
          <a:xfrm>
            <a:off x="2190750" y="2914650"/>
            <a:ext cx="8572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 i="0">
                <a:solidFill>
                  <a:srgbClr val="0F172A"/>
                </a:solidFill>
              </a:defRPr>
            </a:pPr>
            <a:r>
              <a:t>119000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9AEA3A4E-139E-454E-8B3A-61F339EB2B7A}"/>
              </a:ext>
            </a:extLst>
          </p:cNvPr>
          <p:cNvSpPr>
            <a:spLocks noGrp="1"/>
          </p:cNvSpPr>
          <p:nvPr/>
        </p:nvSpPr>
        <p:spPr>
          <a:xfrm>
            <a:off x="3124200" y="2838450"/>
            <a:ext cx="1066800" cy="400050"/>
          </a:xfrm>
          <a:prstGeom prst="rect">
            <a:avLst/>
          </a:prstGeom>
          <a:solidFill>
            <a:srgbClr val="F1F5F9"/>
          </a:solidFill>
          <a:ln>
            <a:noFill/>
            <a:prstDash val="solid"/>
          </a:ln>
        </p:spPr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F1A772B5-9D90-4C01-96AD-6EBD8371D532}"/>
              </a:ext>
            </a:extLst>
          </p:cNvPr>
          <p:cNvSpPr>
            <a:spLocks noGrp="1"/>
          </p:cNvSpPr>
          <p:nvPr/>
        </p:nvSpPr>
        <p:spPr>
          <a:xfrm>
            <a:off x="3124200" y="2838450"/>
            <a:ext cx="10668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0BF1D5F1-FB15-42BA-892F-2AC30F7A4BE9}"/>
              </a:ext>
            </a:extLst>
          </p:cNvPr>
          <p:cNvSpPr>
            <a:spLocks noGrp="1"/>
          </p:cNvSpPr>
          <p:nvPr/>
        </p:nvSpPr>
        <p:spPr>
          <a:xfrm>
            <a:off x="3124200" y="3228975"/>
            <a:ext cx="10668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8D4D1625-38E0-4AA8-9341-3A944D8BAB9F}"/>
              </a:ext>
            </a:extLst>
          </p:cNvPr>
          <p:cNvSpPr>
            <a:spLocks noGrp="1"/>
          </p:cNvSpPr>
          <p:nvPr/>
        </p:nvSpPr>
        <p:spPr>
          <a:xfrm>
            <a:off x="3200400" y="2914650"/>
            <a:ext cx="914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 i="0">
                <a:solidFill>
                  <a:srgbClr val="0F172A"/>
                </a:solidFill>
              </a:defRPr>
            </a:pPr>
            <a:r>
              <a:t>6000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9E8140D8-1F68-40B9-BF5A-BFB9B77F42B8}"/>
              </a:ext>
            </a:extLst>
          </p:cNvPr>
          <p:cNvSpPr>
            <a:spLocks noGrp="1"/>
          </p:cNvSpPr>
          <p:nvPr/>
        </p:nvSpPr>
        <p:spPr>
          <a:xfrm>
            <a:off x="4191000" y="2838450"/>
            <a:ext cx="819150" cy="400050"/>
          </a:xfrm>
          <a:prstGeom prst="rect">
            <a:avLst/>
          </a:prstGeom>
          <a:solidFill>
            <a:srgbClr val="F1F5F9"/>
          </a:solidFill>
          <a:ln>
            <a:noFill/>
            <a:prstDash val="solid"/>
          </a:ln>
        </p:spPr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164C759C-AD67-4B77-9B94-724ED3010127}"/>
              </a:ext>
            </a:extLst>
          </p:cNvPr>
          <p:cNvSpPr>
            <a:spLocks noGrp="1"/>
          </p:cNvSpPr>
          <p:nvPr/>
        </p:nvSpPr>
        <p:spPr>
          <a:xfrm>
            <a:off x="4191000" y="2838450"/>
            <a:ext cx="8191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94A371DF-BF1D-41AF-A287-FB962C36B8BC}"/>
              </a:ext>
            </a:extLst>
          </p:cNvPr>
          <p:cNvSpPr>
            <a:spLocks noGrp="1"/>
          </p:cNvSpPr>
          <p:nvPr/>
        </p:nvSpPr>
        <p:spPr>
          <a:xfrm>
            <a:off x="4191000" y="3228975"/>
            <a:ext cx="8191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7553DCDD-C53B-4E04-91BE-91C8D8587842}"/>
              </a:ext>
            </a:extLst>
          </p:cNvPr>
          <p:cNvSpPr>
            <a:spLocks noGrp="1"/>
          </p:cNvSpPr>
          <p:nvPr/>
        </p:nvSpPr>
        <p:spPr>
          <a:xfrm>
            <a:off x="4267200" y="2914650"/>
            <a:ext cx="6667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 i="0">
                <a:solidFill>
                  <a:srgbClr val="0F172A"/>
                </a:solidFill>
              </a:defRPr>
            </a:pPr>
            <a:r>
              <a:t>600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3C3500BD-73D8-47FA-93EB-98DE8FD657DD}"/>
              </a:ext>
            </a:extLst>
          </p:cNvPr>
          <p:cNvSpPr>
            <a:spLocks noGrp="1"/>
          </p:cNvSpPr>
          <p:nvPr/>
        </p:nvSpPr>
        <p:spPr>
          <a:xfrm>
            <a:off x="5010150" y="2838450"/>
            <a:ext cx="704850" cy="400050"/>
          </a:xfrm>
          <a:prstGeom prst="rect">
            <a:avLst/>
          </a:prstGeom>
          <a:solidFill>
            <a:srgbClr val="F1F5F9"/>
          </a:solidFill>
          <a:ln>
            <a:noFill/>
            <a:prstDash val="solid"/>
          </a:ln>
        </p:spPr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8B194A38-7BEF-40A0-92FB-FC3B4B8E2EB8}"/>
              </a:ext>
            </a:extLst>
          </p:cNvPr>
          <p:cNvSpPr>
            <a:spLocks noGrp="1"/>
          </p:cNvSpPr>
          <p:nvPr/>
        </p:nvSpPr>
        <p:spPr>
          <a:xfrm>
            <a:off x="5010150" y="2838450"/>
            <a:ext cx="7048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E3864CFC-AA99-48B8-BA97-BFC600AF83DB}"/>
              </a:ext>
            </a:extLst>
          </p:cNvPr>
          <p:cNvSpPr>
            <a:spLocks noGrp="1"/>
          </p:cNvSpPr>
          <p:nvPr/>
        </p:nvSpPr>
        <p:spPr>
          <a:xfrm>
            <a:off x="5010150" y="3228975"/>
            <a:ext cx="7048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111551B9-FFBE-4BF0-8D81-8B5E3C9FD5DB}"/>
              </a:ext>
            </a:extLst>
          </p:cNvPr>
          <p:cNvSpPr>
            <a:spLocks noGrp="1"/>
          </p:cNvSpPr>
          <p:nvPr/>
        </p:nvSpPr>
        <p:spPr>
          <a:xfrm>
            <a:off x="5086350" y="2914650"/>
            <a:ext cx="5524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 i="0">
                <a:solidFill>
                  <a:srgbClr val="0F172A"/>
                </a:solidFill>
              </a:defRPr>
            </a:pPr>
            <a:r>
              <a:t>600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B3DCB737-F91C-40CE-AE43-9533D8D89760}"/>
              </a:ext>
            </a:extLst>
          </p:cNvPr>
          <p:cNvSpPr>
            <a:spLocks noGrp="1"/>
          </p:cNvSpPr>
          <p:nvPr/>
        </p:nvSpPr>
        <p:spPr>
          <a:xfrm>
            <a:off x="5715000" y="2838450"/>
            <a:ext cx="704850" cy="400050"/>
          </a:xfrm>
          <a:prstGeom prst="rect">
            <a:avLst/>
          </a:prstGeom>
          <a:solidFill>
            <a:srgbClr val="F1F5F9"/>
          </a:solidFill>
          <a:ln>
            <a:noFill/>
            <a:prstDash val="solid"/>
          </a:ln>
        </p:spPr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648906A6-49C6-4F68-9B9A-D1E214D34BE2}"/>
              </a:ext>
            </a:extLst>
          </p:cNvPr>
          <p:cNvSpPr>
            <a:spLocks noGrp="1"/>
          </p:cNvSpPr>
          <p:nvPr/>
        </p:nvSpPr>
        <p:spPr>
          <a:xfrm>
            <a:off x="5715000" y="2838450"/>
            <a:ext cx="7048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08A1867B-1079-4B31-ADED-2FF8AEFC9932}"/>
              </a:ext>
            </a:extLst>
          </p:cNvPr>
          <p:cNvSpPr>
            <a:spLocks noGrp="1"/>
          </p:cNvSpPr>
          <p:nvPr/>
        </p:nvSpPr>
        <p:spPr>
          <a:xfrm>
            <a:off x="5715000" y="3228975"/>
            <a:ext cx="7048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7CDEB8E1-53CC-488B-85A8-9CE6F4AA06C0}"/>
              </a:ext>
            </a:extLst>
          </p:cNvPr>
          <p:cNvSpPr>
            <a:spLocks noGrp="1"/>
          </p:cNvSpPr>
          <p:nvPr/>
        </p:nvSpPr>
        <p:spPr>
          <a:xfrm>
            <a:off x="5791200" y="2914650"/>
            <a:ext cx="5524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 i="0">
                <a:solidFill>
                  <a:srgbClr val="0F172A"/>
                </a:solidFill>
              </a:defRPr>
            </a:pPr>
            <a:r>
              <a:t>1200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7E0961C0-79FC-4A62-AE50-FEB291F676BE}"/>
              </a:ext>
            </a:extLst>
          </p:cNvPr>
          <p:cNvSpPr>
            <a:spLocks noGrp="1"/>
          </p:cNvSpPr>
          <p:nvPr/>
        </p:nvSpPr>
        <p:spPr>
          <a:xfrm>
            <a:off x="6419850" y="2838450"/>
            <a:ext cx="1066800" cy="400050"/>
          </a:xfrm>
          <a:prstGeom prst="rect">
            <a:avLst/>
          </a:prstGeom>
          <a:solidFill>
            <a:srgbClr val="F1F5F9"/>
          </a:solidFill>
          <a:ln>
            <a:noFill/>
            <a:prstDash val="solid"/>
          </a:ln>
        </p:spPr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66D5E88E-D05C-4872-84B9-D7955542486A}"/>
              </a:ext>
            </a:extLst>
          </p:cNvPr>
          <p:cNvSpPr>
            <a:spLocks noGrp="1"/>
          </p:cNvSpPr>
          <p:nvPr/>
        </p:nvSpPr>
        <p:spPr>
          <a:xfrm>
            <a:off x="6419850" y="2838450"/>
            <a:ext cx="10668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15EECBC5-A2C6-4BD2-8BAB-9FF0B3D3D10C}"/>
              </a:ext>
            </a:extLst>
          </p:cNvPr>
          <p:cNvSpPr>
            <a:spLocks noGrp="1"/>
          </p:cNvSpPr>
          <p:nvPr/>
        </p:nvSpPr>
        <p:spPr>
          <a:xfrm>
            <a:off x="6419850" y="3228975"/>
            <a:ext cx="10668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3A0244B1-B8DF-4825-8B4F-D14007D80C16}"/>
              </a:ext>
            </a:extLst>
          </p:cNvPr>
          <p:cNvSpPr>
            <a:spLocks noGrp="1"/>
          </p:cNvSpPr>
          <p:nvPr/>
        </p:nvSpPr>
        <p:spPr>
          <a:xfrm>
            <a:off x="6496050" y="2914650"/>
            <a:ext cx="914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 i="0">
                <a:solidFill>
                  <a:srgbClr val="0F172A"/>
                </a:solidFill>
              </a:defRPr>
            </a:pPr>
            <a:r>
              <a:t>3600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DCDD3F07-A74D-4AD1-89FD-F068F8B04A2F}"/>
              </a:ext>
            </a:extLst>
          </p:cNvPr>
          <p:cNvSpPr>
            <a:spLocks noGrp="1"/>
          </p:cNvSpPr>
          <p:nvPr/>
        </p:nvSpPr>
        <p:spPr>
          <a:xfrm>
            <a:off x="7486650" y="2838450"/>
            <a:ext cx="876300" cy="400050"/>
          </a:xfrm>
          <a:prstGeom prst="rect">
            <a:avLst/>
          </a:prstGeom>
          <a:solidFill>
            <a:srgbClr val="F1F5F9"/>
          </a:solidFill>
          <a:ln>
            <a:noFill/>
            <a:prstDash val="solid"/>
          </a:ln>
        </p:spPr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02919CE5-94B8-4729-9C39-6D4FCA28A79E}"/>
              </a:ext>
            </a:extLst>
          </p:cNvPr>
          <p:cNvSpPr>
            <a:spLocks noGrp="1"/>
          </p:cNvSpPr>
          <p:nvPr/>
        </p:nvSpPr>
        <p:spPr>
          <a:xfrm>
            <a:off x="7486650" y="2838450"/>
            <a:ext cx="8763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D6868EBF-A8AB-4BBA-9097-821A4BC03A0A}"/>
              </a:ext>
            </a:extLst>
          </p:cNvPr>
          <p:cNvSpPr>
            <a:spLocks noGrp="1"/>
          </p:cNvSpPr>
          <p:nvPr/>
        </p:nvSpPr>
        <p:spPr>
          <a:xfrm>
            <a:off x="7486650" y="3228975"/>
            <a:ext cx="8763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2ADBE454-1982-4E2B-AF2F-B61E9B9EE1BB}"/>
              </a:ext>
            </a:extLst>
          </p:cNvPr>
          <p:cNvSpPr>
            <a:spLocks noGrp="1"/>
          </p:cNvSpPr>
          <p:nvPr/>
        </p:nvSpPr>
        <p:spPr>
          <a:xfrm>
            <a:off x="7562850" y="2914650"/>
            <a:ext cx="7239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 i="0">
                <a:solidFill>
                  <a:srgbClr val="0F172A"/>
                </a:solidFill>
              </a:defRPr>
            </a:pPr>
            <a:r>
              <a:t>33.3%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43A027BE-25E0-4CF9-9327-0CA94D387080}"/>
              </a:ext>
            </a:extLst>
          </p:cNvPr>
          <p:cNvSpPr>
            <a:spLocks noGrp="1"/>
          </p:cNvSpPr>
          <p:nvPr/>
        </p:nvSpPr>
        <p:spPr>
          <a:xfrm>
            <a:off x="8362950" y="2838450"/>
            <a:ext cx="876300" cy="400050"/>
          </a:xfrm>
          <a:prstGeom prst="rect">
            <a:avLst/>
          </a:prstGeom>
          <a:solidFill>
            <a:srgbClr val="F1F5F9"/>
          </a:solidFill>
          <a:ln>
            <a:noFill/>
            <a:prstDash val="solid"/>
          </a:ln>
        </p:spPr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754B7871-B375-4890-AD12-CCCC544DEE0A}"/>
              </a:ext>
            </a:extLst>
          </p:cNvPr>
          <p:cNvSpPr>
            <a:spLocks noGrp="1"/>
          </p:cNvSpPr>
          <p:nvPr/>
        </p:nvSpPr>
        <p:spPr>
          <a:xfrm>
            <a:off x="8362950" y="2838450"/>
            <a:ext cx="8763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049E48BA-8C34-4C05-8B11-8FC9EC5B61DD}"/>
              </a:ext>
            </a:extLst>
          </p:cNvPr>
          <p:cNvSpPr>
            <a:spLocks noGrp="1"/>
          </p:cNvSpPr>
          <p:nvPr/>
        </p:nvSpPr>
        <p:spPr>
          <a:xfrm>
            <a:off x="8362950" y="3228975"/>
            <a:ext cx="8763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26A67240-0CF2-4976-8F74-B2DB4F3128DA}"/>
              </a:ext>
            </a:extLst>
          </p:cNvPr>
          <p:cNvSpPr>
            <a:spLocks noGrp="1"/>
          </p:cNvSpPr>
          <p:nvPr/>
        </p:nvSpPr>
        <p:spPr>
          <a:xfrm>
            <a:off x="8439150" y="2914650"/>
            <a:ext cx="7239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 i="0">
                <a:solidFill>
                  <a:srgbClr val="0F172A"/>
                </a:solidFill>
              </a:defRPr>
            </a:pPr>
            <a:r>
              <a:t>51.9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B7DF1952-E1F4-4013-BC23-28786379FF7E}"/>
              </a:ext>
            </a:extLst>
          </p:cNvPr>
          <p:cNvSpPr>
            <a:spLocks noGrp="1"/>
          </p:cNvSpPr>
          <p:nvPr/>
        </p:nvSpPr>
        <p:spPr>
          <a:xfrm>
            <a:off x="685800" y="2038350"/>
            <a:ext cx="85534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BC21278C-DDAE-41F6-A985-395DB6147EE9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85534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98" name="圆角矩形 97">
            <a:extLst>
              <a:ext uri="{FF2B5EF4-FFF2-40B4-BE49-F238E27FC236}">
                <a16:creationId xmlns:a16="http://schemas.microsoft.com/office/drawing/2014/main" id="{FC01CAE4-7AA5-41A1-B09C-47AEB9367654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232410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80DBB5D1-D9A6-4BAB-9B9C-95B860CA6FC0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47625" cy="1123950"/>
          </a:xfrm>
          <a:prstGeom prst="rect">
            <a:avLst/>
          </a:prstGeom>
          <a:solidFill>
            <a:srgbClr val="DC2626"/>
          </a:solidFill>
          <a:ln>
            <a:noFill/>
            <a:prstDash val="solid"/>
          </a:ln>
        </p:spPr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1175539B-682F-4692-8B91-D0493FF4073D}"/>
              </a:ext>
            </a:extLst>
          </p:cNvPr>
          <p:cNvSpPr>
            <a:spLocks noGrp="1"/>
          </p:cNvSpPr>
          <p:nvPr/>
        </p:nvSpPr>
        <p:spPr>
          <a:xfrm>
            <a:off x="857250" y="3886200"/>
            <a:ext cx="20574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1" i="0">
                <a:solidFill>
                  <a:srgbClr val="DC2626"/>
                </a:solidFill>
              </a:defRPr>
            </a:pPr>
            <a:r>
              <a:t>2:1</a:t>
            </a: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F7C7FAB0-8E01-4FAC-AEFA-73A801ABB065}"/>
              </a:ext>
            </a:extLst>
          </p:cNvPr>
          <p:cNvSpPr>
            <a:spLocks noGrp="1"/>
          </p:cNvSpPr>
          <p:nvPr/>
        </p:nvSpPr>
        <p:spPr>
          <a:xfrm>
            <a:off x="857250" y="4276725"/>
            <a:ext cx="2057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0F172A"/>
                </a:solidFill>
              </a:defRPr>
            </a:pPr>
            <a:r>
              <a:t>目标域负:正</a:t>
            </a: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A057C6E7-4422-4CEB-99D0-B23A3F108253}"/>
              </a:ext>
            </a:extLst>
          </p:cNvPr>
          <p:cNvSpPr>
            <a:spLocks noGrp="1"/>
          </p:cNvSpPr>
          <p:nvPr/>
        </p:nvSpPr>
        <p:spPr>
          <a:xfrm>
            <a:off x="857250" y="4533900"/>
            <a:ext cx="20574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0" i="0">
                <a:solidFill>
                  <a:srgbClr val="64748B"/>
                </a:solidFill>
              </a:defRPr>
            </a:pPr>
            <a:r>
              <a:t>模拟负面舆情偏重</a:t>
            </a:r>
          </a:p>
        </p:txBody>
      </p:sp>
      <p:sp>
        <p:nvSpPr>
          <p:cNvPr id="103" name="圆角矩形 102">
            <a:extLst>
              <a:ext uri="{FF2B5EF4-FFF2-40B4-BE49-F238E27FC236}">
                <a16:creationId xmlns:a16="http://schemas.microsoft.com/office/drawing/2014/main" id="{53370EAB-A6BC-4351-B7C9-0559CB5A9BB0}"/>
              </a:ext>
            </a:extLst>
          </p:cNvPr>
          <p:cNvSpPr>
            <a:spLocks noGrp="1"/>
          </p:cNvSpPr>
          <p:nvPr/>
        </p:nvSpPr>
        <p:spPr>
          <a:xfrm>
            <a:off x="3314700" y="3733800"/>
            <a:ext cx="232410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8C1CB105-1ABD-4385-B61C-9A5C648D90FE}"/>
              </a:ext>
            </a:extLst>
          </p:cNvPr>
          <p:cNvSpPr>
            <a:spLocks noGrp="1"/>
          </p:cNvSpPr>
          <p:nvPr/>
        </p:nvSpPr>
        <p:spPr>
          <a:xfrm>
            <a:off x="3314700" y="3733800"/>
            <a:ext cx="47625" cy="1123950"/>
          </a:xfrm>
          <a:prstGeom prst="rect">
            <a:avLst/>
          </a:prstGeom>
          <a:solidFill>
            <a:srgbClr val="2563EB"/>
          </a:solidFill>
          <a:ln>
            <a:noFill/>
            <a:prstDash val="solid"/>
          </a:ln>
        </p:spPr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201D3E0B-A095-4759-A671-36760C8529FD}"/>
              </a:ext>
            </a:extLst>
          </p:cNvPr>
          <p:cNvSpPr>
            <a:spLocks noGrp="1"/>
          </p:cNvSpPr>
          <p:nvPr/>
        </p:nvSpPr>
        <p:spPr>
          <a:xfrm>
            <a:off x="3486150" y="3886200"/>
            <a:ext cx="20574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1" i="0">
                <a:solidFill>
                  <a:srgbClr val="2563EB"/>
                </a:solidFill>
              </a:defRPr>
            </a:pPr>
            <a:r>
              <a:t>3600</a:t>
            </a: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80D6ECAB-15AC-4AC8-9524-B8181A437DED}"/>
              </a:ext>
            </a:extLst>
          </p:cNvPr>
          <p:cNvSpPr>
            <a:spLocks noGrp="1"/>
          </p:cNvSpPr>
          <p:nvPr/>
        </p:nvSpPr>
        <p:spPr>
          <a:xfrm>
            <a:off x="3486150" y="4276725"/>
            <a:ext cx="2057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0F172A"/>
                </a:solidFill>
              </a:defRPr>
            </a:pPr>
            <a:r>
              <a:t>未标注目标样本</a:t>
            </a: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A202523B-D294-43D3-92E7-49BF97CB1B36}"/>
              </a:ext>
            </a:extLst>
          </p:cNvPr>
          <p:cNvSpPr>
            <a:spLocks noGrp="1"/>
          </p:cNvSpPr>
          <p:nvPr/>
        </p:nvSpPr>
        <p:spPr>
          <a:xfrm>
            <a:off x="3486150" y="4533900"/>
            <a:ext cx="20574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0" i="0">
                <a:solidFill>
                  <a:srgbClr val="64748B"/>
                </a:solidFill>
              </a:defRPr>
            </a:pPr>
            <a:r>
              <a:t>用于弱监督伪标注</a:t>
            </a:r>
          </a:p>
        </p:txBody>
      </p:sp>
      <p:sp>
        <p:nvSpPr>
          <p:cNvPr id="108" name="圆角矩形 107">
            <a:extLst>
              <a:ext uri="{FF2B5EF4-FFF2-40B4-BE49-F238E27FC236}">
                <a16:creationId xmlns:a16="http://schemas.microsoft.com/office/drawing/2014/main" id="{91861A27-9421-4940-8D57-26CBF25464AE}"/>
              </a:ext>
            </a:extLst>
          </p:cNvPr>
          <p:cNvSpPr>
            <a:spLocks noGrp="1"/>
          </p:cNvSpPr>
          <p:nvPr/>
        </p:nvSpPr>
        <p:spPr>
          <a:xfrm>
            <a:off x="5943600" y="3733800"/>
            <a:ext cx="232410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8A00CBA0-F2B4-4032-A4F3-0E980E9EB893}"/>
              </a:ext>
            </a:extLst>
          </p:cNvPr>
          <p:cNvSpPr>
            <a:spLocks noGrp="1"/>
          </p:cNvSpPr>
          <p:nvPr/>
        </p:nvSpPr>
        <p:spPr>
          <a:xfrm>
            <a:off x="5943600" y="3733800"/>
            <a:ext cx="47625" cy="1123950"/>
          </a:xfrm>
          <a:prstGeom prst="rect">
            <a:avLst/>
          </a:prstGeom>
          <a:solidFill>
            <a:srgbClr val="16A34A"/>
          </a:solidFill>
          <a:ln>
            <a:noFill/>
            <a:prstDash val="solid"/>
          </a:ln>
        </p:spPr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128D9912-0A40-42B5-9467-7675E658E7E9}"/>
              </a:ext>
            </a:extLst>
          </p:cNvPr>
          <p:cNvSpPr>
            <a:spLocks noGrp="1"/>
          </p:cNvSpPr>
          <p:nvPr/>
        </p:nvSpPr>
        <p:spPr>
          <a:xfrm>
            <a:off x="6115050" y="3886200"/>
            <a:ext cx="20574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1" i="0">
                <a:solidFill>
                  <a:srgbClr val="16A34A"/>
                </a:solidFill>
              </a:defRPr>
            </a:pPr>
            <a:r>
              <a:t>10%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21AB1477-2D05-4737-BA50-7EF578BEE55F}"/>
              </a:ext>
            </a:extLst>
          </p:cNvPr>
          <p:cNvSpPr>
            <a:spLocks noGrp="1"/>
          </p:cNvSpPr>
          <p:nvPr/>
        </p:nvSpPr>
        <p:spPr>
          <a:xfrm>
            <a:off x="6115050" y="4276725"/>
            <a:ext cx="2057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0F172A"/>
                </a:solidFill>
              </a:defRPr>
            </a:pPr>
            <a:r>
              <a:t>目标域金标训练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4461A0F7-AC6A-4332-AFB4-98CD5F4EA0DA}"/>
              </a:ext>
            </a:extLst>
          </p:cNvPr>
          <p:cNvSpPr>
            <a:spLocks noGrp="1"/>
          </p:cNvSpPr>
          <p:nvPr/>
        </p:nvSpPr>
        <p:spPr>
          <a:xfrm>
            <a:off x="6115050" y="4533900"/>
            <a:ext cx="20574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0" i="0">
                <a:solidFill>
                  <a:srgbClr val="64748B"/>
                </a:solidFill>
              </a:defRPr>
            </a:pPr>
            <a:r>
              <a:t>少量标注适配</a:t>
            </a: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47E8AB98-E206-4008-9CB3-7AD2B1AAF7D7}"/>
              </a:ext>
            </a:extLst>
          </p:cNvPr>
          <p:cNvSpPr>
            <a:spLocks noGrp="1"/>
          </p:cNvSpPr>
          <p:nvPr/>
        </p:nvSpPr>
        <p:spPr>
          <a:xfrm>
            <a:off x="8915400" y="3657600"/>
            <a:ext cx="15240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 i="0">
                <a:solidFill>
                  <a:srgbClr val="2563EB"/>
                </a:solidFill>
              </a:defRPr>
            </a:pPr>
            <a:r>
              <a:t>核心挑战</a:t>
            </a:r>
          </a:p>
        </p:txBody>
      </p:sp>
      <p:sp>
        <p:nvSpPr>
          <p:cNvPr id="114" name="圆角矩形 113">
            <a:extLst>
              <a:ext uri="{FF2B5EF4-FFF2-40B4-BE49-F238E27FC236}">
                <a16:creationId xmlns:a16="http://schemas.microsoft.com/office/drawing/2014/main" id="{B373A7CB-DB7B-4B27-9F9B-56602BB84B05}"/>
              </a:ext>
            </a:extLst>
          </p:cNvPr>
          <p:cNvSpPr>
            <a:spLocks noGrp="1"/>
          </p:cNvSpPr>
          <p:nvPr/>
        </p:nvSpPr>
        <p:spPr>
          <a:xfrm>
            <a:off x="8915400" y="4133850"/>
            <a:ext cx="66675" cy="66675"/>
          </a:xfrm>
          <a:prstGeom prst="roundRect">
            <a:avLst>
              <a:gd name="adj" fmla="val 42857"/>
            </a:avLst>
          </a:prstGeom>
          <a:solidFill>
            <a:srgbClr val="2563EB"/>
          </a:solidFill>
          <a:ln>
            <a:noFill/>
            <a:prstDash val="solid"/>
          </a:ln>
        </p:spPr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6983DA02-122D-4B80-99FC-F8A1B5D2A6CB}"/>
              </a:ext>
            </a:extLst>
          </p:cNvPr>
          <p:cNvSpPr>
            <a:spLocks noGrp="1"/>
          </p:cNvSpPr>
          <p:nvPr/>
        </p:nvSpPr>
        <p:spPr>
          <a:xfrm>
            <a:off x="9086850" y="4057650"/>
            <a:ext cx="24955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0" i="0">
                <a:solidFill>
                  <a:srgbClr val="0F172A"/>
                </a:solidFill>
              </a:defRPr>
            </a:pPr>
            <a:r>
              <a:rPr dirty="0" err="1"/>
              <a:t>文本更长，且转发链、表情符号更多</a:t>
            </a:r>
            <a:endParaRPr dirty="0"/>
          </a:p>
        </p:txBody>
      </p:sp>
      <p:sp>
        <p:nvSpPr>
          <p:cNvPr id="116" name="圆角矩形 115">
            <a:extLst>
              <a:ext uri="{FF2B5EF4-FFF2-40B4-BE49-F238E27FC236}">
                <a16:creationId xmlns:a16="http://schemas.microsoft.com/office/drawing/2014/main" id="{F0875665-8C2D-41A9-830C-CF7737B72940}"/>
              </a:ext>
            </a:extLst>
          </p:cNvPr>
          <p:cNvSpPr>
            <a:spLocks noGrp="1"/>
          </p:cNvSpPr>
          <p:nvPr/>
        </p:nvSpPr>
        <p:spPr>
          <a:xfrm>
            <a:off x="8915400" y="4591050"/>
            <a:ext cx="66675" cy="66675"/>
          </a:xfrm>
          <a:prstGeom prst="roundRect">
            <a:avLst>
              <a:gd name="adj" fmla="val 42857"/>
            </a:avLst>
          </a:prstGeom>
          <a:solidFill>
            <a:srgbClr val="DC2626"/>
          </a:solidFill>
          <a:ln>
            <a:noFill/>
            <a:prstDash val="solid"/>
          </a:ln>
        </p:spPr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FF546069-B3B6-4FC8-A54F-E9513F9B2890}"/>
              </a:ext>
            </a:extLst>
          </p:cNvPr>
          <p:cNvSpPr>
            <a:spLocks noGrp="1"/>
          </p:cNvSpPr>
          <p:nvPr/>
        </p:nvSpPr>
        <p:spPr>
          <a:xfrm>
            <a:off x="9086849" y="4514850"/>
            <a:ext cx="2604408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0" i="0">
                <a:solidFill>
                  <a:srgbClr val="0F172A"/>
                </a:solidFill>
              </a:defRPr>
            </a:pPr>
            <a:r>
              <a:rPr dirty="0" err="1"/>
              <a:t>类别分布不均衡，负面召回是硬指标</a:t>
            </a:r>
            <a:endParaRPr dirty="0"/>
          </a:p>
        </p:txBody>
      </p:sp>
      <p:sp>
        <p:nvSpPr>
          <p:cNvPr id="118" name="圆角矩形 117">
            <a:extLst>
              <a:ext uri="{FF2B5EF4-FFF2-40B4-BE49-F238E27FC236}">
                <a16:creationId xmlns:a16="http://schemas.microsoft.com/office/drawing/2014/main" id="{5E34B2F8-9777-4EFA-AB10-1C130DCD0EFB}"/>
              </a:ext>
            </a:extLst>
          </p:cNvPr>
          <p:cNvSpPr>
            <a:spLocks noGrp="1"/>
          </p:cNvSpPr>
          <p:nvPr/>
        </p:nvSpPr>
        <p:spPr>
          <a:xfrm>
            <a:off x="8915400" y="5048250"/>
            <a:ext cx="66675" cy="66675"/>
          </a:xfrm>
          <a:prstGeom prst="roundRect">
            <a:avLst>
              <a:gd name="adj" fmla="val 42857"/>
            </a:avLst>
          </a:prstGeom>
          <a:solidFill>
            <a:srgbClr val="F59E0B"/>
          </a:solidFill>
          <a:ln>
            <a:noFill/>
            <a:prstDash val="solid"/>
          </a:ln>
        </p:spPr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2CC55AD6-D611-4DF7-978D-41732783B3AC}"/>
              </a:ext>
            </a:extLst>
          </p:cNvPr>
          <p:cNvSpPr>
            <a:spLocks noGrp="1"/>
          </p:cNvSpPr>
          <p:nvPr/>
        </p:nvSpPr>
        <p:spPr>
          <a:xfrm>
            <a:off x="9086850" y="4972050"/>
            <a:ext cx="2719668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0" i="0">
                <a:solidFill>
                  <a:srgbClr val="0F172A"/>
                </a:solidFill>
              </a:defRPr>
            </a:pPr>
            <a:r>
              <a:rPr dirty="0" err="1"/>
              <a:t>源域评论词与微博语境词重叠有限</a:t>
            </a:r>
            <a:endParaRPr dirty="0"/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0D0269F9-BCB5-4732-BC4E-BC05B17D1820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4953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0" i="0">
                <a:solidFill>
                  <a:srgbClr val="64748B"/>
                </a:solidFill>
              </a:defRPr>
            </a:pPr>
            <a:r>
              <a:t>数据审计产物：results/final_data_audit.json</a:t>
            </a: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F0002289-635B-4796-8286-014604A62C0F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7810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0" i="0">
                <a:solidFill>
                  <a:srgbClr val="64748B"/>
                </a:solidFill>
              </a:defRPr>
            </a:pPr>
            <a:r>
              <a:t>Source: results/final_data_audit.json</a:t>
            </a: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8C1CE913-EC7C-4C22-9654-6CC8B7F17FA3}"/>
              </a:ext>
            </a:extLst>
          </p:cNvPr>
          <p:cNvSpPr>
            <a:spLocks noGrp="1"/>
          </p:cNvSpPr>
          <p:nvPr/>
        </p:nvSpPr>
        <p:spPr>
          <a:xfrm>
            <a:off x="11163300" y="6438900"/>
            <a:ext cx="4191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 i="0">
                <a:solidFill>
                  <a:srgbClr val="64748B"/>
                </a:solidFill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32001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>
            <a:extLst>
              <a:ext uri="{FF2B5EF4-FFF2-40B4-BE49-F238E27FC236}">
                <a16:creationId xmlns:a16="http://schemas.microsoft.com/office/drawing/2014/main" id="{F265B70A-6A9A-4672-BB2A-B311B9F257A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0C2AF28-8AA3-415B-89E1-B6D5327519F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76200" cy="209550"/>
          </a:xfrm>
          <a:prstGeom prst="rect">
            <a:avLst/>
          </a:prstGeom>
          <a:solidFill>
            <a:srgbClr val="2563EB"/>
          </a:solidFill>
          <a:ln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AD5AAD1-89C0-420A-A3A6-8343D9EA5028}"/>
              </a:ext>
            </a:extLst>
          </p:cNvPr>
          <p:cNvSpPr>
            <a:spLocks noGrp="1"/>
          </p:cNvSpPr>
          <p:nvPr/>
        </p:nvSpPr>
        <p:spPr>
          <a:xfrm>
            <a:off x="800100" y="371475"/>
            <a:ext cx="24765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2563EB"/>
                </a:solidFill>
              </a:defRPr>
            </a:pPr>
            <a:r>
              <a:t>ARCHITECTURE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DC38A65-E2EA-415D-AC9A-FA784D3C5666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04875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 b="1" i="0">
                <a:solidFill>
                  <a:srgbClr val="0F172A"/>
                </a:solidFill>
              </a:defRPr>
            </a:pPr>
            <a:r>
              <a:rPr lang="zh-CN" altLang="en-US" dirty="0"/>
              <a:t>技术方案：</a:t>
            </a:r>
            <a:endParaRPr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978F6B3-FA99-459F-A3E4-0487ED5AB787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972800" cy="19050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4E61D77E-0442-46F8-A3DE-8FD96C26C565}"/>
              </a:ext>
            </a:extLst>
          </p:cNvPr>
          <p:cNvSpPr>
            <a:spLocks noGrp="1"/>
          </p:cNvSpPr>
          <p:nvPr/>
        </p:nvSpPr>
        <p:spPr>
          <a:xfrm>
            <a:off x="685800" y="2038350"/>
            <a:ext cx="15240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61DBD0A-20EE-495D-A9D3-B311C80BD14C}"/>
              </a:ext>
            </a:extLst>
          </p:cNvPr>
          <p:cNvSpPr>
            <a:spLocks noGrp="1"/>
          </p:cNvSpPr>
          <p:nvPr/>
        </p:nvSpPr>
        <p:spPr>
          <a:xfrm>
            <a:off x="685800" y="2038350"/>
            <a:ext cx="47625" cy="1104900"/>
          </a:xfrm>
          <a:prstGeom prst="rect">
            <a:avLst/>
          </a:prstGeom>
          <a:solidFill>
            <a:srgbClr val="2563EB"/>
          </a:solidFill>
          <a:ln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1AE9CA8-F9D6-4E69-8422-704B243DE289}"/>
              </a:ext>
            </a:extLst>
          </p:cNvPr>
          <p:cNvSpPr>
            <a:spLocks noGrp="1"/>
          </p:cNvSpPr>
          <p:nvPr/>
        </p:nvSpPr>
        <p:spPr>
          <a:xfrm>
            <a:off x="857250" y="2190750"/>
            <a:ext cx="1257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 i="0">
                <a:solidFill>
                  <a:srgbClr val="0F172A"/>
                </a:solidFill>
              </a:defRPr>
            </a:pPr>
            <a:r>
              <a:t>公开语料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D2DC785-34D7-4624-B223-501209FF9A86}"/>
              </a:ext>
            </a:extLst>
          </p:cNvPr>
          <p:cNvSpPr>
            <a:spLocks noGrp="1"/>
          </p:cNvSpPr>
          <p:nvPr/>
        </p:nvSpPr>
        <p:spPr>
          <a:xfrm>
            <a:off x="857250" y="2533650"/>
            <a:ext cx="12573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 i="0">
                <a:solidFill>
                  <a:srgbClr val="64748B"/>
                </a:solidFill>
              </a:defRPr>
            </a:pPr>
            <a:r>
              <a:t>waimai_10k</a:t>
            </a:r>
          </a:p>
          <a:p>
            <a:pPr>
              <a:defRPr sz="1050" b="0" i="0">
                <a:solidFill>
                  <a:srgbClr val="64748B"/>
                </a:solidFill>
              </a:defRPr>
            </a:pPr>
            <a:r>
              <a:t>weibo_senti_100k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B6F3608-0101-4EE3-AD05-CB5E25F319D3}"/>
              </a:ext>
            </a:extLst>
          </p:cNvPr>
          <p:cNvSpPr>
            <a:spLocks noGrp="1"/>
          </p:cNvSpPr>
          <p:nvPr/>
        </p:nvSpPr>
        <p:spPr>
          <a:xfrm>
            <a:off x="2286000" y="2571750"/>
            <a:ext cx="438150" cy="28575"/>
          </a:xfrm>
          <a:prstGeom prst="rect">
            <a:avLst/>
          </a:prstGeom>
          <a:solidFill>
            <a:srgbClr val="2563EB"/>
          </a:solidFill>
          <a:ln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E0A320B-5F01-4AC6-B681-BF6C6355EADF}"/>
              </a:ext>
            </a:extLst>
          </p:cNvPr>
          <p:cNvSpPr>
            <a:spLocks noGrp="1"/>
          </p:cNvSpPr>
          <p:nvPr/>
        </p:nvSpPr>
        <p:spPr>
          <a:xfrm>
            <a:off x="2667000" y="2409825"/>
            <a:ext cx="2286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 i="0">
                <a:solidFill>
                  <a:srgbClr val="2563EB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64A947B7-CE01-4FE1-9B12-4CB51D150793}"/>
              </a:ext>
            </a:extLst>
          </p:cNvPr>
          <p:cNvSpPr>
            <a:spLocks noGrp="1"/>
          </p:cNvSpPr>
          <p:nvPr/>
        </p:nvSpPr>
        <p:spPr>
          <a:xfrm>
            <a:off x="2895600" y="2038350"/>
            <a:ext cx="16764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5465898-AC50-4876-84FD-50876D71C66E}"/>
              </a:ext>
            </a:extLst>
          </p:cNvPr>
          <p:cNvSpPr>
            <a:spLocks noGrp="1"/>
          </p:cNvSpPr>
          <p:nvPr/>
        </p:nvSpPr>
        <p:spPr>
          <a:xfrm>
            <a:off x="2895600" y="2038350"/>
            <a:ext cx="47625" cy="1104900"/>
          </a:xfrm>
          <a:prstGeom prst="rect">
            <a:avLst/>
          </a:prstGeom>
          <a:solidFill>
            <a:srgbClr val="16A34A"/>
          </a:solidFill>
          <a:ln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9E4709D-C6FA-4254-A19A-7096FBBA09A1}"/>
              </a:ext>
            </a:extLst>
          </p:cNvPr>
          <p:cNvSpPr>
            <a:spLocks noGrp="1"/>
          </p:cNvSpPr>
          <p:nvPr/>
        </p:nvSpPr>
        <p:spPr>
          <a:xfrm>
            <a:off x="3067050" y="2190750"/>
            <a:ext cx="14097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 i="0">
                <a:solidFill>
                  <a:srgbClr val="0F172A"/>
                </a:solidFill>
              </a:defRPr>
            </a:pPr>
            <a:r>
              <a:t>清洗去噪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0643BC7-5EFE-494C-A971-C61E0857B810}"/>
              </a:ext>
            </a:extLst>
          </p:cNvPr>
          <p:cNvSpPr>
            <a:spLocks noGrp="1"/>
          </p:cNvSpPr>
          <p:nvPr/>
        </p:nvSpPr>
        <p:spPr>
          <a:xfrm>
            <a:off x="3067050" y="2533650"/>
            <a:ext cx="14097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 i="0">
                <a:solidFill>
                  <a:srgbClr val="64748B"/>
                </a:solidFill>
              </a:defRPr>
            </a:pPr>
            <a:r>
              <a:t>TextCleaner</a:t>
            </a:r>
          </a:p>
          <a:p>
            <a:pPr>
              <a:defRPr sz="1050" b="0" i="0">
                <a:solidFill>
                  <a:srgbClr val="64748B"/>
                </a:solidFill>
              </a:defRPr>
            </a:pPr>
            <a:r>
              <a:t>去重、过滤噪声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CAE7F71-AADE-43D3-AE08-596C04EBCD08}"/>
              </a:ext>
            </a:extLst>
          </p:cNvPr>
          <p:cNvSpPr>
            <a:spLocks noGrp="1"/>
          </p:cNvSpPr>
          <p:nvPr/>
        </p:nvSpPr>
        <p:spPr>
          <a:xfrm>
            <a:off x="4648200" y="2571750"/>
            <a:ext cx="438150" cy="28575"/>
          </a:xfrm>
          <a:prstGeom prst="rect">
            <a:avLst/>
          </a:prstGeom>
          <a:solidFill>
            <a:srgbClr val="2563EB"/>
          </a:solidFill>
          <a:ln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18E22FE-FEBB-442C-82BA-089EDB05C1F1}"/>
              </a:ext>
            </a:extLst>
          </p:cNvPr>
          <p:cNvSpPr>
            <a:spLocks noGrp="1"/>
          </p:cNvSpPr>
          <p:nvPr/>
        </p:nvSpPr>
        <p:spPr>
          <a:xfrm>
            <a:off x="5029200" y="2409825"/>
            <a:ext cx="2286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 i="0">
                <a:solidFill>
                  <a:srgbClr val="2563EB"/>
                </a:solidFill>
              </a:defRPr>
            </a:pPr>
            <a:r>
              <a:t>→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CAC40F94-923A-481B-9C09-6D7316DD430A}"/>
              </a:ext>
            </a:extLst>
          </p:cNvPr>
          <p:cNvSpPr>
            <a:spLocks noGrp="1"/>
          </p:cNvSpPr>
          <p:nvPr/>
        </p:nvSpPr>
        <p:spPr>
          <a:xfrm>
            <a:off x="5257800" y="2038350"/>
            <a:ext cx="17145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AAB5316-CDD4-4666-94DD-245F5C4A30A5}"/>
              </a:ext>
            </a:extLst>
          </p:cNvPr>
          <p:cNvSpPr>
            <a:spLocks noGrp="1"/>
          </p:cNvSpPr>
          <p:nvPr/>
        </p:nvSpPr>
        <p:spPr>
          <a:xfrm>
            <a:off x="5257800" y="2038350"/>
            <a:ext cx="47625" cy="1104900"/>
          </a:xfrm>
          <a:prstGeom prst="rect">
            <a:avLst/>
          </a:prstGeom>
          <a:solidFill>
            <a:srgbClr val="F59E0B"/>
          </a:solidFill>
          <a:ln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6465354-A1B3-4924-B41A-B3487A6E34A7}"/>
              </a:ext>
            </a:extLst>
          </p:cNvPr>
          <p:cNvSpPr>
            <a:spLocks noGrp="1"/>
          </p:cNvSpPr>
          <p:nvPr/>
        </p:nvSpPr>
        <p:spPr>
          <a:xfrm>
            <a:off x="5429250" y="2190750"/>
            <a:ext cx="14478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 i="0">
                <a:solidFill>
                  <a:srgbClr val="0F172A"/>
                </a:solidFill>
              </a:defRPr>
            </a:pPr>
            <a:r>
              <a:t>数据切分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86B8A40-9CF9-42B3-ABBD-EDEEDC7BFA8D}"/>
              </a:ext>
            </a:extLst>
          </p:cNvPr>
          <p:cNvSpPr>
            <a:spLocks noGrp="1"/>
          </p:cNvSpPr>
          <p:nvPr/>
        </p:nvSpPr>
        <p:spPr>
          <a:xfrm>
            <a:off x="5429250" y="2533650"/>
            <a:ext cx="14478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 i="0">
                <a:solidFill>
                  <a:srgbClr val="64748B"/>
                </a:solidFill>
              </a:defRPr>
            </a:pPr>
            <a:r>
              <a:t>train / val / test</a:t>
            </a:r>
          </a:p>
          <a:p>
            <a:pPr>
              <a:defRPr sz="1050" b="0" i="0">
                <a:solidFill>
                  <a:srgbClr val="64748B"/>
                </a:solidFill>
              </a:defRPr>
            </a:pPr>
            <a:r>
              <a:t>unlabeled 目标域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9AE9076-F388-4D75-ACBC-C0DD4CE33639}"/>
              </a:ext>
            </a:extLst>
          </p:cNvPr>
          <p:cNvSpPr>
            <a:spLocks noGrp="1"/>
          </p:cNvSpPr>
          <p:nvPr/>
        </p:nvSpPr>
        <p:spPr>
          <a:xfrm>
            <a:off x="7048500" y="2571750"/>
            <a:ext cx="438150" cy="28575"/>
          </a:xfrm>
          <a:prstGeom prst="rect">
            <a:avLst/>
          </a:prstGeom>
          <a:solidFill>
            <a:srgbClr val="2563EB"/>
          </a:solidFill>
          <a:ln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A218079-D7E0-4A1D-BF73-4FF7B33493CE}"/>
              </a:ext>
            </a:extLst>
          </p:cNvPr>
          <p:cNvSpPr>
            <a:spLocks noGrp="1"/>
          </p:cNvSpPr>
          <p:nvPr/>
        </p:nvSpPr>
        <p:spPr>
          <a:xfrm>
            <a:off x="7429500" y="2409825"/>
            <a:ext cx="2286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 i="0">
                <a:solidFill>
                  <a:srgbClr val="2563EB"/>
                </a:solidFill>
              </a:defRPr>
            </a:pPr>
            <a:r>
              <a:t>→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6C951820-655B-44F2-B523-1F2AD9DBEA26}"/>
              </a:ext>
            </a:extLst>
          </p:cNvPr>
          <p:cNvSpPr>
            <a:spLocks noGrp="1"/>
          </p:cNvSpPr>
          <p:nvPr/>
        </p:nvSpPr>
        <p:spPr>
          <a:xfrm>
            <a:off x="7658100" y="2038350"/>
            <a:ext cx="17145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AFB5AF1-DAE5-4FA4-AAE3-CC5A154A89B6}"/>
              </a:ext>
            </a:extLst>
          </p:cNvPr>
          <p:cNvSpPr>
            <a:spLocks noGrp="1"/>
          </p:cNvSpPr>
          <p:nvPr/>
        </p:nvSpPr>
        <p:spPr>
          <a:xfrm>
            <a:off x="7658100" y="2038350"/>
            <a:ext cx="47625" cy="1104900"/>
          </a:xfrm>
          <a:prstGeom prst="rect">
            <a:avLst/>
          </a:prstGeom>
          <a:solidFill>
            <a:srgbClr val="2563EB"/>
          </a:solidFill>
          <a:ln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337DECD-8BF9-4C50-9710-68C58B3C56BB}"/>
              </a:ext>
            </a:extLst>
          </p:cNvPr>
          <p:cNvSpPr>
            <a:spLocks noGrp="1"/>
          </p:cNvSpPr>
          <p:nvPr/>
        </p:nvSpPr>
        <p:spPr>
          <a:xfrm>
            <a:off x="7829550" y="2190750"/>
            <a:ext cx="14478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 i="0">
                <a:solidFill>
                  <a:srgbClr val="0F172A"/>
                </a:solidFill>
              </a:defRPr>
            </a:pPr>
            <a:r>
              <a:t>特征编码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01D904D-E67F-470B-833C-9C7E9965C548}"/>
              </a:ext>
            </a:extLst>
          </p:cNvPr>
          <p:cNvSpPr>
            <a:spLocks noGrp="1"/>
          </p:cNvSpPr>
          <p:nvPr/>
        </p:nvSpPr>
        <p:spPr>
          <a:xfrm>
            <a:off x="7829550" y="2533650"/>
            <a:ext cx="14478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 i="0">
                <a:solidFill>
                  <a:srgbClr val="64748B"/>
                </a:solidFill>
              </a:defRPr>
            </a:pPr>
            <a:r>
              <a:t>char n-gram</a:t>
            </a:r>
          </a:p>
          <a:p>
            <a:pPr>
              <a:defRPr sz="1050" b="0" i="0">
                <a:solidFill>
                  <a:srgbClr val="64748B"/>
                </a:solidFill>
              </a:defRPr>
            </a:pPr>
            <a:r>
              <a:t>情感词典特征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74781B0-D810-4492-96CE-B4D24C16E0B3}"/>
              </a:ext>
            </a:extLst>
          </p:cNvPr>
          <p:cNvSpPr>
            <a:spLocks noGrp="1"/>
          </p:cNvSpPr>
          <p:nvPr/>
        </p:nvSpPr>
        <p:spPr>
          <a:xfrm>
            <a:off x="9448800" y="2571750"/>
            <a:ext cx="438150" cy="28575"/>
          </a:xfrm>
          <a:prstGeom prst="rect">
            <a:avLst/>
          </a:prstGeom>
          <a:solidFill>
            <a:srgbClr val="2563EB"/>
          </a:solidFill>
          <a:ln>
            <a:noFill/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6C4951D-F25C-495A-BD57-5C9AB746080C}"/>
              </a:ext>
            </a:extLst>
          </p:cNvPr>
          <p:cNvSpPr>
            <a:spLocks noGrp="1"/>
          </p:cNvSpPr>
          <p:nvPr/>
        </p:nvSpPr>
        <p:spPr>
          <a:xfrm>
            <a:off x="9829800" y="2409825"/>
            <a:ext cx="2286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 i="0">
                <a:solidFill>
                  <a:srgbClr val="2563EB"/>
                </a:solidFill>
              </a:defRPr>
            </a:pPr>
            <a:r>
              <a:t>→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772133F2-5E4F-46B8-A5FF-C3228E181464}"/>
              </a:ext>
            </a:extLst>
          </p:cNvPr>
          <p:cNvSpPr>
            <a:spLocks noGrp="1"/>
          </p:cNvSpPr>
          <p:nvPr/>
        </p:nvSpPr>
        <p:spPr>
          <a:xfrm>
            <a:off x="10058400" y="2038350"/>
            <a:ext cx="14668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8D3D9DE-F9FC-420E-82E6-C4E69BB29C71}"/>
              </a:ext>
            </a:extLst>
          </p:cNvPr>
          <p:cNvSpPr>
            <a:spLocks noGrp="1"/>
          </p:cNvSpPr>
          <p:nvPr/>
        </p:nvSpPr>
        <p:spPr>
          <a:xfrm>
            <a:off x="10058400" y="2038350"/>
            <a:ext cx="47625" cy="1104900"/>
          </a:xfrm>
          <a:prstGeom prst="rect">
            <a:avLst/>
          </a:prstGeom>
          <a:solidFill>
            <a:srgbClr val="16A34A"/>
          </a:solidFill>
          <a:ln>
            <a:noFill/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7B6377C-A61E-4663-9C34-E72B01EFC10F}"/>
              </a:ext>
            </a:extLst>
          </p:cNvPr>
          <p:cNvSpPr>
            <a:spLocks noGrp="1"/>
          </p:cNvSpPr>
          <p:nvPr/>
        </p:nvSpPr>
        <p:spPr>
          <a:xfrm>
            <a:off x="10229850" y="2190750"/>
            <a:ext cx="12001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 i="0">
                <a:solidFill>
                  <a:srgbClr val="0F172A"/>
                </a:solidFill>
              </a:defRPr>
            </a:pPr>
            <a:r>
              <a:t>实验矩阵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7CBD6F7-47FE-4065-AA44-59F5F1EBA3BB}"/>
              </a:ext>
            </a:extLst>
          </p:cNvPr>
          <p:cNvSpPr>
            <a:spLocks noGrp="1"/>
          </p:cNvSpPr>
          <p:nvPr/>
        </p:nvSpPr>
        <p:spPr>
          <a:xfrm>
            <a:off x="10229850" y="2533650"/>
            <a:ext cx="12001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 i="0">
                <a:solidFill>
                  <a:srgbClr val="64748B"/>
                </a:solidFill>
              </a:defRPr>
            </a:pPr>
            <a:r>
              <a:t>E0-E6</a:t>
            </a:r>
          </a:p>
          <a:p>
            <a:pPr>
              <a:defRPr sz="1050" b="0" i="0">
                <a:solidFill>
                  <a:srgbClr val="64748B"/>
                </a:solidFill>
              </a:defRPr>
            </a:pPr>
            <a:r>
              <a:t>3 seeds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EB38A2C-D989-4AB5-8A28-5E0D1D2FC84B}"/>
              </a:ext>
            </a:extLst>
          </p:cNvPr>
          <p:cNvSpPr>
            <a:spLocks noGrp="1"/>
          </p:cNvSpPr>
          <p:nvPr/>
        </p:nvSpPr>
        <p:spPr>
          <a:xfrm>
            <a:off x="10782300" y="3143250"/>
            <a:ext cx="28575" cy="704850"/>
          </a:xfrm>
          <a:prstGeom prst="rect">
            <a:avLst/>
          </a:prstGeom>
          <a:solidFill>
            <a:srgbClr val="2563EB"/>
          </a:solidFill>
          <a:ln>
            <a:noFill/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F4A7250-463B-4A82-AE64-B2C7C5FD864F}"/>
              </a:ext>
            </a:extLst>
          </p:cNvPr>
          <p:cNvSpPr>
            <a:spLocks noGrp="1"/>
          </p:cNvSpPr>
          <p:nvPr/>
        </p:nvSpPr>
        <p:spPr>
          <a:xfrm>
            <a:off x="10658475" y="3714750"/>
            <a:ext cx="2857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 i="0">
                <a:solidFill>
                  <a:srgbClr val="2563EB"/>
                </a:solidFill>
              </a:defRPr>
            </a:pPr>
            <a:r>
              <a:t>↓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5EC3227F-E63A-47BE-84F9-F1705371BA96}"/>
              </a:ext>
            </a:extLst>
          </p:cNvPr>
          <p:cNvSpPr>
            <a:spLocks noGrp="1"/>
          </p:cNvSpPr>
          <p:nvPr/>
        </p:nvSpPr>
        <p:spPr>
          <a:xfrm>
            <a:off x="8115300" y="4038600"/>
            <a:ext cx="20383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91A589C-204F-4D53-B824-CC7055941EA5}"/>
              </a:ext>
            </a:extLst>
          </p:cNvPr>
          <p:cNvSpPr>
            <a:spLocks noGrp="1"/>
          </p:cNvSpPr>
          <p:nvPr/>
        </p:nvSpPr>
        <p:spPr>
          <a:xfrm>
            <a:off x="8115300" y="4038600"/>
            <a:ext cx="47625" cy="1104900"/>
          </a:xfrm>
          <a:prstGeom prst="rect">
            <a:avLst/>
          </a:prstGeom>
          <a:solidFill>
            <a:srgbClr val="DC2626"/>
          </a:solidFill>
          <a:ln>
            <a:noFill/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5DF5F8E-1BE0-4151-9B3E-DE830D5956B2}"/>
              </a:ext>
            </a:extLst>
          </p:cNvPr>
          <p:cNvSpPr>
            <a:spLocks noGrp="1"/>
          </p:cNvSpPr>
          <p:nvPr/>
        </p:nvSpPr>
        <p:spPr>
          <a:xfrm>
            <a:off x="8286750" y="4191000"/>
            <a:ext cx="17716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 i="0">
                <a:solidFill>
                  <a:srgbClr val="0F172A"/>
                </a:solidFill>
              </a:defRPr>
            </a:pPr>
            <a:r>
              <a:t>阈值与评估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2F08192-5C3A-4CEB-B304-B1056F59B382}"/>
              </a:ext>
            </a:extLst>
          </p:cNvPr>
          <p:cNvSpPr>
            <a:spLocks noGrp="1"/>
          </p:cNvSpPr>
          <p:nvPr/>
        </p:nvSpPr>
        <p:spPr>
          <a:xfrm>
            <a:off x="8286750" y="4533900"/>
            <a:ext cx="17716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 i="0">
                <a:solidFill>
                  <a:srgbClr val="64748B"/>
                </a:solidFill>
              </a:defRPr>
            </a:pPr>
            <a:r>
              <a:t>target-val 调阈值</a:t>
            </a:r>
          </a:p>
          <a:p>
            <a:pPr>
              <a:defRPr sz="1050" b="0" i="0">
                <a:solidFill>
                  <a:srgbClr val="64748B"/>
                </a:solidFill>
              </a:defRPr>
            </a:pPr>
            <a:r>
              <a:t>Macro-F1 / AUC / Recall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EAD4B47-CF09-4FE9-B628-03DC453EFF26}"/>
              </a:ext>
            </a:extLst>
          </p:cNvPr>
          <p:cNvSpPr>
            <a:spLocks noGrp="1"/>
          </p:cNvSpPr>
          <p:nvPr/>
        </p:nvSpPr>
        <p:spPr>
          <a:xfrm>
            <a:off x="7562850" y="4572000"/>
            <a:ext cx="457200" cy="28575"/>
          </a:xfrm>
          <a:prstGeom prst="rect">
            <a:avLst/>
          </a:prstGeom>
          <a:solidFill>
            <a:srgbClr val="2563EB"/>
          </a:solidFill>
          <a:ln>
            <a:noFill/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A7CBF5A-A855-4AD7-9E04-B3225DB709BD}"/>
              </a:ext>
            </a:extLst>
          </p:cNvPr>
          <p:cNvSpPr>
            <a:spLocks noGrp="1"/>
          </p:cNvSpPr>
          <p:nvPr/>
        </p:nvSpPr>
        <p:spPr>
          <a:xfrm>
            <a:off x="7962900" y="4410075"/>
            <a:ext cx="2286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 i="0">
                <a:solidFill>
                  <a:srgbClr val="2563EB"/>
                </a:solidFill>
              </a:defRPr>
            </a:pPr>
            <a:r>
              <a:t>→</a:t>
            </a:r>
          </a:p>
        </p:txBody>
      </p:sp>
      <p:sp>
        <p:nvSpPr>
          <p:cNvPr id="42" name="圆角矩形 41">
            <a:extLst>
              <a:ext uri="{FF2B5EF4-FFF2-40B4-BE49-F238E27FC236}">
                <a16:creationId xmlns:a16="http://schemas.microsoft.com/office/drawing/2014/main" id="{7808E9CD-4071-4DB5-BDAF-CD50D881AF0F}"/>
              </a:ext>
            </a:extLst>
          </p:cNvPr>
          <p:cNvSpPr>
            <a:spLocks noGrp="1"/>
          </p:cNvSpPr>
          <p:nvPr/>
        </p:nvSpPr>
        <p:spPr>
          <a:xfrm>
            <a:off x="5162550" y="4038600"/>
            <a:ext cx="22669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243A07B-9645-4926-B44E-3154CACB3C23}"/>
              </a:ext>
            </a:extLst>
          </p:cNvPr>
          <p:cNvSpPr>
            <a:spLocks noGrp="1"/>
          </p:cNvSpPr>
          <p:nvPr/>
        </p:nvSpPr>
        <p:spPr>
          <a:xfrm>
            <a:off x="5162550" y="4038600"/>
            <a:ext cx="47625" cy="1104900"/>
          </a:xfrm>
          <a:prstGeom prst="rect">
            <a:avLst/>
          </a:prstGeom>
          <a:solidFill>
            <a:srgbClr val="2563EB"/>
          </a:solidFill>
          <a:ln>
            <a:noFill/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2B9F92C-44D8-4FA4-AADE-E4A2941AEED4}"/>
              </a:ext>
            </a:extLst>
          </p:cNvPr>
          <p:cNvSpPr>
            <a:spLocks noGrp="1"/>
          </p:cNvSpPr>
          <p:nvPr/>
        </p:nvSpPr>
        <p:spPr>
          <a:xfrm>
            <a:off x="5334000" y="4191000"/>
            <a:ext cx="20002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 i="0">
                <a:solidFill>
                  <a:srgbClr val="0F172A"/>
                </a:solidFill>
              </a:defRPr>
            </a:pPr>
            <a:r>
              <a:t>指标与错误样本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1EBAFB7-4F7A-49C5-B9D7-0DF98163D415}"/>
              </a:ext>
            </a:extLst>
          </p:cNvPr>
          <p:cNvSpPr>
            <a:spLocks noGrp="1"/>
          </p:cNvSpPr>
          <p:nvPr/>
        </p:nvSpPr>
        <p:spPr>
          <a:xfrm>
            <a:off x="5334000" y="4533900"/>
            <a:ext cx="20002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 i="0">
                <a:solidFill>
                  <a:srgbClr val="64748B"/>
                </a:solidFill>
              </a:defRPr>
            </a:pPr>
            <a:r>
              <a:t>final_metrics.json</a:t>
            </a:r>
          </a:p>
          <a:p>
            <a:pPr>
              <a:defRPr sz="1050" b="0" i="0">
                <a:solidFill>
                  <a:srgbClr val="64748B"/>
                </a:solidFill>
              </a:defRPr>
            </a:pPr>
            <a:r>
              <a:t>summary.csv / error_cases.csv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89A22BB1-660E-4088-959E-E328126C1BCD}"/>
              </a:ext>
            </a:extLst>
          </p:cNvPr>
          <p:cNvSpPr>
            <a:spLocks noGrp="1"/>
          </p:cNvSpPr>
          <p:nvPr/>
        </p:nvSpPr>
        <p:spPr>
          <a:xfrm>
            <a:off x="4610100" y="4572000"/>
            <a:ext cx="457200" cy="28575"/>
          </a:xfrm>
          <a:prstGeom prst="rect">
            <a:avLst/>
          </a:prstGeom>
          <a:solidFill>
            <a:srgbClr val="2563EB"/>
          </a:solidFill>
          <a:ln>
            <a:noFill/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A001898-22B6-4645-9D00-AFE4D335C407}"/>
              </a:ext>
            </a:extLst>
          </p:cNvPr>
          <p:cNvSpPr>
            <a:spLocks noGrp="1"/>
          </p:cNvSpPr>
          <p:nvPr/>
        </p:nvSpPr>
        <p:spPr>
          <a:xfrm>
            <a:off x="5010150" y="4410075"/>
            <a:ext cx="2286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 i="0">
                <a:solidFill>
                  <a:srgbClr val="2563EB"/>
                </a:solidFill>
              </a:defRPr>
            </a:pPr>
            <a:r>
              <a:t>→</a:t>
            </a:r>
          </a:p>
        </p:txBody>
      </p:sp>
      <p:sp>
        <p:nvSpPr>
          <p:cNvPr id="48" name="圆角矩形 47">
            <a:extLst>
              <a:ext uri="{FF2B5EF4-FFF2-40B4-BE49-F238E27FC236}">
                <a16:creationId xmlns:a16="http://schemas.microsoft.com/office/drawing/2014/main" id="{D3149610-6385-4802-9DDA-2A631BAD9936}"/>
              </a:ext>
            </a:extLst>
          </p:cNvPr>
          <p:cNvSpPr>
            <a:spLocks noGrp="1"/>
          </p:cNvSpPr>
          <p:nvPr/>
        </p:nvSpPr>
        <p:spPr>
          <a:xfrm>
            <a:off x="2209800" y="4038600"/>
            <a:ext cx="22669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25F73459-6F3E-4A2E-B42F-C032A11C555A}"/>
              </a:ext>
            </a:extLst>
          </p:cNvPr>
          <p:cNvSpPr>
            <a:spLocks noGrp="1"/>
          </p:cNvSpPr>
          <p:nvPr/>
        </p:nvSpPr>
        <p:spPr>
          <a:xfrm>
            <a:off x="2209800" y="4038600"/>
            <a:ext cx="47625" cy="1104900"/>
          </a:xfrm>
          <a:prstGeom prst="rect">
            <a:avLst/>
          </a:prstGeom>
          <a:solidFill>
            <a:srgbClr val="16A34A"/>
          </a:solidFill>
          <a:ln>
            <a:noFill/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3C1D8837-B1B6-4953-BD6F-9528CEF6F284}"/>
              </a:ext>
            </a:extLst>
          </p:cNvPr>
          <p:cNvSpPr>
            <a:spLocks noGrp="1"/>
          </p:cNvSpPr>
          <p:nvPr/>
        </p:nvSpPr>
        <p:spPr>
          <a:xfrm>
            <a:off x="2381250" y="4191000"/>
            <a:ext cx="20002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 i="0">
                <a:solidFill>
                  <a:srgbClr val="0F172A"/>
                </a:solidFill>
              </a:defRPr>
            </a:pPr>
            <a:r>
              <a:t>报告与图表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52371BF6-C7AF-4C17-AEC7-7AFE071F2513}"/>
              </a:ext>
            </a:extLst>
          </p:cNvPr>
          <p:cNvSpPr>
            <a:spLocks noGrp="1"/>
          </p:cNvSpPr>
          <p:nvPr/>
        </p:nvSpPr>
        <p:spPr>
          <a:xfrm>
            <a:off x="2381250" y="4533900"/>
            <a:ext cx="20002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 i="0">
                <a:solidFill>
                  <a:srgbClr val="64748B"/>
                </a:solidFill>
              </a:defRPr>
            </a:pPr>
            <a:r>
              <a:t>final_report.pdf</a:t>
            </a:r>
          </a:p>
          <a:p>
            <a:pPr>
              <a:defRPr sz="1050" b="0" i="0">
                <a:solidFill>
                  <a:srgbClr val="64748B"/>
                </a:solidFill>
              </a:defRPr>
            </a:pPr>
            <a:r>
              <a:t>final_metrics_chart.png</a:t>
            </a:r>
          </a:p>
        </p:txBody>
      </p:sp>
      <p:sp>
        <p:nvSpPr>
          <p:cNvPr id="52" name="圆角矩形 51">
            <a:extLst>
              <a:ext uri="{FF2B5EF4-FFF2-40B4-BE49-F238E27FC236}">
                <a16:creationId xmlns:a16="http://schemas.microsoft.com/office/drawing/2014/main" id="{FE6FE2E0-E847-49FC-B4C9-6224AD358EB3}"/>
              </a:ext>
            </a:extLst>
          </p:cNvPr>
          <p:cNvSpPr>
            <a:spLocks noGrp="1"/>
          </p:cNvSpPr>
          <p:nvPr/>
        </p:nvSpPr>
        <p:spPr>
          <a:xfrm>
            <a:off x="685800" y="5562600"/>
            <a:ext cx="10839450" cy="552450"/>
          </a:xfrm>
          <a:prstGeom prst="roundRect">
            <a:avLst>
              <a:gd name="adj" fmla="val 13793"/>
            </a:avLst>
          </a:prstGeom>
          <a:solidFill>
            <a:srgbClr val="EFF6FF"/>
          </a:solidFill>
          <a:ln>
            <a:noFill/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20616B1-1B58-4590-B468-9E29F0D2B36C}"/>
              </a:ext>
            </a:extLst>
          </p:cNvPr>
          <p:cNvSpPr>
            <a:spLocks noGrp="1"/>
          </p:cNvSpPr>
          <p:nvPr/>
        </p:nvSpPr>
        <p:spPr>
          <a:xfrm>
            <a:off x="914400" y="5734050"/>
            <a:ext cx="952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 i="0">
                <a:solidFill>
                  <a:srgbClr val="2563EB"/>
                </a:solidFill>
              </a:defRPr>
            </a:pPr>
            <a:r>
              <a:t>架构要点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02D87955-3B83-4491-A0E0-68C30E010B49}"/>
              </a:ext>
            </a:extLst>
          </p:cNvPr>
          <p:cNvSpPr>
            <a:spLocks noGrp="1"/>
          </p:cNvSpPr>
          <p:nvPr/>
        </p:nvSpPr>
        <p:spPr>
          <a:xfrm>
            <a:off x="2038350" y="5705475"/>
            <a:ext cx="87630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 i="0">
                <a:solidFill>
                  <a:srgbClr val="0F172A"/>
                </a:solidFill>
              </a:defRPr>
            </a:pPr>
            <a:r>
              <a:t>每一步都有文件产物：数据审计、实验指标、错误样本和最终报告都可追溯；验证脚本负责检查数据规模、E0-E6 完整性和达标指标。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F68F4169-2B12-48E3-9A5C-21BDBEC30143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7810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0" i="0">
                <a:solidFill>
                  <a:srgbClr val="64748B"/>
                </a:solidFill>
              </a:defRPr>
            </a:pPr>
            <a:r>
              <a:t>Flow diagram source: scripts/prepare_real_data.py, src/experiments/final_runner.py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B66C7C67-2528-4A61-9A8B-A1C5A2C54118}"/>
              </a:ext>
            </a:extLst>
          </p:cNvPr>
          <p:cNvSpPr>
            <a:spLocks noGrp="1"/>
          </p:cNvSpPr>
          <p:nvPr/>
        </p:nvSpPr>
        <p:spPr>
          <a:xfrm>
            <a:off x="11163300" y="6438900"/>
            <a:ext cx="4191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 i="0">
                <a:solidFill>
                  <a:srgbClr val="64748B"/>
                </a:solidFill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2166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矩形 105">
            <a:extLst>
              <a:ext uri="{FF2B5EF4-FFF2-40B4-BE49-F238E27FC236}">
                <a16:creationId xmlns:a16="http://schemas.microsoft.com/office/drawing/2014/main" id="{58E95894-67BA-4C90-9322-964B123C3F5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35C0094-D168-4158-8446-D4D706D4EFF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76200" cy="209550"/>
          </a:xfrm>
          <a:prstGeom prst="rect">
            <a:avLst/>
          </a:prstGeom>
          <a:solidFill>
            <a:srgbClr val="2563EB"/>
          </a:solidFill>
          <a:ln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EF3B7A-370E-4ABB-82E2-DADBDA002D32}"/>
              </a:ext>
            </a:extLst>
          </p:cNvPr>
          <p:cNvSpPr>
            <a:spLocks noGrp="1"/>
          </p:cNvSpPr>
          <p:nvPr/>
        </p:nvSpPr>
        <p:spPr>
          <a:xfrm>
            <a:off x="800100" y="371475"/>
            <a:ext cx="24765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2563EB"/>
                </a:solidFill>
              </a:defRPr>
            </a:pPr>
            <a:r>
              <a:t>METHOD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24C59EB-5DB5-464D-9D4A-BC6E95740BBF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678886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 b="1" i="0">
                <a:solidFill>
                  <a:srgbClr val="0F172A"/>
                </a:solidFill>
              </a:defRPr>
            </a:pPr>
            <a:r>
              <a:rPr lang="zh-CN" altLang="en-US" dirty="0"/>
              <a:t>技术方案：</a:t>
            </a:r>
          </a:p>
          <a:p>
            <a:pPr>
              <a:defRPr sz="2850" b="1" i="0">
                <a:solidFill>
                  <a:srgbClr val="0F172A"/>
                </a:solidFill>
              </a:defRPr>
            </a:pPr>
            <a:r>
              <a:rPr dirty="0" err="1"/>
              <a:t>实验矩阵隔离每个模块的贡献，而不是只报告一个最终分数</a:t>
            </a:r>
            <a:endParaRPr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986A545-DD6E-4D2B-9161-1CAAC55D6E9E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972800" cy="19050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38E8C52-B1BB-4375-94D6-76908FD3F048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590550" cy="323850"/>
          </a:xfrm>
          <a:prstGeom prst="rect">
            <a:avLst/>
          </a:prstGeom>
          <a:solidFill>
            <a:srgbClr val="25324A"/>
          </a:solidFill>
          <a:ln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D70B517-B0F3-4EB3-93B2-7279D67BA251}"/>
              </a:ext>
            </a:extLst>
          </p:cNvPr>
          <p:cNvSpPr>
            <a:spLocks noGrp="1"/>
          </p:cNvSpPr>
          <p:nvPr/>
        </p:nvSpPr>
        <p:spPr>
          <a:xfrm>
            <a:off x="762000" y="2028825"/>
            <a:ext cx="4381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1" i="0">
                <a:solidFill>
                  <a:srgbClr val="FFFFFF"/>
                </a:solidFill>
              </a:defRPr>
            </a:pPr>
            <a:r>
              <a:t>ID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05C633D-5FAA-4D28-9AFE-AA5FA730B10F}"/>
              </a:ext>
            </a:extLst>
          </p:cNvPr>
          <p:cNvSpPr>
            <a:spLocks noGrp="1"/>
          </p:cNvSpPr>
          <p:nvPr/>
        </p:nvSpPr>
        <p:spPr>
          <a:xfrm>
            <a:off x="1276350" y="1952625"/>
            <a:ext cx="2095500" cy="323850"/>
          </a:xfrm>
          <a:prstGeom prst="rect">
            <a:avLst/>
          </a:prstGeom>
          <a:solidFill>
            <a:srgbClr val="25324A"/>
          </a:solidFill>
          <a:ln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F54C353-AB7A-4142-A6D9-75F1359B94F5}"/>
              </a:ext>
            </a:extLst>
          </p:cNvPr>
          <p:cNvSpPr>
            <a:spLocks noGrp="1"/>
          </p:cNvSpPr>
          <p:nvPr/>
        </p:nvSpPr>
        <p:spPr>
          <a:xfrm>
            <a:off x="1352550" y="2028825"/>
            <a:ext cx="1943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1" i="0">
                <a:solidFill>
                  <a:srgbClr val="FFFFFF"/>
                </a:solidFill>
              </a:defRPr>
            </a:pPr>
            <a:r>
              <a:t>方法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37389AC-5A76-48DF-817B-94D10E6C0B54}"/>
              </a:ext>
            </a:extLst>
          </p:cNvPr>
          <p:cNvSpPr>
            <a:spLocks noGrp="1"/>
          </p:cNvSpPr>
          <p:nvPr/>
        </p:nvSpPr>
        <p:spPr>
          <a:xfrm>
            <a:off x="3371850" y="1952625"/>
            <a:ext cx="3352800" cy="323850"/>
          </a:xfrm>
          <a:prstGeom prst="rect">
            <a:avLst/>
          </a:prstGeom>
          <a:solidFill>
            <a:srgbClr val="25324A"/>
          </a:solidFill>
          <a:ln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C5A7CCF-52D4-43AD-B0C3-C310EE1BBF1F}"/>
              </a:ext>
            </a:extLst>
          </p:cNvPr>
          <p:cNvSpPr>
            <a:spLocks noGrp="1"/>
          </p:cNvSpPr>
          <p:nvPr/>
        </p:nvSpPr>
        <p:spPr>
          <a:xfrm>
            <a:off x="3448050" y="2028825"/>
            <a:ext cx="32004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1" i="0">
                <a:solidFill>
                  <a:srgbClr val="FFFFFF"/>
                </a:solidFill>
              </a:defRPr>
            </a:pPr>
            <a:r>
              <a:t>关键变化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4C098C5-EC13-47FB-83E7-E08EA6ADDFFA}"/>
              </a:ext>
            </a:extLst>
          </p:cNvPr>
          <p:cNvSpPr>
            <a:spLocks noGrp="1"/>
          </p:cNvSpPr>
          <p:nvPr/>
        </p:nvSpPr>
        <p:spPr>
          <a:xfrm>
            <a:off x="685800" y="2276475"/>
            <a:ext cx="590550" cy="323850"/>
          </a:xfrm>
          <a:prstGeom prst="rect">
            <a:avLst/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3E6934C-1D07-4E03-BE81-F0FD70E9ED60}"/>
              </a:ext>
            </a:extLst>
          </p:cNvPr>
          <p:cNvSpPr>
            <a:spLocks noGrp="1"/>
          </p:cNvSpPr>
          <p:nvPr/>
        </p:nvSpPr>
        <p:spPr>
          <a:xfrm>
            <a:off x="685800" y="2276475"/>
            <a:ext cx="5905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FA5CF17-2177-4F31-829A-9C401DE75AE5}"/>
              </a:ext>
            </a:extLst>
          </p:cNvPr>
          <p:cNvSpPr>
            <a:spLocks noGrp="1"/>
          </p:cNvSpPr>
          <p:nvPr/>
        </p:nvSpPr>
        <p:spPr>
          <a:xfrm>
            <a:off x="685800" y="2590800"/>
            <a:ext cx="5905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DEF3D53-E63E-44C0-88AA-C41167FFF5BB}"/>
              </a:ext>
            </a:extLst>
          </p:cNvPr>
          <p:cNvSpPr>
            <a:spLocks noGrp="1"/>
          </p:cNvSpPr>
          <p:nvPr/>
        </p:nvSpPr>
        <p:spPr>
          <a:xfrm>
            <a:off x="762000" y="2352675"/>
            <a:ext cx="4381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0" i="0">
                <a:solidFill>
                  <a:srgbClr val="0F172A"/>
                </a:solidFill>
              </a:defRPr>
            </a:pPr>
            <a:r>
              <a:t>E0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B123F39-95F2-45DB-8BAC-A7A1BAD561F0}"/>
              </a:ext>
            </a:extLst>
          </p:cNvPr>
          <p:cNvSpPr>
            <a:spLocks noGrp="1"/>
          </p:cNvSpPr>
          <p:nvPr/>
        </p:nvSpPr>
        <p:spPr>
          <a:xfrm>
            <a:off x="1276350" y="2276475"/>
            <a:ext cx="2095500" cy="323850"/>
          </a:xfrm>
          <a:prstGeom prst="rect">
            <a:avLst/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6B4499E-34ED-403F-8650-494676C47927}"/>
              </a:ext>
            </a:extLst>
          </p:cNvPr>
          <p:cNvSpPr>
            <a:spLocks noGrp="1"/>
          </p:cNvSpPr>
          <p:nvPr/>
        </p:nvSpPr>
        <p:spPr>
          <a:xfrm>
            <a:off x="1276350" y="2276475"/>
            <a:ext cx="20955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E70E1FC-DC4D-4ACD-993B-E757A4B6251B}"/>
              </a:ext>
            </a:extLst>
          </p:cNvPr>
          <p:cNvSpPr>
            <a:spLocks noGrp="1"/>
          </p:cNvSpPr>
          <p:nvPr/>
        </p:nvSpPr>
        <p:spPr>
          <a:xfrm>
            <a:off x="1276350" y="2590800"/>
            <a:ext cx="20955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2F090BC-6B3E-4104-88D7-607C0FF41ED4}"/>
              </a:ext>
            </a:extLst>
          </p:cNvPr>
          <p:cNvSpPr>
            <a:spLocks noGrp="1"/>
          </p:cNvSpPr>
          <p:nvPr/>
        </p:nvSpPr>
        <p:spPr>
          <a:xfrm>
            <a:off x="1352550" y="2352675"/>
            <a:ext cx="1943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0" i="0">
                <a:solidFill>
                  <a:srgbClr val="0F172A"/>
                </a:solidFill>
              </a:defRPr>
            </a:pPr>
            <a:r>
              <a:t>TF-IDF+LR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3F0A5F1-F8A6-4E99-8E63-62996FA760DF}"/>
              </a:ext>
            </a:extLst>
          </p:cNvPr>
          <p:cNvSpPr>
            <a:spLocks noGrp="1"/>
          </p:cNvSpPr>
          <p:nvPr/>
        </p:nvSpPr>
        <p:spPr>
          <a:xfrm>
            <a:off x="3371850" y="2276475"/>
            <a:ext cx="3352800" cy="323850"/>
          </a:xfrm>
          <a:prstGeom prst="rect">
            <a:avLst/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4BB2F1D-CE07-4743-BEA2-62893A3253F0}"/>
              </a:ext>
            </a:extLst>
          </p:cNvPr>
          <p:cNvSpPr>
            <a:spLocks noGrp="1"/>
          </p:cNvSpPr>
          <p:nvPr/>
        </p:nvSpPr>
        <p:spPr>
          <a:xfrm>
            <a:off x="3371850" y="2276475"/>
            <a:ext cx="33528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D547BC5-027C-4E78-A57C-048B8F9747DE}"/>
              </a:ext>
            </a:extLst>
          </p:cNvPr>
          <p:cNvSpPr>
            <a:spLocks noGrp="1"/>
          </p:cNvSpPr>
          <p:nvPr/>
        </p:nvSpPr>
        <p:spPr>
          <a:xfrm>
            <a:off x="3371850" y="2590800"/>
            <a:ext cx="33528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490241B-4697-474E-94B3-212F413B3D13}"/>
              </a:ext>
            </a:extLst>
          </p:cNvPr>
          <p:cNvSpPr>
            <a:spLocks noGrp="1"/>
          </p:cNvSpPr>
          <p:nvPr/>
        </p:nvSpPr>
        <p:spPr>
          <a:xfrm>
            <a:off x="3448050" y="2352675"/>
            <a:ext cx="32004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0" i="0">
                <a:solidFill>
                  <a:srgbClr val="0F172A"/>
                </a:solidFill>
              </a:defRPr>
            </a:pPr>
            <a:r>
              <a:t>仅源域训练，浅层下限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A8547CA-C14F-4978-BC5E-878C4342DB9B}"/>
              </a:ext>
            </a:extLst>
          </p:cNvPr>
          <p:cNvSpPr>
            <a:spLocks noGrp="1"/>
          </p:cNvSpPr>
          <p:nvPr/>
        </p:nvSpPr>
        <p:spPr>
          <a:xfrm>
            <a:off x="685800" y="2600325"/>
            <a:ext cx="590550" cy="323850"/>
          </a:xfrm>
          <a:prstGeom prst="rect">
            <a:avLst/>
          </a:prstGeom>
          <a:solidFill>
            <a:srgbClr val="F1F5F9"/>
          </a:solidFill>
          <a:ln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1671915-80FB-4025-BB3B-BC9D1DED74AE}"/>
              </a:ext>
            </a:extLst>
          </p:cNvPr>
          <p:cNvSpPr>
            <a:spLocks noGrp="1"/>
          </p:cNvSpPr>
          <p:nvPr/>
        </p:nvSpPr>
        <p:spPr>
          <a:xfrm>
            <a:off x="685800" y="2600325"/>
            <a:ext cx="5905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74E02E0-0143-4D6D-9F36-4F3CD55D7C6D}"/>
              </a:ext>
            </a:extLst>
          </p:cNvPr>
          <p:cNvSpPr>
            <a:spLocks noGrp="1"/>
          </p:cNvSpPr>
          <p:nvPr/>
        </p:nvSpPr>
        <p:spPr>
          <a:xfrm>
            <a:off x="685800" y="2914650"/>
            <a:ext cx="5905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5475BC1-DDCD-4918-AFDD-FB231A783929}"/>
              </a:ext>
            </a:extLst>
          </p:cNvPr>
          <p:cNvSpPr>
            <a:spLocks noGrp="1"/>
          </p:cNvSpPr>
          <p:nvPr/>
        </p:nvSpPr>
        <p:spPr>
          <a:xfrm>
            <a:off x="762000" y="2676525"/>
            <a:ext cx="4381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0" i="0">
                <a:solidFill>
                  <a:srgbClr val="0F172A"/>
                </a:solidFill>
              </a:defRPr>
            </a:pPr>
            <a:r>
              <a:t>E1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CE7EC0B-B7E3-41A6-A572-3678D373CEE1}"/>
              </a:ext>
            </a:extLst>
          </p:cNvPr>
          <p:cNvSpPr>
            <a:spLocks noGrp="1"/>
          </p:cNvSpPr>
          <p:nvPr/>
        </p:nvSpPr>
        <p:spPr>
          <a:xfrm>
            <a:off x="1276350" y="2600325"/>
            <a:ext cx="2095500" cy="323850"/>
          </a:xfrm>
          <a:prstGeom prst="rect">
            <a:avLst/>
          </a:prstGeom>
          <a:solidFill>
            <a:srgbClr val="F1F5F9"/>
          </a:solidFill>
          <a:ln>
            <a:noFill/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5AF39F7-2AC2-4165-80D7-1234F7EDC5C8}"/>
              </a:ext>
            </a:extLst>
          </p:cNvPr>
          <p:cNvSpPr>
            <a:spLocks noGrp="1"/>
          </p:cNvSpPr>
          <p:nvPr/>
        </p:nvSpPr>
        <p:spPr>
          <a:xfrm>
            <a:off x="1276350" y="2600325"/>
            <a:ext cx="20955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75788DA-B0D9-4D8C-996D-0CAFAF53DE8F}"/>
              </a:ext>
            </a:extLst>
          </p:cNvPr>
          <p:cNvSpPr>
            <a:spLocks noGrp="1"/>
          </p:cNvSpPr>
          <p:nvPr/>
        </p:nvSpPr>
        <p:spPr>
          <a:xfrm>
            <a:off x="1276350" y="2914650"/>
            <a:ext cx="20955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2683B9A-B071-424C-ABD1-C4FE2EB67BD1}"/>
              </a:ext>
            </a:extLst>
          </p:cNvPr>
          <p:cNvSpPr>
            <a:spLocks noGrp="1"/>
          </p:cNvSpPr>
          <p:nvPr/>
        </p:nvSpPr>
        <p:spPr>
          <a:xfrm>
            <a:off x="1352550" y="2676525"/>
            <a:ext cx="1943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0" i="0">
                <a:solidFill>
                  <a:srgbClr val="0F172A"/>
                </a:solidFill>
              </a:defRPr>
            </a:pPr>
            <a:r>
              <a:t>强 lexical encoder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AF8D957-FF50-4B13-80B7-6A5EB5D428B1}"/>
              </a:ext>
            </a:extLst>
          </p:cNvPr>
          <p:cNvSpPr>
            <a:spLocks noGrp="1"/>
          </p:cNvSpPr>
          <p:nvPr/>
        </p:nvSpPr>
        <p:spPr>
          <a:xfrm>
            <a:off x="3371850" y="2600325"/>
            <a:ext cx="3352800" cy="323850"/>
          </a:xfrm>
          <a:prstGeom prst="rect">
            <a:avLst/>
          </a:prstGeom>
          <a:solidFill>
            <a:srgbClr val="F1F5F9"/>
          </a:solidFill>
          <a:ln>
            <a:noFill/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321E4B7-F7A0-4736-A334-633EAB341BFF}"/>
              </a:ext>
            </a:extLst>
          </p:cNvPr>
          <p:cNvSpPr>
            <a:spLocks noGrp="1"/>
          </p:cNvSpPr>
          <p:nvPr/>
        </p:nvSpPr>
        <p:spPr>
          <a:xfrm>
            <a:off x="3371850" y="2600325"/>
            <a:ext cx="33528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CAAEF0C-05D2-41B5-A156-3417ADF21B99}"/>
              </a:ext>
            </a:extLst>
          </p:cNvPr>
          <p:cNvSpPr>
            <a:spLocks noGrp="1"/>
          </p:cNvSpPr>
          <p:nvPr/>
        </p:nvSpPr>
        <p:spPr>
          <a:xfrm>
            <a:off x="3371850" y="2914650"/>
            <a:ext cx="33528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D4E7C88-F762-4324-A1E7-4F0600224DFF}"/>
              </a:ext>
            </a:extLst>
          </p:cNvPr>
          <p:cNvSpPr>
            <a:spLocks noGrp="1"/>
          </p:cNvSpPr>
          <p:nvPr/>
        </p:nvSpPr>
        <p:spPr>
          <a:xfrm>
            <a:off x="3448050" y="2676525"/>
            <a:ext cx="32004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0" i="0">
                <a:solidFill>
                  <a:srgbClr val="0F172A"/>
                </a:solidFill>
              </a:defRPr>
            </a:pPr>
            <a:r>
              <a:t>加入 char n-gram + 情感词典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1B8F26D-30F2-40AB-A0AE-CA4773D9D7A2}"/>
              </a:ext>
            </a:extLst>
          </p:cNvPr>
          <p:cNvSpPr>
            <a:spLocks noGrp="1"/>
          </p:cNvSpPr>
          <p:nvPr/>
        </p:nvSpPr>
        <p:spPr>
          <a:xfrm>
            <a:off x="685800" y="2924175"/>
            <a:ext cx="590550" cy="323850"/>
          </a:xfrm>
          <a:prstGeom prst="rect">
            <a:avLst/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4D15572-4DD2-4893-8561-B0F883DB3353}"/>
              </a:ext>
            </a:extLst>
          </p:cNvPr>
          <p:cNvSpPr>
            <a:spLocks noGrp="1"/>
          </p:cNvSpPr>
          <p:nvPr/>
        </p:nvSpPr>
        <p:spPr>
          <a:xfrm>
            <a:off x="685800" y="2924175"/>
            <a:ext cx="5905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588A58A-9887-49C3-8021-9611B780C16A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5905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B387C5C-C36E-4198-B3F6-23F9796DACA0}"/>
              </a:ext>
            </a:extLst>
          </p:cNvPr>
          <p:cNvSpPr>
            <a:spLocks noGrp="1"/>
          </p:cNvSpPr>
          <p:nvPr/>
        </p:nvSpPr>
        <p:spPr>
          <a:xfrm>
            <a:off x="762000" y="3000375"/>
            <a:ext cx="4381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0" i="0">
                <a:solidFill>
                  <a:srgbClr val="0F172A"/>
                </a:solidFill>
              </a:defRPr>
            </a:pPr>
            <a:r>
              <a:t>E2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269D3F1-40A7-4F5B-965A-E8776DE9FAC0}"/>
              </a:ext>
            </a:extLst>
          </p:cNvPr>
          <p:cNvSpPr>
            <a:spLocks noGrp="1"/>
          </p:cNvSpPr>
          <p:nvPr/>
        </p:nvSpPr>
        <p:spPr>
          <a:xfrm>
            <a:off x="1276350" y="2924175"/>
            <a:ext cx="2095500" cy="323850"/>
          </a:xfrm>
          <a:prstGeom prst="rect">
            <a:avLst/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71F84E2-FCD0-4B17-AD96-8D8C6BA7C550}"/>
              </a:ext>
            </a:extLst>
          </p:cNvPr>
          <p:cNvSpPr>
            <a:spLocks noGrp="1"/>
          </p:cNvSpPr>
          <p:nvPr/>
        </p:nvSpPr>
        <p:spPr>
          <a:xfrm>
            <a:off x="1276350" y="2924175"/>
            <a:ext cx="20955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A6C838B-EB72-4015-85D3-86164941A0EB}"/>
              </a:ext>
            </a:extLst>
          </p:cNvPr>
          <p:cNvSpPr>
            <a:spLocks noGrp="1"/>
          </p:cNvSpPr>
          <p:nvPr/>
        </p:nvSpPr>
        <p:spPr>
          <a:xfrm>
            <a:off x="1276350" y="3238500"/>
            <a:ext cx="20955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D4C1B12-CEFB-42B1-82B7-B81B15399222}"/>
              </a:ext>
            </a:extLst>
          </p:cNvPr>
          <p:cNvSpPr>
            <a:spLocks noGrp="1"/>
          </p:cNvSpPr>
          <p:nvPr/>
        </p:nvSpPr>
        <p:spPr>
          <a:xfrm>
            <a:off x="1352550" y="3000375"/>
            <a:ext cx="1943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0" i="0">
                <a:solidFill>
                  <a:srgbClr val="0F172A"/>
                </a:solidFill>
              </a:defRPr>
            </a:pPr>
            <a:r>
              <a:t>弱监督伪标注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D39208B-B2BC-456F-90FF-31B974844DDB}"/>
              </a:ext>
            </a:extLst>
          </p:cNvPr>
          <p:cNvSpPr>
            <a:spLocks noGrp="1"/>
          </p:cNvSpPr>
          <p:nvPr/>
        </p:nvSpPr>
        <p:spPr>
          <a:xfrm>
            <a:off x="3371850" y="2924175"/>
            <a:ext cx="3352800" cy="323850"/>
          </a:xfrm>
          <a:prstGeom prst="rect">
            <a:avLst/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4F161C3C-69CB-4413-8C74-853E91A5C485}"/>
              </a:ext>
            </a:extLst>
          </p:cNvPr>
          <p:cNvSpPr>
            <a:spLocks noGrp="1"/>
          </p:cNvSpPr>
          <p:nvPr/>
        </p:nvSpPr>
        <p:spPr>
          <a:xfrm>
            <a:off x="3371850" y="2924175"/>
            <a:ext cx="33528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FA5FEF5-D5DC-4C4C-ABB8-4415F1885E77}"/>
              </a:ext>
            </a:extLst>
          </p:cNvPr>
          <p:cNvSpPr>
            <a:spLocks noGrp="1"/>
          </p:cNvSpPr>
          <p:nvPr/>
        </p:nvSpPr>
        <p:spPr>
          <a:xfrm>
            <a:off x="3371850" y="3238500"/>
            <a:ext cx="33528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1ED4CBF-15AD-40F4-80F4-2B0C6879EA9B}"/>
              </a:ext>
            </a:extLst>
          </p:cNvPr>
          <p:cNvSpPr>
            <a:spLocks noGrp="1"/>
          </p:cNvSpPr>
          <p:nvPr/>
        </p:nvSpPr>
        <p:spPr>
          <a:xfrm>
            <a:off x="3448050" y="3000375"/>
            <a:ext cx="32004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0" i="0">
                <a:solidFill>
                  <a:srgbClr val="0F172A"/>
                </a:solidFill>
              </a:defRPr>
            </a:pPr>
            <a:r>
              <a:t>从 unlabeled 目标域选择高置信样本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F1DDD56-E3B1-405D-82D9-AF11B61DCD9F}"/>
              </a:ext>
            </a:extLst>
          </p:cNvPr>
          <p:cNvSpPr>
            <a:spLocks noGrp="1"/>
          </p:cNvSpPr>
          <p:nvPr/>
        </p:nvSpPr>
        <p:spPr>
          <a:xfrm>
            <a:off x="685800" y="3248025"/>
            <a:ext cx="590550" cy="323850"/>
          </a:xfrm>
          <a:prstGeom prst="rect">
            <a:avLst/>
          </a:prstGeom>
          <a:solidFill>
            <a:srgbClr val="F1F5F9"/>
          </a:solidFill>
          <a:ln>
            <a:noFill/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A6E38F15-8427-4F30-A3C0-E84F47B4AF70}"/>
              </a:ext>
            </a:extLst>
          </p:cNvPr>
          <p:cNvSpPr>
            <a:spLocks noGrp="1"/>
          </p:cNvSpPr>
          <p:nvPr/>
        </p:nvSpPr>
        <p:spPr>
          <a:xfrm>
            <a:off x="685800" y="3248025"/>
            <a:ext cx="5905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AF25116-A3D3-48A8-BC0E-ECFE31401C9F}"/>
              </a:ext>
            </a:extLst>
          </p:cNvPr>
          <p:cNvSpPr>
            <a:spLocks noGrp="1"/>
          </p:cNvSpPr>
          <p:nvPr/>
        </p:nvSpPr>
        <p:spPr>
          <a:xfrm>
            <a:off x="685800" y="3562350"/>
            <a:ext cx="5905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4924060F-1340-471E-95B3-A7530216FA7E}"/>
              </a:ext>
            </a:extLst>
          </p:cNvPr>
          <p:cNvSpPr>
            <a:spLocks noGrp="1"/>
          </p:cNvSpPr>
          <p:nvPr/>
        </p:nvSpPr>
        <p:spPr>
          <a:xfrm>
            <a:off x="762000" y="3324225"/>
            <a:ext cx="4381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0" i="0">
                <a:solidFill>
                  <a:srgbClr val="0F172A"/>
                </a:solidFill>
              </a:defRPr>
            </a:pPr>
            <a:r>
              <a:t>E3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AD92CFC5-D922-4A28-96EA-B0BD0BD9F3BF}"/>
              </a:ext>
            </a:extLst>
          </p:cNvPr>
          <p:cNvSpPr>
            <a:spLocks noGrp="1"/>
          </p:cNvSpPr>
          <p:nvPr/>
        </p:nvSpPr>
        <p:spPr>
          <a:xfrm>
            <a:off x="1276350" y="3248025"/>
            <a:ext cx="2095500" cy="323850"/>
          </a:xfrm>
          <a:prstGeom prst="rect">
            <a:avLst/>
          </a:prstGeom>
          <a:solidFill>
            <a:srgbClr val="F1F5F9"/>
          </a:solidFill>
          <a:ln>
            <a:noFill/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925BB86-2758-4F24-BCB8-2137C7B9C66D}"/>
              </a:ext>
            </a:extLst>
          </p:cNvPr>
          <p:cNvSpPr>
            <a:spLocks noGrp="1"/>
          </p:cNvSpPr>
          <p:nvPr/>
        </p:nvSpPr>
        <p:spPr>
          <a:xfrm>
            <a:off x="1276350" y="3248025"/>
            <a:ext cx="20955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85C41FA6-A0E7-45AD-88B4-09D70F933400}"/>
              </a:ext>
            </a:extLst>
          </p:cNvPr>
          <p:cNvSpPr>
            <a:spLocks noGrp="1"/>
          </p:cNvSpPr>
          <p:nvPr/>
        </p:nvSpPr>
        <p:spPr>
          <a:xfrm>
            <a:off x="1276350" y="3562350"/>
            <a:ext cx="20955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14901DD0-E307-4711-8286-7A2D24798D63}"/>
              </a:ext>
            </a:extLst>
          </p:cNvPr>
          <p:cNvSpPr>
            <a:spLocks noGrp="1"/>
          </p:cNvSpPr>
          <p:nvPr/>
        </p:nvSpPr>
        <p:spPr>
          <a:xfrm>
            <a:off x="1352550" y="3324225"/>
            <a:ext cx="1943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0" i="0">
                <a:solidFill>
                  <a:srgbClr val="0F172A"/>
                </a:solidFill>
              </a:defRPr>
            </a:pPr>
            <a:r>
              <a:t>目标域 adapter calibration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9A913974-CEB2-40BF-8511-1946289520ED}"/>
              </a:ext>
            </a:extLst>
          </p:cNvPr>
          <p:cNvSpPr>
            <a:spLocks noGrp="1"/>
          </p:cNvSpPr>
          <p:nvPr/>
        </p:nvSpPr>
        <p:spPr>
          <a:xfrm>
            <a:off x="3371850" y="3248025"/>
            <a:ext cx="3352800" cy="323850"/>
          </a:xfrm>
          <a:prstGeom prst="rect">
            <a:avLst/>
          </a:prstGeom>
          <a:solidFill>
            <a:srgbClr val="F1F5F9"/>
          </a:solidFill>
          <a:ln>
            <a:noFill/>
            <a:prstDash val="solid"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CF94F162-B3A2-4575-9C21-9694C50C4AA2}"/>
              </a:ext>
            </a:extLst>
          </p:cNvPr>
          <p:cNvSpPr>
            <a:spLocks noGrp="1"/>
          </p:cNvSpPr>
          <p:nvPr/>
        </p:nvSpPr>
        <p:spPr>
          <a:xfrm>
            <a:off x="3371850" y="3248025"/>
            <a:ext cx="33528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8ED5131A-50F7-4CE3-A014-E1F3490435F4}"/>
              </a:ext>
            </a:extLst>
          </p:cNvPr>
          <p:cNvSpPr>
            <a:spLocks noGrp="1"/>
          </p:cNvSpPr>
          <p:nvPr/>
        </p:nvSpPr>
        <p:spPr>
          <a:xfrm>
            <a:off x="3371850" y="3562350"/>
            <a:ext cx="33528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1952A29C-43B9-43A7-885C-51913A8990C0}"/>
              </a:ext>
            </a:extLst>
          </p:cNvPr>
          <p:cNvSpPr>
            <a:spLocks noGrp="1"/>
          </p:cNvSpPr>
          <p:nvPr/>
        </p:nvSpPr>
        <p:spPr>
          <a:xfrm>
            <a:off x="3448050" y="3324225"/>
            <a:ext cx="32004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0" i="0">
                <a:solidFill>
                  <a:srgbClr val="0F172A"/>
                </a:solidFill>
              </a:defRPr>
            </a:pPr>
            <a:r>
              <a:t>少量目标域金标校准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2C660C08-28F9-401A-A7D6-C19624AD379D}"/>
              </a:ext>
            </a:extLst>
          </p:cNvPr>
          <p:cNvSpPr>
            <a:spLocks noGrp="1"/>
          </p:cNvSpPr>
          <p:nvPr/>
        </p:nvSpPr>
        <p:spPr>
          <a:xfrm>
            <a:off x="685800" y="3571875"/>
            <a:ext cx="590550" cy="323850"/>
          </a:xfrm>
          <a:prstGeom prst="rect">
            <a:avLst/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DB857A1C-1941-468F-9030-52F2D91213CD}"/>
              </a:ext>
            </a:extLst>
          </p:cNvPr>
          <p:cNvSpPr>
            <a:spLocks noGrp="1"/>
          </p:cNvSpPr>
          <p:nvPr/>
        </p:nvSpPr>
        <p:spPr>
          <a:xfrm>
            <a:off x="685800" y="3571875"/>
            <a:ext cx="5905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BB8CD60F-FB63-4168-A56D-04FB55E5358E}"/>
              </a:ext>
            </a:extLst>
          </p:cNvPr>
          <p:cNvSpPr>
            <a:spLocks noGrp="1"/>
          </p:cNvSpPr>
          <p:nvPr/>
        </p:nvSpPr>
        <p:spPr>
          <a:xfrm>
            <a:off x="685800" y="3886200"/>
            <a:ext cx="5905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FF448170-CF37-4F04-B688-28ADD5BF5378}"/>
              </a:ext>
            </a:extLst>
          </p:cNvPr>
          <p:cNvSpPr>
            <a:spLocks noGrp="1"/>
          </p:cNvSpPr>
          <p:nvPr/>
        </p:nvSpPr>
        <p:spPr>
          <a:xfrm>
            <a:off x="762000" y="3648075"/>
            <a:ext cx="4381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0" i="0">
                <a:solidFill>
                  <a:srgbClr val="0F172A"/>
                </a:solidFill>
              </a:defRPr>
            </a:pPr>
            <a:r>
              <a:t>E4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5E084C5A-39C2-4392-9FE5-A2C809606DE3}"/>
              </a:ext>
            </a:extLst>
          </p:cNvPr>
          <p:cNvSpPr>
            <a:spLocks noGrp="1"/>
          </p:cNvSpPr>
          <p:nvPr/>
        </p:nvSpPr>
        <p:spPr>
          <a:xfrm>
            <a:off x="1276350" y="3571875"/>
            <a:ext cx="2095500" cy="323850"/>
          </a:xfrm>
          <a:prstGeom prst="rect">
            <a:avLst/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A4DC9229-3533-4162-B940-E873E783BC9C}"/>
              </a:ext>
            </a:extLst>
          </p:cNvPr>
          <p:cNvSpPr>
            <a:spLocks noGrp="1"/>
          </p:cNvSpPr>
          <p:nvPr/>
        </p:nvSpPr>
        <p:spPr>
          <a:xfrm>
            <a:off x="1276350" y="3571875"/>
            <a:ext cx="20955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F8B1B4BF-6481-40AA-A448-555A7A7FCC56}"/>
              </a:ext>
            </a:extLst>
          </p:cNvPr>
          <p:cNvSpPr>
            <a:spLocks noGrp="1"/>
          </p:cNvSpPr>
          <p:nvPr/>
        </p:nvSpPr>
        <p:spPr>
          <a:xfrm>
            <a:off x="1276350" y="3886200"/>
            <a:ext cx="20955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2B154321-CA73-4185-A770-D80238BED7BE}"/>
              </a:ext>
            </a:extLst>
          </p:cNvPr>
          <p:cNvSpPr>
            <a:spLocks noGrp="1"/>
          </p:cNvSpPr>
          <p:nvPr/>
        </p:nvSpPr>
        <p:spPr>
          <a:xfrm>
            <a:off x="1352550" y="3648075"/>
            <a:ext cx="1943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0" i="0">
                <a:solidFill>
                  <a:srgbClr val="0F172A"/>
                </a:solidFill>
              </a:defRPr>
            </a:pPr>
            <a:r>
              <a:t>伪标注 + adapter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E406F9A4-5295-48D3-8515-18D3FB0B7183}"/>
              </a:ext>
            </a:extLst>
          </p:cNvPr>
          <p:cNvSpPr>
            <a:spLocks noGrp="1"/>
          </p:cNvSpPr>
          <p:nvPr/>
        </p:nvSpPr>
        <p:spPr>
          <a:xfrm>
            <a:off x="3371850" y="3571875"/>
            <a:ext cx="3352800" cy="323850"/>
          </a:xfrm>
          <a:prstGeom prst="rect">
            <a:avLst/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DC548C46-9682-41A9-A649-560FED1E9813}"/>
              </a:ext>
            </a:extLst>
          </p:cNvPr>
          <p:cNvSpPr>
            <a:spLocks noGrp="1"/>
          </p:cNvSpPr>
          <p:nvPr/>
        </p:nvSpPr>
        <p:spPr>
          <a:xfrm>
            <a:off x="3371850" y="3571875"/>
            <a:ext cx="33528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5E6F1B99-1FEE-4C81-BE26-92203A02196F}"/>
              </a:ext>
            </a:extLst>
          </p:cNvPr>
          <p:cNvSpPr>
            <a:spLocks noGrp="1"/>
          </p:cNvSpPr>
          <p:nvPr/>
        </p:nvSpPr>
        <p:spPr>
          <a:xfrm>
            <a:off x="3371850" y="3886200"/>
            <a:ext cx="33528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628F0922-67EB-494E-84A6-6A0E46AFB7DF}"/>
              </a:ext>
            </a:extLst>
          </p:cNvPr>
          <p:cNvSpPr>
            <a:spLocks noGrp="1"/>
          </p:cNvSpPr>
          <p:nvPr/>
        </p:nvSpPr>
        <p:spPr>
          <a:xfrm>
            <a:off x="3448050" y="3648075"/>
            <a:ext cx="32004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0" i="0">
                <a:solidFill>
                  <a:srgbClr val="0F172A"/>
                </a:solidFill>
              </a:defRPr>
            </a:pPr>
            <a:r>
              <a:t>组合 E2 与 E3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45836BC0-3BBB-44AA-8F64-EF9A5C64DE7D}"/>
              </a:ext>
            </a:extLst>
          </p:cNvPr>
          <p:cNvSpPr>
            <a:spLocks noGrp="1"/>
          </p:cNvSpPr>
          <p:nvPr/>
        </p:nvSpPr>
        <p:spPr>
          <a:xfrm>
            <a:off x="685800" y="3895725"/>
            <a:ext cx="590550" cy="323850"/>
          </a:xfrm>
          <a:prstGeom prst="rect">
            <a:avLst/>
          </a:prstGeom>
          <a:solidFill>
            <a:srgbClr val="F1F5F9"/>
          </a:solidFill>
          <a:ln>
            <a:noFill/>
            <a:prstDash val="solid"/>
          </a:ln>
        </p:spPr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F9E0D4A1-48A8-43D3-980E-2AAB20283E3C}"/>
              </a:ext>
            </a:extLst>
          </p:cNvPr>
          <p:cNvSpPr>
            <a:spLocks noGrp="1"/>
          </p:cNvSpPr>
          <p:nvPr/>
        </p:nvSpPr>
        <p:spPr>
          <a:xfrm>
            <a:off x="685800" y="3895725"/>
            <a:ext cx="5905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40A14AE2-677D-4B9B-90AA-695273F83A80}"/>
              </a:ext>
            </a:extLst>
          </p:cNvPr>
          <p:cNvSpPr>
            <a:spLocks noGrp="1"/>
          </p:cNvSpPr>
          <p:nvPr/>
        </p:nvSpPr>
        <p:spPr>
          <a:xfrm>
            <a:off x="685800" y="4210050"/>
            <a:ext cx="5905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F03733F5-D85A-4502-B434-60DD9600A61B}"/>
              </a:ext>
            </a:extLst>
          </p:cNvPr>
          <p:cNvSpPr>
            <a:spLocks noGrp="1"/>
          </p:cNvSpPr>
          <p:nvPr/>
        </p:nvSpPr>
        <p:spPr>
          <a:xfrm>
            <a:off x="762000" y="3971925"/>
            <a:ext cx="4381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0" i="0">
                <a:solidFill>
                  <a:srgbClr val="0F172A"/>
                </a:solidFill>
              </a:defRPr>
            </a:pPr>
            <a:r>
              <a:t>E5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FD5F17C5-33E8-4618-8750-818DF77787D3}"/>
              </a:ext>
            </a:extLst>
          </p:cNvPr>
          <p:cNvSpPr>
            <a:spLocks noGrp="1"/>
          </p:cNvSpPr>
          <p:nvPr/>
        </p:nvSpPr>
        <p:spPr>
          <a:xfrm>
            <a:off x="1276350" y="3895725"/>
            <a:ext cx="2095500" cy="323850"/>
          </a:xfrm>
          <a:prstGeom prst="rect">
            <a:avLst/>
          </a:prstGeom>
          <a:solidFill>
            <a:srgbClr val="F1F5F9"/>
          </a:solidFill>
          <a:ln>
            <a:noFill/>
            <a:prstDash val="solid"/>
          </a:ln>
        </p:spPr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389481FF-E653-44CA-B2B6-E463994C9C92}"/>
              </a:ext>
            </a:extLst>
          </p:cNvPr>
          <p:cNvSpPr>
            <a:spLocks noGrp="1"/>
          </p:cNvSpPr>
          <p:nvPr/>
        </p:nvSpPr>
        <p:spPr>
          <a:xfrm>
            <a:off x="1276350" y="3895725"/>
            <a:ext cx="20955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8122E3B6-0382-4974-A813-1592E26799F1}"/>
              </a:ext>
            </a:extLst>
          </p:cNvPr>
          <p:cNvSpPr>
            <a:spLocks noGrp="1"/>
          </p:cNvSpPr>
          <p:nvPr/>
        </p:nvSpPr>
        <p:spPr>
          <a:xfrm>
            <a:off x="1276350" y="4210050"/>
            <a:ext cx="20955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C0382EB2-92BC-44D2-ADE1-AF2D0CEFFC1E}"/>
              </a:ext>
            </a:extLst>
          </p:cNvPr>
          <p:cNvSpPr>
            <a:spLocks noGrp="1"/>
          </p:cNvSpPr>
          <p:nvPr/>
        </p:nvSpPr>
        <p:spPr>
          <a:xfrm>
            <a:off x="1352550" y="3971925"/>
            <a:ext cx="1943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0" i="0">
                <a:solidFill>
                  <a:srgbClr val="0F172A"/>
                </a:solidFill>
              </a:defRPr>
            </a:pPr>
            <a:r>
              <a:t>领域特征过滤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FB55E17D-3509-42D3-ABDC-15469EA16B72}"/>
              </a:ext>
            </a:extLst>
          </p:cNvPr>
          <p:cNvSpPr>
            <a:spLocks noGrp="1"/>
          </p:cNvSpPr>
          <p:nvPr/>
        </p:nvSpPr>
        <p:spPr>
          <a:xfrm>
            <a:off x="3371850" y="3895725"/>
            <a:ext cx="3352800" cy="323850"/>
          </a:xfrm>
          <a:prstGeom prst="rect">
            <a:avLst/>
          </a:prstGeom>
          <a:solidFill>
            <a:srgbClr val="F1F5F9"/>
          </a:solidFill>
          <a:ln>
            <a:noFill/>
            <a:prstDash val="solid"/>
          </a:ln>
        </p:spPr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37E37399-D3DD-42A8-A108-5AA2CC9A5CF5}"/>
              </a:ext>
            </a:extLst>
          </p:cNvPr>
          <p:cNvSpPr>
            <a:spLocks noGrp="1"/>
          </p:cNvSpPr>
          <p:nvPr/>
        </p:nvSpPr>
        <p:spPr>
          <a:xfrm>
            <a:off x="3371850" y="3895725"/>
            <a:ext cx="33528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2FC92201-FCD1-4DBD-943B-698BC816E9B6}"/>
              </a:ext>
            </a:extLst>
          </p:cNvPr>
          <p:cNvSpPr>
            <a:spLocks noGrp="1"/>
          </p:cNvSpPr>
          <p:nvPr/>
        </p:nvSpPr>
        <p:spPr>
          <a:xfrm>
            <a:off x="3371850" y="4210050"/>
            <a:ext cx="33528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A7294E70-1A70-4699-A75E-C2F7D987D0AC}"/>
              </a:ext>
            </a:extLst>
          </p:cNvPr>
          <p:cNvSpPr>
            <a:spLocks noGrp="1"/>
          </p:cNvSpPr>
          <p:nvPr/>
        </p:nvSpPr>
        <p:spPr>
          <a:xfrm>
            <a:off x="3448050" y="3971925"/>
            <a:ext cx="32004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0" i="0">
                <a:solidFill>
                  <a:srgbClr val="0F172A"/>
                </a:solidFill>
              </a:defRPr>
            </a:pPr>
            <a:r>
              <a:t>过滤强领域特异 n-gram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2CBAF813-F84F-4F89-9303-3C992CC687A9}"/>
              </a:ext>
            </a:extLst>
          </p:cNvPr>
          <p:cNvSpPr>
            <a:spLocks noGrp="1"/>
          </p:cNvSpPr>
          <p:nvPr/>
        </p:nvSpPr>
        <p:spPr>
          <a:xfrm>
            <a:off x="685800" y="4219575"/>
            <a:ext cx="590550" cy="323850"/>
          </a:xfrm>
          <a:prstGeom prst="rect">
            <a:avLst/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D2B8373F-39CB-4732-BBA1-7F37B2CD6BD9}"/>
              </a:ext>
            </a:extLst>
          </p:cNvPr>
          <p:cNvSpPr>
            <a:spLocks noGrp="1"/>
          </p:cNvSpPr>
          <p:nvPr/>
        </p:nvSpPr>
        <p:spPr>
          <a:xfrm>
            <a:off x="685800" y="4219575"/>
            <a:ext cx="5905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934099E3-0B94-4F14-862A-A62AC4FC4D7B}"/>
              </a:ext>
            </a:extLst>
          </p:cNvPr>
          <p:cNvSpPr>
            <a:spLocks noGrp="1"/>
          </p:cNvSpPr>
          <p:nvPr/>
        </p:nvSpPr>
        <p:spPr>
          <a:xfrm>
            <a:off x="685800" y="4533900"/>
            <a:ext cx="5905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63747702-746F-4BA6-8DD8-7581D66713F4}"/>
              </a:ext>
            </a:extLst>
          </p:cNvPr>
          <p:cNvSpPr>
            <a:spLocks noGrp="1"/>
          </p:cNvSpPr>
          <p:nvPr/>
        </p:nvSpPr>
        <p:spPr>
          <a:xfrm>
            <a:off x="762000" y="4295775"/>
            <a:ext cx="4381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0" i="0">
                <a:solidFill>
                  <a:srgbClr val="0F172A"/>
                </a:solidFill>
              </a:defRPr>
            </a:pPr>
            <a:r>
              <a:t>E6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12A572E7-7C1D-4AFD-AD92-BFE2EA933E5F}"/>
              </a:ext>
            </a:extLst>
          </p:cNvPr>
          <p:cNvSpPr>
            <a:spLocks noGrp="1"/>
          </p:cNvSpPr>
          <p:nvPr/>
        </p:nvSpPr>
        <p:spPr>
          <a:xfrm>
            <a:off x="1276350" y="4219575"/>
            <a:ext cx="2095500" cy="323850"/>
          </a:xfrm>
          <a:prstGeom prst="rect">
            <a:avLst/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F490AB50-B571-4B3E-BE7B-EA0AD87FB2C9}"/>
              </a:ext>
            </a:extLst>
          </p:cNvPr>
          <p:cNvSpPr>
            <a:spLocks noGrp="1"/>
          </p:cNvSpPr>
          <p:nvPr/>
        </p:nvSpPr>
        <p:spPr>
          <a:xfrm>
            <a:off x="1276350" y="4219575"/>
            <a:ext cx="20955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39DB3280-F630-4879-B306-B1BBA454DAA2}"/>
              </a:ext>
            </a:extLst>
          </p:cNvPr>
          <p:cNvSpPr>
            <a:spLocks noGrp="1"/>
          </p:cNvSpPr>
          <p:nvPr/>
        </p:nvSpPr>
        <p:spPr>
          <a:xfrm>
            <a:off x="1276350" y="4533900"/>
            <a:ext cx="20955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D66814EE-600D-43CE-AE92-03A65C9FBF28}"/>
              </a:ext>
            </a:extLst>
          </p:cNvPr>
          <p:cNvSpPr>
            <a:spLocks noGrp="1"/>
          </p:cNvSpPr>
          <p:nvPr/>
        </p:nvSpPr>
        <p:spPr>
          <a:xfrm>
            <a:off x="1352550" y="4295775"/>
            <a:ext cx="1943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0" i="0">
                <a:solidFill>
                  <a:srgbClr val="0F172A"/>
                </a:solidFill>
              </a:defRPr>
            </a:pPr>
            <a:r>
              <a:t>char1-5 backbone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44AB3B50-2CE6-4F90-B376-E08848440683}"/>
              </a:ext>
            </a:extLst>
          </p:cNvPr>
          <p:cNvSpPr>
            <a:spLocks noGrp="1"/>
          </p:cNvSpPr>
          <p:nvPr/>
        </p:nvSpPr>
        <p:spPr>
          <a:xfrm>
            <a:off x="3371850" y="4219575"/>
            <a:ext cx="3352800" cy="323850"/>
          </a:xfrm>
          <a:prstGeom prst="rect">
            <a:avLst/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6D6FF541-4F76-4749-93D3-9A1D0937CE13}"/>
              </a:ext>
            </a:extLst>
          </p:cNvPr>
          <p:cNvSpPr>
            <a:spLocks noGrp="1"/>
          </p:cNvSpPr>
          <p:nvPr/>
        </p:nvSpPr>
        <p:spPr>
          <a:xfrm>
            <a:off x="3371850" y="4219575"/>
            <a:ext cx="33528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A1A5684A-FF7F-4D85-887E-A03156A2137E}"/>
              </a:ext>
            </a:extLst>
          </p:cNvPr>
          <p:cNvSpPr>
            <a:spLocks noGrp="1"/>
          </p:cNvSpPr>
          <p:nvPr/>
        </p:nvSpPr>
        <p:spPr>
          <a:xfrm>
            <a:off x="3371850" y="4533900"/>
            <a:ext cx="33528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D7113C01-D896-421E-845E-898838BA339A}"/>
              </a:ext>
            </a:extLst>
          </p:cNvPr>
          <p:cNvSpPr>
            <a:spLocks noGrp="1"/>
          </p:cNvSpPr>
          <p:nvPr/>
        </p:nvSpPr>
        <p:spPr>
          <a:xfrm>
            <a:off x="3448050" y="4295775"/>
            <a:ext cx="32004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0" i="0">
                <a:solidFill>
                  <a:srgbClr val="0F172A"/>
                </a:solidFill>
              </a:defRPr>
            </a:pPr>
            <a:r>
              <a:t>扩大特征空间，替代 backbone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D78A4366-199C-44A3-A548-762A0A187850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60388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F2B60A36-CED8-45FA-9C5B-21193CADB1CA}"/>
              </a:ext>
            </a:extLst>
          </p:cNvPr>
          <p:cNvSpPr>
            <a:spLocks noGrp="1"/>
          </p:cNvSpPr>
          <p:nvPr/>
        </p:nvSpPr>
        <p:spPr>
          <a:xfrm>
            <a:off x="685800" y="4543425"/>
            <a:ext cx="60388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4B4EA6FC-38AD-47C5-B07E-594F6F9F8EB6}"/>
              </a:ext>
            </a:extLst>
          </p:cNvPr>
          <p:cNvSpPr>
            <a:spLocks noGrp="1"/>
          </p:cNvSpPr>
          <p:nvPr/>
        </p:nvSpPr>
        <p:spPr>
          <a:xfrm>
            <a:off x="7239000" y="1952625"/>
            <a:ext cx="22860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 i="0">
                <a:solidFill>
                  <a:srgbClr val="2563EB"/>
                </a:solidFill>
              </a:defRPr>
            </a:pPr>
            <a:r>
              <a:t>核心逻辑伪代码</a:t>
            </a:r>
          </a:p>
        </p:txBody>
      </p:sp>
      <p:sp>
        <p:nvSpPr>
          <p:cNvPr id="99" name="圆角矩形 98">
            <a:extLst>
              <a:ext uri="{FF2B5EF4-FFF2-40B4-BE49-F238E27FC236}">
                <a16:creationId xmlns:a16="http://schemas.microsoft.com/office/drawing/2014/main" id="{971314B6-B1EA-4EDF-8065-D7330B5E73E0}"/>
              </a:ext>
            </a:extLst>
          </p:cNvPr>
          <p:cNvSpPr>
            <a:spLocks noGrp="1"/>
          </p:cNvSpPr>
          <p:nvPr/>
        </p:nvSpPr>
        <p:spPr>
          <a:xfrm>
            <a:off x="7239000" y="2324100"/>
            <a:ext cx="4000500" cy="2305050"/>
          </a:xfrm>
          <a:prstGeom prst="roundRect">
            <a:avLst>
              <a:gd name="adj" fmla="val 3306"/>
            </a:avLst>
          </a:prstGeom>
          <a:solidFill>
            <a:srgbClr val="172033"/>
          </a:solidFill>
          <a:ln>
            <a:noFill/>
            <a:prstDash val="solid"/>
          </a:ln>
        </p:spPr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5546EF6E-D321-4FA5-AC42-7B6EB782FC1B}"/>
              </a:ext>
            </a:extLst>
          </p:cNvPr>
          <p:cNvSpPr>
            <a:spLocks noGrp="1"/>
          </p:cNvSpPr>
          <p:nvPr/>
        </p:nvSpPr>
        <p:spPr>
          <a:xfrm>
            <a:off x="7448550" y="2495550"/>
            <a:ext cx="3581400" cy="1981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 i="0">
                <a:solidFill>
                  <a:srgbClr val="E5E7EB"/>
                </a:solidFill>
              </a:defRPr>
            </a:pPr>
            <a:r>
              <a:t>for method in E0..E6:</a:t>
            </a:r>
          </a:p>
          <a:p>
            <a:pPr>
              <a:defRPr sz="1125" b="0" i="0">
                <a:solidFill>
                  <a:srgbClr val="E5E7EB"/>
                </a:solidFill>
              </a:defRPr>
            </a:pPr>
            <a:r>
              <a:t>  train_data = source</a:t>
            </a:r>
          </a:p>
          <a:p>
            <a:pPr>
              <a:defRPr sz="1125" b="0" i="0">
                <a:solidFill>
                  <a:srgbClr val="E5E7EB"/>
                </a:solidFill>
              </a:defRPr>
            </a:pPr>
            <a:r>
              <a:t>  if pseudo: add high_conf(unlabeled)</a:t>
            </a:r>
          </a:p>
          <a:p>
            <a:pPr>
              <a:defRPr sz="1125" b="0" i="0">
                <a:solidFill>
                  <a:srgbClr val="E5E7EB"/>
                </a:solidFill>
              </a:defRPr>
            </a:pPr>
            <a:r>
              <a:t>  if adapter: add weighted(target_train)</a:t>
            </a:r>
          </a:p>
          <a:p>
            <a:pPr>
              <a:defRPr sz="1125" b="0" i="0">
                <a:solidFill>
                  <a:srgbClr val="E5E7EB"/>
                </a:solidFill>
              </a:defRPr>
            </a:pPr>
            <a:r>
              <a:t>  model = sparse_logreg(features)</a:t>
            </a:r>
          </a:p>
          <a:p>
            <a:pPr>
              <a:defRPr sz="1125" b="0" i="0">
                <a:solidFill>
                  <a:srgbClr val="E5E7EB"/>
                </a:solidFill>
              </a:defRPr>
            </a:pPr>
            <a:r>
              <a:t>  tau = argmax F1(target_val)</a:t>
            </a:r>
          </a:p>
          <a:p>
            <a:pPr>
              <a:defRPr sz="1125" b="0" i="0">
                <a:solidFill>
                  <a:srgbClr val="E5E7EB"/>
                </a:solidFill>
              </a:defRPr>
            </a:pPr>
            <a:r>
              <a:t>        with neg_recall &gt;= 0.85</a:t>
            </a:r>
          </a:p>
          <a:p>
            <a:pPr>
              <a:defRPr sz="1125" b="0" i="0">
                <a:solidFill>
                  <a:srgbClr val="E5E7EB"/>
                </a:solidFill>
              </a:defRPr>
            </a:pPr>
            <a:r>
              <a:t>  report source_test / target_test</a:t>
            </a:r>
          </a:p>
        </p:txBody>
      </p:sp>
      <p:sp>
        <p:nvSpPr>
          <p:cNvPr id="101" name="圆角矩形 100">
            <a:extLst>
              <a:ext uri="{FF2B5EF4-FFF2-40B4-BE49-F238E27FC236}">
                <a16:creationId xmlns:a16="http://schemas.microsoft.com/office/drawing/2014/main" id="{96671170-6A04-41DC-8632-0F912B848BDA}"/>
              </a:ext>
            </a:extLst>
          </p:cNvPr>
          <p:cNvSpPr>
            <a:spLocks noGrp="1"/>
          </p:cNvSpPr>
          <p:nvPr/>
        </p:nvSpPr>
        <p:spPr>
          <a:xfrm>
            <a:off x="7239000" y="4933950"/>
            <a:ext cx="4000500" cy="742950"/>
          </a:xfrm>
          <a:prstGeom prst="roundRect">
            <a:avLst>
              <a:gd name="adj" fmla="val 10256"/>
            </a:avLst>
          </a:prstGeom>
          <a:solidFill>
            <a:srgbClr val="ECFDF5"/>
          </a:solidFill>
          <a:ln>
            <a:noFill/>
            <a:prstDash val="solid"/>
          </a:ln>
        </p:spPr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1B859C43-001B-4F3F-97E0-152AF33A1DA3}"/>
              </a:ext>
            </a:extLst>
          </p:cNvPr>
          <p:cNvSpPr>
            <a:spLocks noGrp="1"/>
          </p:cNvSpPr>
          <p:nvPr/>
        </p:nvSpPr>
        <p:spPr>
          <a:xfrm>
            <a:off x="7467600" y="5095875"/>
            <a:ext cx="819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16A34A"/>
                </a:solidFill>
              </a:defRPr>
            </a:pPr>
            <a:r>
              <a:t>创新点</a:t>
            </a: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8120FC1E-D683-4C26-BD9E-92F81884BE72}"/>
              </a:ext>
            </a:extLst>
          </p:cNvPr>
          <p:cNvSpPr>
            <a:spLocks noGrp="1"/>
          </p:cNvSpPr>
          <p:nvPr/>
        </p:nvSpPr>
        <p:spPr>
          <a:xfrm>
            <a:off x="8324850" y="5038725"/>
            <a:ext cx="26479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0" i="0">
                <a:solidFill>
                  <a:srgbClr val="0F172A"/>
                </a:solidFill>
              </a:defRPr>
            </a:pPr>
            <a:r>
              <a:t>把数据诊断、伪标注、少量目标域校准和领域过滤放进同一消融框架，用 DeltaF1 和负面召回共同约束。</a:t>
            </a: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5F1F2FDB-8FD1-4583-AB63-94A1B960B2C2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7810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0" i="0">
                <a:solidFill>
                  <a:srgbClr val="64748B"/>
                </a:solidFill>
              </a:defRPr>
            </a:pPr>
            <a:r>
              <a:t>Source: src/experiments/final_runner.py</a:t>
            </a: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39F1950A-9C16-4334-841F-2D476C40BA65}"/>
              </a:ext>
            </a:extLst>
          </p:cNvPr>
          <p:cNvSpPr>
            <a:spLocks noGrp="1"/>
          </p:cNvSpPr>
          <p:nvPr/>
        </p:nvSpPr>
        <p:spPr>
          <a:xfrm>
            <a:off x="11163300" y="6438900"/>
            <a:ext cx="4191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 i="0">
                <a:solidFill>
                  <a:srgbClr val="64748B"/>
                </a:solidFill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79325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矩形 81">
            <a:extLst>
              <a:ext uri="{FF2B5EF4-FFF2-40B4-BE49-F238E27FC236}">
                <a16:creationId xmlns:a16="http://schemas.microsoft.com/office/drawing/2014/main" id="{8EDCBA9D-4AD1-4483-940E-499D85E350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B005897-7BA0-4561-AC48-260DAA0C27C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76200" cy="209550"/>
          </a:xfrm>
          <a:prstGeom prst="rect">
            <a:avLst/>
          </a:prstGeom>
          <a:solidFill>
            <a:srgbClr val="2563EB"/>
          </a:solidFill>
          <a:ln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97953C9-2DED-4BA6-91E2-7DEA72D277A7}"/>
              </a:ext>
            </a:extLst>
          </p:cNvPr>
          <p:cNvSpPr>
            <a:spLocks noGrp="1"/>
          </p:cNvSpPr>
          <p:nvPr/>
        </p:nvSpPr>
        <p:spPr>
          <a:xfrm>
            <a:off x="800100" y="371475"/>
            <a:ext cx="24765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2563EB"/>
                </a:solidFill>
              </a:defRPr>
            </a:pPr>
            <a:r>
              <a:t>RESULTS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C65242-CCF0-4534-B72A-EC8F197BA177}"/>
              </a:ext>
            </a:extLst>
          </p:cNvPr>
          <p:cNvSpPr>
            <a:spLocks noGrp="1"/>
          </p:cNvSpPr>
          <p:nvPr/>
        </p:nvSpPr>
        <p:spPr>
          <a:xfrm>
            <a:off x="609600" y="633413"/>
            <a:ext cx="904875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 b="1" i="0">
                <a:solidFill>
                  <a:srgbClr val="0F172A"/>
                </a:solidFill>
              </a:defRPr>
            </a:pPr>
            <a:r>
              <a:rPr lang="zh-CN" altLang="en-US" dirty="0"/>
              <a:t>实验结果：</a:t>
            </a:r>
            <a:endParaRPr lang="en-US" altLang="zh-CN" dirty="0"/>
          </a:p>
          <a:p>
            <a:pPr>
              <a:defRPr sz="2850" b="1" i="0">
                <a:solidFill>
                  <a:srgbClr val="0F172A"/>
                </a:solidFill>
              </a:defRPr>
            </a:pPr>
            <a:r>
              <a:rPr dirty="0"/>
              <a:t>E3 </a:t>
            </a:r>
            <a:r>
              <a:rPr dirty="0" err="1"/>
              <a:t>目标域</a:t>
            </a:r>
            <a:r>
              <a:rPr dirty="0"/>
              <a:t> F1 最佳，E6 </a:t>
            </a:r>
            <a:r>
              <a:rPr dirty="0" err="1"/>
              <a:t>跨域衰减最平衡</a:t>
            </a:r>
            <a:endParaRPr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E5FF8D-8C41-4A59-BAA8-A29B1B33CF64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972800" cy="19050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4A03B99D-3021-4BEB-BC18-8C8A03932887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7124700" cy="40005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6BE1507-1F00-4CE7-9CF9-D78CBD339E55}"/>
              </a:ext>
            </a:extLst>
          </p:cNvPr>
          <p:cNvSpPr>
            <a:spLocks noGrp="1"/>
          </p:cNvSpPr>
          <p:nvPr/>
        </p:nvSpPr>
        <p:spPr>
          <a:xfrm>
            <a:off x="895350" y="2019300"/>
            <a:ext cx="4000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0F172A"/>
                </a:solidFill>
              </a:defRPr>
            </a:pPr>
            <a:r>
              <a:t>Target Macro-F1 / Negative Recall / Target AUC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20FA592B-2A9C-46FB-90FD-E624DB9FC33B}"/>
              </a:ext>
            </a:extLst>
          </p:cNvPr>
          <p:cNvSpPr>
            <a:spLocks noGrp="1"/>
          </p:cNvSpPr>
          <p:nvPr/>
        </p:nvSpPr>
        <p:spPr>
          <a:xfrm>
            <a:off x="1181100" y="3731419"/>
            <a:ext cx="133350" cy="1488281"/>
          </a:xfrm>
          <a:prstGeom prst="roundRect">
            <a:avLst>
              <a:gd name="adj" fmla="val 21429"/>
            </a:avLst>
          </a:prstGeom>
          <a:solidFill>
            <a:srgbClr val="2563EB"/>
          </a:solidFill>
          <a:ln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0113845-CE40-4B29-AE01-5631C8961E43}"/>
              </a:ext>
            </a:extLst>
          </p:cNvPr>
          <p:cNvSpPr>
            <a:spLocks noGrp="1"/>
          </p:cNvSpPr>
          <p:nvPr/>
        </p:nvSpPr>
        <p:spPr>
          <a:xfrm>
            <a:off x="1114425" y="3540919"/>
            <a:ext cx="3238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750" b="1" i="0">
                <a:solidFill>
                  <a:srgbClr val="2563EB"/>
                </a:solidFill>
              </a:defRPr>
            </a:pPr>
            <a:r>
              <a:t>0.63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A06C9D3F-0115-44FA-97B0-9ED7AA9D5BA8}"/>
              </a:ext>
            </a:extLst>
          </p:cNvPr>
          <p:cNvSpPr>
            <a:spLocks noGrp="1"/>
          </p:cNvSpPr>
          <p:nvPr/>
        </p:nvSpPr>
        <p:spPr>
          <a:xfrm>
            <a:off x="1352550" y="3509963"/>
            <a:ext cx="133350" cy="1709738"/>
          </a:xfrm>
          <a:prstGeom prst="roundRect">
            <a:avLst>
              <a:gd name="adj" fmla="val 21429"/>
            </a:avLst>
          </a:prstGeom>
          <a:solidFill>
            <a:srgbClr val="16A34A"/>
          </a:solidFill>
          <a:ln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4D739BC-7751-4E55-A6B8-903EE41712AB}"/>
              </a:ext>
            </a:extLst>
          </p:cNvPr>
          <p:cNvSpPr>
            <a:spLocks noGrp="1"/>
          </p:cNvSpPr>
          <p:nvPr/>
        </p:nvSpPr>
        <p:spPr>
          <a:xfrm>
            <a:off x="1285875" y="3319463"/>
            <a:ext cx="3238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750" b="1" i="0">
                <a:solidFill>
                  <a:srgbClr val="16A34A"/>
                </a:solidFill>
              </a:defRPr>
            </a:pPr>
            <a:r>
              <a:t>0.72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83C5678C-3C49-4DC6-A562-C8D8074D59BA}"/>
              </a:ext>
            </a:extLst>
          </p:cNvPr>
          <p:cNvSpPr>
            <a:spLocks noGrp="1"/>
          </p:cNvSpPr>
          <p:nvPr/>
        </p:nvSpPr>
        <p:spPr>
          <a:xfrm>
            <a:off x="1524000" y="3588544"/>
            <a:ext cx="133350" cy="1631156"/>
          </a:xfrm>
          <a:prstGeom prst="roundRect">
            <a:avLst>
              <a:gd name="adj" fmla="val 21429"/>
            </a:avLst>
          </a:prstGeom>
          <a:solidFill>
            <a:srgbClr val="F59E0B"/>
          </a:solidFill>
          <a:ln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0C31FAC-02ED-44BF-B44C-3CD171B2E2FE}"/>
              </a:ext>
            </a:extLst>
          </p:cNvPr>
          <p:cNvSpPr>
            <a:spLocks noGrp="1"/>
          </p:cNvSpPr>
          <p:nvPr/>
        </p:nvSpPr>
        <p:spPr>
          <a:xfrm>
            <a:off x="1457325" y="3398044"/>
            <a:ext cx="3238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750" b="1" i="0">
                <a:solidFill>
                  <a:srgbClr val="F59E0B"/>
                </a:solidFill>
              </a:defRPr>
            </a:pPr>
            <a:r>
              <a:t>0.69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8293408-7B60-4443-A0F7-89E0BBEF5941}"/>
              </a:ext>
            </a:extLst>
          </p:cNvPr>
          <p:cNvSpPr>
            <a:spLocks noGrp="1"/>
          </p:cNvSpPr>
          <p:nvPr/>
        </p:nvSpPr>
        <p:spPr>
          <a:xfrm>
            <a:off x="1276350" y="5362575"/>
            <a:ext cx="3619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 i="0">
                <a:solidFill>
                  <a:srgbClr val="0F172A"/>
                </a:solidFill>
              </a:defRPr>
            </a:pPr>
            <a:r>
              <a:t>E0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BFDDD8F3-C61C-441A-B6F1-C4D4CD33C0C8}"/>
              </a:ext>
            </a:extLst>
          </p:cNvPr>
          <p:cNvSpPr>
            <a:spLocks noGrp="1"/>
          </p:cNvSpPr>
          <p:nvPr/>
        </p:nvSpPr>
        <p:spPr>
          <a:xfrm>
            <a:off x="1962150" y="3686175"/>
            <a:ext cx="133350" cy="1533525"/>
          </a:xfrm>
          <a:prstGeom prst="roundRect">
            <a:avLst>
              <a:gd name="adj" fmla="val 21429"/>
            </a:avLst>
          </a:prstGeom>
          <a:solidFill>
            <a:srgbClr val="2563EB"/>
          </a:solidFill>
          <a:ln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866B3E1-E48B-4F67-8F1A-5BE789502004}"/>
              </a:ext>
            </a:extLst>
          </p:cNvPr>
          <p:cNvSpPr>
            <a:spLocks noGrp="1"/>
          </p:cNvSpPr>
          <p:nvPr/>
        </p:nvSpPr>
        <p:spPr>
          <a:xfrm>
            <a:off x="1895475" y="3495675"/>
            <a:ext cx="3238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750" b="1" i="0">
                <a:solidFill>
                  <a:srgbClr val="2563EB"/>
                </a:solidFill>
              </a:defRPr>
            </a:pPr>
            <a:r>
              <a:t>0.64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B2B97183-F5B3-4A91-91E6-4B6E5DA7D8BF}"/>
              </a:ext>
            </a:extLst>
          </p:cNvPr>
          <p:cNvSpPr>
            <a:spLocks noGrp="1"/>
          </p:cNvSpPr>
          <p:nvPr/>
        </p:nvSpPr>
        <p:spPr>
          <a:xfrm>
            <a:off x="2133600" y="3140869"/>
            <a:ext cx="133350" cy="2078831"/>
          </a:xfrm>
          <a:prstGeom prst="roundRect">
            <a:avLst>
              <a:gd name="adj" fmla="val 21429"/>
            </a:avLst>
          </a:prstGeom>
          <a:solidFill>
            <a:srgbClr val="16A34A"/>
          </a:solidFill>
          <a:ln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9C9D5A2-34A1-4855-8965-B1AB1F3DE58F}"/>
              </a:ext>
            </a:extLst>
          </p:cNvPr>
          <p:cNvSpPr>
            <a:spLocks noGrp="1"/>
          </p:cNvSpPr>
          <p:nvPr/>
        </p:nvSpPr>
        <p:spPr>
          <a:xfrm>
            <a:off x="2066925" y="2950369"/>
            <a:ext cx="3238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750" b="1" i="0">
                <a:solidFill>
                  <a:srgbClr val="16A34A"/>
                </a:solidFill>
              </a:defRPr>
            </a:pPr>
            <a:r>
              <a:t>0.87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7ABA4C48-4EDD-4060-8401-9C716BFA0FDD}"/>
              </a:ext>
            </a:extLst>
          </p:cNvPr>
          <p:cNvSpPr>
            <a:spLocks noGrp="1"/>
          </p:cNvSpPr>
          <p:nvPr/>
        </p:nvSpPr>
        <p:spPr>
          <a:xfrm>
            <a:off x="2305050" y="3507581"/>
            <a:ext cx="133350" cy="1712119"/>
          </a:xfrm>
          <a:prstGeom prst="roundRect">
            <a:avLst>
              <a:gd name="adj" fmla="val 21429"/>
            </a:avLst>
          </a:prstGeom>
          <a:solidFill>
            <a:srgbClr val="F59E0B"/>
          </a:solidFill>
          <a:ln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27F439B-D6A9-4C9C-98DA-473F5BC123DB}"/>
              </a:ext>
            </a:extLst>
          </p:cNvPr>
          <p:cNvSpPr>
            <a:spLocks noGrp="1"/>
          </p:cNvSpPr>
          <p:nvPr/>
        </p:nvSpPr>
        <p:spPr>
          <a:xfrm>
            <a:off x="2238375" y="3317081"/>
            <a:ext cx="3238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750" b="1" i="0">
                <a:solidFill>
                  <a:srgbClr val="F59E0B"/>
                </a:solidFill>
              </a:defRPr>
            </a:pPr>
            <a:r>
              <a:t>0.72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02A1977-4094-4578-AACE-9E0EA7E895DC}"/>
              </a:ext>
            </a:extLst>
          </p:cNvPr>
          <p:cNvSpPr>
            <a:spLocks noGrp="1"/>
          </p:cNvSpPr>
          <p:nvPr/>
        </p:nvSpPr>
        <p:spPr>
          <a:xfrm>
            <a:off x="2057400" y="5362575"/>
            <a:ext cx="3619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 i="0">
                <a:solidFill>
                  <a:srgbClr val="0F172A"/>
                </a:solidFill>
              </a:defRPr>
            </a:pPr>
            <a:r>
              <a:t>E1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0BEB4CE4-297C-45B4-9DB7-1BC81A95185D}"/>
              </a:ext>
            </a:extLst>
          </p:cNvPr>
          <p:cNvSpPr>
            <a:spLocks noGrp="1"/>
          </p:cNvSpPr>
          <p:nvPr/>
        </p:nvSpPr>
        <p:spPr>
          <a:xfrm>
            <a:off x="2743200" y="3426619"/>
            <a:ext cx="133350" cy="1793081"/>
          </a:xfrm>
          <a:prstGeom prst="roundRect">
            <a:avLst>
              <a:gd name="adj" fmla="val 21429"/>
            </a:avLst>
          </a:prstGeom>
          <a:solidFill>
            <a:srgbClr val="2563EB"/>
          </a:solidFill>
          <a:ln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42FE641-2245-4FFC-A52A-27CC05DCAD7B}"/>
              </a:ext>
            </a:extLst>
          </p:cNvPr>
          <p:cNvSpPr>
            <a:spLocks noGrp="1"/>
          </p:cNvSpPr>
          <p:nvPr/>
        </p:nvSpPr>
        <p:spPr>
          <a:xfrm>
            <a:off x="2676525" y="3236119"/>
            <a:ext cx="3238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750" b="1" i="0">
                <a:solidFill>
                  <a:srgbClr val="2563EB"/>
                </a:solidFill>
              </a:defRPr>
            </a:pPr>
            <a:r>
              <a:t>0.75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30445FC8-5220-48BE-AE8B-8D09E5B58F07}"/>
              </a:ext>
            </a:extLst>
          </p:cNvPr>
          <p:cNvSpPr>
            <a:spLocks noGrp="1"/>
          </p:cNvSpPr>
          <p:nvPr/>
        </p:nvSpPr>
        <p:spPr>
          <a:xfrm>
            <a:off x="2914650" y="3126581"/>
            <a:ext cx="133350" cy="2093119"/>
          </a:xfrm>
          <a:prstGeom prst="roundRect">
            <a:avLst>
              <a:gd name="adj" fmla="val 21429"/>
            </a:avLst>
          </a:prstGeom>
          <a:solidFill>
            <a:srgbClr val="16A34A"/>
          </a:solidFill>
          <a:ln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2D22C59-3140-419D-B5AA-09B0E864710D}"/>
              </a:ext>
            </a:extLst>
          </p:cNvPr>
          <p:cNvSpPr>
            <a:spLocks noGrp="1"/>
          </p:cNvSpPr>
          <p:nvPr/>
        </p:nvSpPr>
        <p:spPr>
          <a:xfrm>
            <a:off x="2847975" y="2936081"/>
            <a:ext cx="3238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750" b="1" i="0">
                <a:solidFill>
                  <a:srgbClr val="16A34A"/>
                </a:solidFill>
              </a:defRPr>
            </a:pPr>
            <a:r>
              <a:t>0.88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BB296FCC-A130-4702-8129-567789B71353}"/>
              </a:ext>
            </a:extLst>
          </p:cNvPr>
          <p:cNvSpPr>
            <a:spLocks noGrp="1"/>
          </p:cNvSpPr>
          <p:nvPr/>
        </p:nvSpPr>
        <p:spPr>
          <a:xfrm>
            <a:off x="3086100" y="3233738"/>
            <a:ext cx="133350" cy="1985963"/>
          </a:xfrm>
          <a:prstGeom prst="roundRect">
            <a:avLst>
              <a:gd name="adj" fmla="val 21429"/>
            </a:avLst>
          </a:prstGeom>
          <a:solidFill>
            <a:srgbClr val="F59E0B"/>
          </a:solidFill>
          <a:ln>
            <a:noFill/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8BAE884-1493-4057-A5BB-614F2A0D4133}"/>
              </a:ext>
            </a:extLst>
          </p:cNvPr>
          <p:cNvSpPr>
            <a:spLocks noGrp="1"/>
          </p:cNvSpPr>
          <p:nvPr/>
        </p:nvSpPr>
        <p:spPr>
          <a:xfrm>
            <a:off x="3019425" y="3043238"/>
            <a:ext cx="3238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750" b="1" i="0">
                <a:solidFill>
                  <a:srgbClr val="F59E0B"/>
                </a:solidFill>
              </a:defRPr>
            </a:pPr>
            <a:r>
              <a:t>0.83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88CFCDB-B912-44ED-9F7E-AAFE285D14E2}"/>
              </a:ext>
            </a:extLst>
          </p:cNvPr>
          <p:cNvSpPr>
            <a:spLocks noGrp="1"/>
          </p:cNvSpPr>
          <p:nvPr/>
        </p:nvSpPr>
        <p:spPr>
          <a:xfrm>
            <a:off x="2838450" y="5362575"/>
            <a:ext cx="3619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 i="0">
                <a:solidFill>
                  <a:srgbClr val="0F172A"/>
                </a:solidFill>
              </a:defRPr>
            </a:pPr>
            <a:r>
              <a:t>E2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50E9C1AF-E2CB-4C12-9582-6A8B64019A1C}"/>
              </a:ext>
            </a:extLst>
          </p:cNvPr>
          <p:cNvSpPr>
            <a:spLocks noGrp="1"/>
          </p:cNvSpPr>
          <p:nvPr/>
        </p:nvSpPr>
        <p:spPr>
          <a:xfrm>
            <a:off x="3524250" y="3012281"/>
            <a:ext cx="133350" cy="2207419"/>
          </a:xfrm>
          <a:prstGeom prst="roundRect">
            <a:avLst>
              <a:gd name="adj" fmla="val 21429"/>
            </a:avLst>
          </a:prstGeom>
          <a:solidFill>
            <a:srgbClr val="2563EB"/>
          </a:solidFill>
          <a:ln>
            <a:noFill/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C39E86B-C30B-433A-9E61-524049B68571}"/>
              </a:ext>
            </a:extLst>
          </p:cNvPr>
          <p:cNvSpPr>
            <a:spLocks noGrp="1"/>
          </p:cNvSpPr>
          <p:nvPr/>
        </p:nvSpPr>
        <p:spPr>
          <a:xfrm>
            <a:off x="3457575" y="2821781"/>
            <a:ext cx="3238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750" b="1" i="0">
                <a:solidFill>
                  <a:srgbClr val="2563EB"/>
                </a:solidFill>
              </a:defRPr>
            </a:pPr>
            <a:r>
              <a:t>0.93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D44DBF96-686F-4769-A7FF-F21F2CFEA7B1}"/>
              </a:ext>
            </a:extLst>
          </p:cNvPr>
          <p:cNvSpPr>
            <a:spLocks noGrp="1"/>
          </p:cNvSpPr>
          <p:nvPr/>
        </p:nvSpPr>
        <p:spPr>
          <a:xfrm>
            <a:off x="3695700" y="2938463"/>
            <a:ext cx="133350" cy="2281238"/>
          </a:xfrm>
          <a:prstGeom prst="roundRect">
            <a:avLst>
              <a:gd name="adj" fmla="val 21429"/>
            </a:avLst>
          </a:prstGeom>
          <a:solidFill>
            <a:srgbClr val="16A34A"/>
          </a:solidFill>
          <a:ln>
            <a:noFill/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A98307C-A6BD-40B1-9B37-319281F440A9}"/>
              </a:ext>
            </a:extLst>
          </p:cNvPr>
          <p:cNvSpPr>
            <a:spLocks noGrp="1"/>
          </p:cNvSpPr>
          <p:nvPr/>
        </p:nvSpPr>
        <p:spPr>
          <a:xfrm>
            <a:off x="3629025" y="2747963"/>
            <a:ext cx="3238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750" b="1" i="0">
                <a:solidFill>
                  <a:srgbClr val="16A34A"/>
                </a:solidFill>
              </a:defRPr>
            </a:pPr>
            <a:r>
              <a:t>0.96</a:t>
            </a: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EA9FC271-4798-4329-A4A2-946CFF09E8C0}"/>
              </a:ext>
            </a:extLst>
          </p:cNvPr>
          <p:cNvSpPr>
            <a:spLocks noGrp="1"/>
          </p:cNvSpPr>
          <p:nvPr/>
        </p:nvSpPr>
        <p:spPr>
          <a:xfrm>
            <a:off x="3867150" y="2886075"/>
            <a:ext cx="133350" cy="2333625"/>
          </a:xfrm>
          <a:prstGeom prst="roundRect">
            <a:avLst>
              <a:gd name="adj" fmla="val 21429"/>
            </a:avLst>
          </a:prstGeom>
          <a:solidFill>
            <a:srgbClr val="F59E0B"/>
          </a:solidFill>
          <a:ln>
            <a:noFill/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EB425A4-09D7-4072-84D7-B820B0A0313D}"/>
              </a:ext>
            </a:extLst>
          </p:cNvPr>
          <p:cNvSpPr>
            <a:spLocks noGrp="1"/>
          </p:cNvSpPr>
          <p:nvPr/>
        </p:nvSpPr>
        <p:spPr>
          <a:xfrm>
            <a:off x="3800475" y="2695575"/>
            <a:ext cx="3238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750" b="1" i="0">
                <a:solidFill>
                  <a:srgbClr val="F59E0B"/>
                </a:solidFill>
              </a:defRPr>
            </a:pPr>
            <a:r>
              <a:t>0.98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2463D87-B4A1-4C2C-94AA-8B39CE5CBA41}"/>
              </a:ext>
            </a:extLst>
          </p:cNvPr>
          <p:cNvSpPr>
            <a:spLocks noGrp="1"/>
          </p:cNvSpPr>
          <p:nvPr/>
        </p:nvSpPr>
        <p:spPr>
          <a:xfrm>
            <a:off x="3619500" y="5362575"/>
            <a:ext cx="3619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 i="0">
                <a:solidFill>
                  <a:srgbClr val="0F172A"/>
                </a:solidFill>
              </a:defRPr>
            </a:pPr>
            <a:r>
              <a:t>E3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7DFC02D9-6B74-4845-8251-0E46795C7902}"/>
              </a:ext>
            </a:extLst>
          </p:cNvPr>
          <p:cNvSpPr>
            <a:spLocks noGrp="1"/>
          </p:cNvSpPr>
          <p:nvPr/>
        </p:nvSpPr>
        <p:spPr>
          <a:xfrm>
            <a:off x="4305300" y="3083719"/>
            <a:ext cx="133350" cy="2135981"/>
          </a:xfrm>
          <a:prstGeom prst="roundRect">
            <a:avLst>
              <a:gd name="adj" fmla="val 21429"/>
            </a:avLst>
          </a:prstGeom>
          <a:solidFill>
            <a:srgbClr val="2563EB"/>
          </a:solidFill>
          <a:ln>
            <a:noFill/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405E949-1F43-46E3-8A1E-C717D33CA775}"/>
              </a:ext>
            </a:extLst>
          </p:cNvPr>
          <p:cNvSpPr>
            <a:spLocks noGrp="1"/>
          </p:cNvSpPr>
          <p:nvPr/>
        </p:nvSpPr>
        <p:spPr>
          <a:xfrm>
            <a:off x="4238625" y="2893219"/>
            <a:ext cx="3238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750" b="1" i="0">
                <a:solidFill>
                  <a:srgbClr val="2563EB"/>
                </a:solidFill>
              </a:defRPr>
            </a:pPr>
            <a:r>
              <a:t>0.90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878A3B9F-8E99-48BE-B0D9-438472479E73}"/>
              </a:ext>
            </a:extLst>
          </p:cNvPr>
          <p:cNvSpPr>
            <a:spLocks noGrp="1"/>
          </p:cNvSpPr>
          <p:nvPr/>
        </p:nvSpPr>
        <p:spPr>
          <a:xfrm>
            <a:off x="4476750" y="3045619"/>
            <a:ext cx="133350" cy="2174081"/>
          </a:xfrm>
          <a:prstGeom prst="roundRect">
            <a:avLst>
              <a:gd name="adj" fmla="val 21429"/>
            </a:avLst>
          </a:prstGeom>
          <a:solidFill>
            <a:srgbClr val="16A34A"/>
          </a:solidFill>
          <a:ln>
            <a:noFill/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6E8CD7-5341-473E-A1AC-9B7844BB26A8}"/>
              </a:ext>
            </a:extLst>
          </p:cNvPr>
          <p:cNvSpPr>
            <a:spLocks noGrp="1"/>
          </p:cNvSpPr>
          <p:nvPr/>
        </p:nvSpPr>
        <p:spPr>
          <a:xfrm>
            <a:off x="4410075" y="2855119"/>
            <a:ext cx="3238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750" b="1" i="0">
                <a:solidFill>
                  <a:srgbClr val="16A34A"/>
                </a:solidFill>
              </a:defRPr>
            </a:pPr>
            <a:r>
              <a:t>0.91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C0F0684E-3C5C-4BB0-8B52-F996236AA5BF}"/>
              </a:ext>
            </a:extLst>
          </p:cNvPr>
          <p:cNvSpPr>
            <a:spLocks noGrp="1"/>
          </p:cNvSpPr>
          <p:nvPr/>
        </p:nvSpPr>
        <p:spPr>
          <a:xfrm>
            <a:off x="4648200" y="2926556"/>
            <a:ext cx="133350" cy="2293144"/>
          </a:xfrm>
          <a:prstGeom prst="roundRect">
            <a:avLst>
              <a:gd name="adj" fmla="val 21429"/>
            </a:avLst>
          </a:prstGeom>
          <a:solidFill>
            <a:srgbClr val="F59E0B"/>
          </a:solidFill>
          <a:ln>
            <a:noFill/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D7256B7-2A44-4DAC-8033-7F8B10A55D59}"/>
              </a:ext>
            </a:extLst>
          </p:cNvPr>
          <p:cNvSpPr>
            <a:spLocks noGrp="1"/>
          </p:cNvSpPr>
          <p:nvPr/>
        </p:nvSpPr>
        <p:spPr>
          <a:xfrm>
            <a:off x="4581525" y="2736056"/>
            <a:ext cx="3238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750" b="1" i="0">
                <a:solidFill>
                  <a:srgbClr val="F59E0B"/>
                </a:solidFill>
              </a:defRPr>
            </a:pPr>
            <a:r>
              <a:t>0.96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810F138-A76E-4377-A7E6-F22BA08209F1}"/>
              </a:ext>
            </a:extLst>
          </p:cNvPr>
          <p:cNvSpPr>
            <a:spLocks noGrp="1"/>
          </p:cNvSpPr>
          <p:nvPr/>
        </p:nvSpPr>
        <p:spPr>
          <a:xfrm>
            <a:off x="4400550" y="5362575"/>
            <a:ext cx="3619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 i="0">
                <a:solidFill>
                  <a:srgbClr val="0F172A"/>
                </a:solidFill>
              </a:defRPr>
            </a:pPr>
            <a:r>
              <a:t>E4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5DDA94DE-34F0-415A-A9A2-6A9BBF6528D4}"/>
              </a:ext>
            </a:extLst>
          </p:cNvPr>
          <p:cNvSpPr>
            <a:spLocks noGrp="1"/>
          </p:cNvSpPr>
          <p:nvPr/>
        </p:nvSpPr>
        <p:spPr>
          <a:xfrm>
            <a:off x="5086350" y="3598069"/>
            <a:ext cx="133350" cy="1621631"/>
          </a:xfrm>
          <a:prstGeom prst="roundRect">
            <a:avLst>
              <a:gd name="adj" fmla="val 21429"/>
            </a:avLst>
          </a:prstGeom>
          <a:solidFill>
            <a:srgbClr val="2563EB"/>
          </a:solidFill>
          <a:ln>
            <a:noFill/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6DDC271-13D1-47AA-9D77-49B8FBAF6D78}"/>
              </a:ext>
            </a:extLst>
          </p:cNvPr>
          <p:cNvSpPr>
            <a:spLocks noGrp="1"/>
          </p:cNvSpPr>
          <p:nvPr/>
        </p:nvSpPr>
        <p:spPr>
          <a:xfrm>
            <a:off x="5019675" y="3407569"/>
            <a:ext cx="3238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750" b="1" i="0">
                <a:solidFill>
                  <a:srgbClr val="2563EB"/>
                </a:solidFill>
              </a:defRPr>
            </a:pPr>
            <a:r>
              <a:t>0.68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CC340C75-D084-4300-B338-18659091E629}"/>
              </a:ext>
            </a:extLst>
          </p:cNvPr>
          <p:cNvSpPr>
            <a:spLocks noGrp="1"/>
          </p:cNvSpPr>
          <p:nvPr/>
        </p:nvSpPr>
        <p:spPr>
          <a:xfrm>
            <a:off x="5257800" y="3081338"/>
            <a:ext cx="133350" cy="2138363"/>
          </a:xfrm>
          <a:prstGeom prst="roundRect">
            <a:avLst>
              <a:gd name="adj" fmla="val 21429"/>
            </a:avLst>
          </a:prstGeom>
          <a:solidFill>
            <a:srgbClr val="16A34A"/>
          </a:solidFill>
          <a:ln>
            <a:noFill/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B975B3B-BE93-487E-A194-4E76CD8C5F82}"/>
              </a:ext>
            </a:extLst>
          </p:cNvPr>
          <p:cNvSpPr>
            <a:spLocks noGrp="1"/>
          </p:cNvSpPr>
          <p:nvPr/>
        </p:nvSpPr>
        <p:spPr>
          <a:xfrm>
            <a:off x="5191125" y="2890838"/>
            <a:ext cx="3238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750" b="1" i="0">
                <a:solidFill>
                  <a:srgbClr val="16A34A"/>
                </a:solidFill>
              </a:defRPr>
            </a:pPr>
            <a:r>
              <a:t>0.90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B5DBD80C-0012-431B-8E23-1D4116B8E307}"/>
              </a:ext>
            </a:extLst>
          </p:cNvPr>
          <p:cNvSpPr>
            <a:spLocks noGrp="1"/>
          </p:cNvSpPr>
          <p:nvPr/>
        </p:nvSpPr>
        <p:spPr>
          <a:xfrm>
            <a:off x="5429250" y="3374231"/>
            <a:ext cx="133350" cy="1845469"/>
          </a:xfrm>
          <a:prstGeom prst="roundRect">
            <a:avLst>
              <a:gd name="adj" fmla="val 21429"/>
            </a:avLst>
          </a:prstGeom>
          <a:solidFill>
            <a:srgbClr val="F59E0B"/>
          </a:solidFill>
          <a:ln>
            <a:noFill/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4B616BF-D0A4-4FC2-BDE0-89863CEC6484}"/>
              </a:ext>
            </a:extLst>
          </p:cNvPr>
          <p:cNvSpPr>
            <a:spLocks noGrp="1"/>
          </p:cNvSpPr>
          <p:nvPr/>
        </p:nvSpPr>
        <p:spPr>
          <a:xfrm>
            <a:off x="5362575" y="3183731"/>
            <a:ext cx="3238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750" b="1" i="0">
                <a:solidFill>
                  <a:srgbClr val="F59E0B"/>
                </a:solidFill>
              </a:defRPr>
            </a:pPr>
            <a:r>
              <a:t>0.78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53AC6CC-CEDF-4F81-AA04-573EF3CCAF81}"/>
              </a:ext>
            </a:extLst>
          </p:cNvPr>
          <p:cNvSpPr>
            <a:spLocks noGrp="1"/>
          </p:cNvSpPr>
          <p:nvPr/>
        </p:nvSpPr>
        <p:spPr>
          <a:xfrm>
            <a:off x="5181600" y="5362575"/>
            <a:ext cx="3619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 i="0">
                <a:solidFill>
                  <a:srgbClr val="0F172A"/>
                </a:solidFill>
              </a:defRPr>
            </a:pPr>
            <a:r>
              <a:t>E5</a:t>
            </a:r>
          </a:p>
        </p:txBody>
      </p:sp>
      <p:sp>
        <p:nvSpPr>
          <p:cNvPr id="50" name="圆角矩形 49">
            <a:extLst>
              <a:ext uri="{FF2B5EF4-FFF2-40B4-BE49-F238E27FC236}">
                <a16:creationId xmlns:a16="http://schemas.microsoft.com/office/drawing/2014/main" id="{E4B5434B-DBB4-4FEA-8472-DEA9E634241F}"/>
              </a:ext>
            </a:extLst>
          </p:cNvPr>
          <p:cNvSpPr>
            <a:spLocks noGrp="1"/>
          </p:cNvSpPr>
          <p:nvPr/>
        </p:nvSpPr>
        <p:spPr>
          <a:xfrm>
            <a:off x="5867400" y="3100388"/>
            <a:ext cx="133350" cy="2119313"/>
          </a:xfrm>
          <a:prstGeom prst="roundRect">
            <a:avLst>
              <a:gd name="adj" fmla="val 21429"/>
            </a:avLst>
          </a:prstGeom>
          <a:solidFill>
            <a:srgbClr val="2563EB"/>
          </a:solidFill>
          <a:ln>
            <a:noFill/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9558B0FE-C46C-46DC-B50F-5BFF0128AAC4}"/>
              </a:ext>
            </a:extLst>
          </p:cNvPr>
          <p:cNvSpPr>
            <a:spLocks noGrp="1"/>
          </p:cNvSpPr>
          <p:nvPr/>
        </p:nvSpPr>
        <p:spPr>
          <a:xfrm>
            <a:off x="5800725" y="2909888"/>
            <a:ext cx="3238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750" b="1" i="0">
                <a:solidFill>
                  <a:srgbClr val="2563EB"/>
                </a:solidFill>
              </a:defRPr>
            </a:pPr>
            <a:r>
              <a:t>0.89</a:t>
            </a:r>
          </a:p>
        </p:txBody>
      </p:sp>
      <p:sp>
        <p:nvSpPr>
          <p:cNvPr id="52" name="圆角矩形 51">
            <a:extLst>
              <a:ext uri="{FF2B5EF4-FFF2-40B4-BE49-F238E27FC236}">
                <a16:creationId xmlns:a16="http://schemas.microsoft.com/office/drawing/2014/main" id="{CD98BE01-2CC8-4D05-80B2-717AD2652BDE}"/>
              </a:ext>
            </a:extLst>
          </p:cNvPr>
          <p:cNvSpPr>
            <a:spLocks noGrp="1"/>
          </p:cNvSpPr>
          <p:nvPr/>
        </p:nvSpPr>
        <p:spPr>
          <a:xfrm>
            <a:off x="6038850" y="2993231"/>
            <a:ext cx="133350" cy="2226469"/>
          </a:xfrm>
          <a:prstGeom prst="roundRect">
            <a:avLst>
              <a:gd name="adj" fmla="val 21429"/>
            </a:avLst>
          </a:prstGeom>
          <a:solidFill>
            <a:srgbClr val="16A34A"/>
          </a:solidFill>
          <a:ln>
            <a:noFill/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E0ECDD84-CF7C-4ED1-BEB1-FD147EEB6F39}"/>
              </a:ext>
            </a:extLst>
          </p:cNvPr>
          <p:cNvSpPr>
            <a:spLocks noGrp="1"/>
          </p:cNvSpPr>
          <p:nvPr/>
        </p:nvSpPr>
        <p:spPr>
          <a:xfrm>
            <a:off x="5972175" y="2802731"/>
            <a:ext cx="3238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750" b="1" i="0">
                <a:solidFill>
                  <a:srgbClr val="16A34A"/>
                </a:solidFill>
              </a:defRPr>
            </a:pPr>
            <a:r>
              <a:t>0.94</a:t>
            </a:r>
          </a:p>
        </p:txBody>
      </p:sp>
      <p:sp>
        <p:nvSpPr>
          <p:cNvPr id="54" name="圆角矩形 53">
            <a:extLst>
              <a:ext uri="{FF2B5EF4-FFF2-40B4-BE49-F238E27FC236}">
                <a16:creationId xmlns:a16="http://schemas.microsoft.com/office/drawing/2014/main" id="{87273E24-76A2-4BC8-B37F-876726F1BF4E}"/>
              </a:ext>
            </a:extLst>
          </p:cNvPr>
          <p:cNvSpPr>
            <a:spLocks noGrp="1"/>
          </p:cNvSpPr>
          <p:nvPr/>
        </p:nvSpPr>
        <p:spPr>
          <a:xfrm>
            <a:off x="6210300" y="2928938"/>
            <a:ext cx="133350" cy="2290763"/>
          </a:xfrm>
          <a:prstGeom prst="roundRect">
            <a:avLst>
              <a:gd name="adj" fmla="val 21429"/>
            </a:avLst>
          </a:prstGeom>
          <a:solidFill>
            <a:srgbClr val="F59E0B"/>
          </a:solidFill>
          <a:ln>
            <a:noFill/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7B449A6A-2834-466C-90DF-354263C08AB4}"/>
              </a:ext>
            </a:extLst>
          </p:cNvPr>
          <p:cNvSpPr>
            <a:spLocks noGrp="1"/>
          </p:cNvSpPr>
          <p:nvPr/>
        </p:nvSpPr>
        <p:spPr>
          <a:xfrm>
            <a:off x="6143625" y="2738438"/>
            <a:ext cx="3238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750" b="1" i="0">
                <a:solidFill>
                  <a:srgbClr val="F59E0B"/>
                </a:solidFill>
              </a:defRPr>
            </a:pPr>
            <a:r>
              <a:t>0.96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4FFA117B-8B3D-4CE3-83D4-889F1DE99F19}"/>
              </a:ext>
            </a:extLst>
          </p:cNvPr>
          <p:cNvSpPr>
            <a:spLocks noGrp="1"/>
          </p:cNvSpPr>
          <p:nvPr/>
        </p:nvSpPr>
        <p:spPr>
          <a:xfrm>
            <a:off x="5962650" y="5362575"/>
            <a:ext cx="3619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 i="0">
                <a:solidFill>
                  <a:srgbClr val="0F172A"/>
                </a:solidFill>
              </a:defRPr>
            </a:pPr>
            <a:r>
              <a:t>E6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DC970F0B-0382-43C6-83B4-51F3C68F748B}"/>
              </a:ext>
            </a:extLst>
          </p:cNvPr>
          <p:cNvSpPr>
            <a:spLocks noGrp="1"/>
          </p:cNvSpPr>
          <p:nvPr/>
        </p:nvSpPr>
        <p:spPr>
          <a:xfrm>
            <a:off x="1066800" y="5219700"/>
            <a:ext cx="6324600" cy="19050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58" name="圆角矩形 57">
            <a:extLst>
              <a:ext uri="{FF2B5EF4-FFF2-40B4-BE49-F238E27FC236}">
                <a16:creationId xmlns:a16="http://schemas.microsoft.com/office/drawing/2014/main" id="{57B036CB-133B-459A-92EB-C90BEBD9B1A0}"/>
              </a:ext>
            </a:extLst>
          </p:cNvPr>
          <p:cNvSpPr>
            <a:spLocks noGrp="1"/>
          </p:cNvSpPr>
          <p:nvPr/>
        </p:nvSpPr>
        <p:spPr>
          <a:xfrm>
            <a:off x="5105400" y="20574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  <a:prstDash val="solid"/>
          </a:ln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C327DA44-9BB5-4239-9F62-BAB094D6279F}"/>
              </a:ext>
            </a:extLst>
          </p:cNvPr>
          <p:cNvSpPr>
            <a:spLocks noGrp="1"/>
          </p:cNvSpPr>
          <p:nvPr/>
        </p:nvSpPr>
        <p:spPr>
          <a:xfrm>
            <a:off x="5276850" y="2000250"/>
            <a:ext cx="7810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0" i="0">
                <a:solidFill>
                  <a:srgbClr val="0F172A"/>
                </a:solidFill>
              </a:defRPr>
            </a:pPr>
            <a:r>
              <a:t>Target F1</a:t>
            </a:r>
          </a:p>
        </p:txBody>
      </p:sp>
      <p:sp>
        <p:nvSpPr>
          <p:cNvPr id="60" name="圆角矩形 59">
            <a:extLst>
              <a:ext uri="{FF2B5EF4-FFF2-40B4-BE49-F238E27FC236}">
                <a16:creationId xmlns:a16="http://schemas.microsoft.com/office/drawing/2014/main" id="{AA68B0B9-F26A-48BC-8E5C-69945B8F7FA6}"/>
              </a:ext>
            </a:extLst>
          </p:cNvPr>
          <p:cNvSpPr>
            <a:spLocks noGrp="1"/>
          </p:cNvSpPr>
          <p:nvPr/>
        </p:nvSpPr>
        <p:spPr>
          <a:xfrm>
            <a:off x="6057900" y="20574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>
            <a:noFill/>
            <a:prstDash val="solid"/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3ACF798D-2D39-49C3-B8BB-15E95941EA95}"/>
              </a:ext>
            </a:extLst>
          </p:cNvPr>
          <p:cNvSpPr>
            <a:spLocks noGrp="1"/>
          </p:cNvSpPr>
          <p:nvPr/>
        </p:nvSpPr>
        <p:spPr>
          <a:xfrm>
            <a:off x="6229350" y="2000250"/>
            <a:ext cx="8953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0" i="0">
                <a:solidFill>
                  <a:srgbClr val="0F172A"/>
                </a:solidFill>
              </a:defRPr>
            </a:pPr>
            <a:r>
              <a:t>Neg Recall</a:t>
            </a:r>
          </a:p>
        </p:txBody>
      </p:sp>
      <p:sp>
        <p:nvSpPr>
          <p:cNvPr id="62" name="圆角矩形 61">
            <a:extLst>
              <a:ext uri="{FF2B5EF4-FFF2-40B4-BE49-F238E27FC236}">
                <a16:creationId xmlns:a16="http://schemas.microsoft.com/office/drawing/2014/main" id="{3660FFEF-B059-4728-BFA2-7372CB3664E4}"/>
              </a:ext>
            </a:extLst>
          </p:cNvPr>
          <p:cNvSpPr>
            <a:spLocks noGrp="1"/>
          </p:cNvSpPr>
          <p:nvPr/>
        </p:nvSpPr>
        <p:spPr>
          <a:xfrm>
            <a:off x="7200900" y="20574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>
            <a:noFill/>
            <a:prstDash val="solid"/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D501534F-D9C4-41D9-A362-57C2FDF6CCF0}"/>
              </a:ext>
            </a:extLst>
          </p:cNvPr>
          <p:cNvSpPr>
            <a:spLocks noGrp="1"/>
          </p:cNvSpPr>
          <p:nvPr/>
        </p:nvSpPr>
        <p:spPr>
          <a:xfrm>
            <a:off x="7372350" y="2000250"/>
            <a:ext cx="4381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0" i="0">
                <a:solidFill>
                  <a:srgbClr val="0F172A"/>
                </a:solidFill>
              </a:defRPr>
            </a:pPr>
            <a:r>
              <a:t>AUC</a:t>
            </a:r>
          </a:p>
        </p:txBody>
      </p:sp>
      <p:sp>
        <p:nvSpPr>
          <p:cNvPr id="64" name="圆角矩形 63">
            <a:extLst>
              <a:ext uri="{FF2B5EF4-FFF2-40B4-BE49-F238E27FC236}">
                <a16:creationId xmlns:a16="http://schemas.microsoft.com/office/drawing/2014/main" id="{89C51130-5C8D-4A42-8E90-8D4D028255A5}"/>
              </a:ext>
            </a:extLst>
          </p:cNvPr>
          <p:cNvSpPr>
            <a:spLocks noGrp="1"/>
          </p:cNvSpPr>
          <p:nvPr/>
        </p:nvSpPr>
        <p:spPr>
          <a:xfrm>
            <a:off x="8210550" y="1943100"/>
            <a:ext cx="27241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5ECB2A4E-DE45-4F07-8B25-63041B51ED8B}"/>
              </a:ext>
            </a:extLst>
          </p:cNvPr>
          <p:cNvSpPr>
            <a:spLocks noGrp="1"/>
          </p:cNvSpPr>
          <p:nvPr/>
        </p:nvSpPr>
        <p:spPr>
          <a:xfrm>
            <a:off x="8210550" y="1943100"/>
            <a:ext cx="47625" cy="1066800"/>
          </a:xfrm>
          <a:prstGeom prst="rect">
            <a:avLst/>
          </a:prstGeom>
          <a:solidFill>
            <a:srgbClr val="16A34A"/>
          </a:solidFill>
          <a:ln>
            <a:noFill/>
            <a:prstDash val="solid"/>
          </a:ln>
        </p:spPr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B06B15F7-0D9B-4B2B-8627-6225067A551E}"/>
              </a:ext>
            </a:extLst>
          </p:cNvPr>
          <p:cNvSpPr>
            <a:spLocks noGrp="1"/>
          </p:cNvSpPr>
          <p:nvPr/>
        </p:nvSpPr>
        <p:spPr>
          <a:xfrm>
            <a:off x="8382000" y="2095500"/>
            <a:ext cx="24574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1" i="0">
                <a:solidFill>
                  <a:srgbClr val="16A34A"/>
                </a:solidFill>
              </a:defRPr>
            </a:pPr>
            <a:r>
              <a:t>0.927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8FA1C6D5-8B68-4AC4-9827-57BAF4702928}"/>
              </a:ext>
            </a:extLst>
          </p:cNvPr>
          <p:cNvSpPr>
            <a:spLocks noGrp="1"/>
          </p:cNvSpPr>
          <p:nvPr/>
        </p:nvSpPr>
        <p:spPr>
          <a:xfrm>
            <a:off x="8382000" y="2486025"/>
            <a:ext cx="24574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0F172A"/>
                </a:solidFill>
              </a:defRPr>
            </a:pPr>
            <a:r>
              <a:t>E3 Target F1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46A99D52-7543-453F-9146-94C1886ED24B}"/>
              </a:ext>
            </a:extLst>
          </p:cNvPr>
          <p:cNvSpPr>
            <a:spLocks noGrp="1"/>
          </p:cNvSpPr>
          <p:nvPr/>
        </p:nvSpPr>
        <p:spPr>
          <a:xfrm>
            <a:off x="8382000" y="2743200"/>
            <a:ext cx="24574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0" i="0">
                <a:solidFill>
                  <a:srgbClr val="64748B"/>
                </a:solidFill>
              </a:defRPr>
            </a:pPr>
            <a:r>
              <a:t>少量目标域金标校准最有效</a:t>
            </a:r>
          </a:p>
        </p:txBody>
      </p:sp>
      <p:sp>
        <p:nvSpPr>
          <p:cNvPr id="69" name="圆角矩形 68">
            <a:extLst>
              <a:ext uri="{FF2B5EF4-FFF2-40B4-BE49-F238E27FC236}">
                <a16:creationId xmlns:a16="http://schemas.microsoft.com/office/drawing/2014/main" id="{A9914A2D-AD33-4AD0-A5A8-196DD6E5ECE2}"/>
              </a:ext>
            </a:extLst>
          </p:cNvPr>
          <p:cNvSpPr>
            <a:spLocks noGrp="1"/>
          </p:cNvSpPr>
          <p:nvPr/>
        </p:nvSpPr>
        <p:spPr>
          <a:xfrm>
            <a:off x="8210550" y="3276600"/>
            <a:ext cx="27241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69320192-DCAA-4964-9350-C40841ECD647}"/>
              </a:ext>
            </a:extLst>
          </p:cNvPr>
          <p:cNvSpPr>
            <a:spLocks noGrp="1"/>
          </p:cNvSpPr>
          <p:nvPr/>
        </p:nvSpPr>
        <p:spPr>
          <a:xfrm>
            <a:off x="8210550" y="3276600"/>
            <a:ext cx="47625" cy="1066800"/>
          </a:xfrm>
          <a:prstGeom prst="rect">
            <a:avLst/>
          </a:prstGeom>
          <a:solidFill>
            <a:srgbClr val="2563EB"/>
          </a:solidFill>
          <a:ln>
            <a:noFill/>
            <a:prstDash val="solid"/>
          </a:ln>
        </p:spPr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8B1F008A-4809-4349-B2ED-F5E479B492B4}"/>
              </a:ext>
            </a:extLst>
          </p:cNvPr>
          <p:cNvSpPr>
            <a:spLocks noGrp="1"/>
          </p:cNvSpPr>
          <p:nvPr/>
        </p:nvSpPr>
        <p:spPr>
          <a:xfrm>
            <a:off x="8382000" y="3429000"/>
            <a:ext cx="24574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1" i="0">
                <a:solidFill>
                  <a:srgbClr val="2563EB"/>
                </a:solidFill>
              </a:defRPr>
            </a:pPr>
            <a:r>
              <a:t>-0.019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42FA1F87-3279-48F8-A955-C857F9DFB941}"/>
              </a:ext>
            </a:extLst>
          </p:cNvPr>
          <p:cNvSpPr>
            <a:spLocks noGrp="1"/>
          </p:cNvSpPr>
          <p:nvPr/>
        </p:nvSpPr>
        <p:spPr>
          <a:xfrm>
            <a:off x="8382000" y="3819525"/>
            <a:ext cx="24574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0F172A"/>
                </a:solidFill>
              </a:defRPr>
            </a:pPr>
            <a:r>
              <a:t>E6 DeltaF1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47BFE78F-0D71-4B22-9E2E-D93716AB9019}"/>
              </a:ext>
            </a:extLst>
          </p:cNvPr>
          <p:cNvSpPr>
            <a:spLocks noGrp="1"/>
          </p:cNvSpPr>
          <p:nvPr/>
        </p:nvSpPr>
        <p:spPr>
          <a:xfrm>
            <a:off x="8382000" y="4076700"/>
            <a:ext cx="24574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0" i="0">
                <a:solidFill>
                  <a:srgbClr val="64748B"/>
                </a:solidFill>
              </a:defRPr>
            </a:pPr>
            <a:r>
              <a:t>源域/目标域性能最均衡</a:t>
            </a:r>
          </a:p>
        </p:txBody>
      </p:sp>
      <p:sp>
        <p:nvSpPr>
          <p:cNvPr id="74" name="圆角矩形 73">
            <a:extLst>
              <a:ext uri="{FF2B5EF4-FFF2-40B4-BE49-F238E27FC236}">
                <a16:creationId xmlns:a16="http://schemas.microsoft.com/office/drawing/2014/main" id="{0C63D9C9-4AC7-411A-A11E-D80F26B79097}"/>
              </a:ext>
            </a:extLst>
          </p:cNvPr>
          <p:cNvSpPr>
            <a:spLocks noGrp="1"/>
          </p:cNvSpPr>
          <p:nvPr/>
        </p:nvSpPr>
        <p:spPr>
          <a:xfrm>
            <a:off x="8210550" y="4610100"/>
            <a:ext cx="27241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537BBEAD-2375-45A0-91E5-D82318C32E23}"/>
              </a:ext>
            </a:extLst>
          </p:cNvPr>
          <p:cNvSpPr>
            <a:spLocks noGrp="1"/>
          </p:cNvSpPr>
          <p:nvPr/>
        </p:nvSpPr>
        <p:spPr>
          <a:xfrm>
            <a:off x="8210550" y="4610100"/>
            <a:ext cx="47625" cy="1066800"/>
          </a:xfrm>
          <a:prstGeom prst="rect">
            <a:avLst/>
          </a:prstGeom>
          <a:solidFill>
            <a:srgbClr val="DC2626"/>
          </a:solidFill>
          <a:ln>
            <a:noFill/>
            <a:prstDash val="solid"/>
          </a:ln>
        </p:spPr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3FB139CA-11F2-4004-83E3-D23DAC8A4A3B}"/>
              </a:ext>
            </a:extLst>
          </p:cNvPr>
          <p:cNvSpPr>
            <a:spLocks noGrp="1"/>
          </p:cNvSpPr>
          <p:nvPr/>
        </p:nvSpPr>
        <p:spPr>
          <a:xfrm>
            <a:off x="8382000" y="4762500"/>
            <a:ext cx="24574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1" i="0">
                <a:solidFill>
                  <a:srgbClr val="DC2626"/>
                </a:solidFill>
              </a:defRPr>
            </a:pPr>
            <a:r>
              <a:t>0.958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0506ECEC-FB01-4C5D-8245-92086374A2EF}"/>
              </a:ext>
            </a:extLst>
          </p:cNvPr>
          <p:cNvSpPr>
            <a:spLocks noGrp="1"/>
          </p:cNvSpPr>
          <p:nvPr/>
        </p:nvSpPr>
        <p:spPr>
          <a:xfrm>
            <a:off x="8382000" y="5153025"/>
            <a:ext cx="24574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0F172A"/>
                </a:solidFill>
              </a:defRPr>
            </a:pPr>
            <a:r>
              <a:t>E3 负面召回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914CEED3-1FA4-49FD-84B6-1F3E0F03C109}"/>
              </a:ext>
            </a:extLst>
          </p:cNvPr>
          <p:cNvSpPr>
            <a:spLocks noGrp="1"/>
          </p:cNvSpPr>
          <p:nvPr/>
        </p:nvSpPr>
        <p:spPr>
          <a:xfrm>
            <a:off x="8382000" y="5410200"/>
            <a:ext cx="24574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0" i="0">
                <a:solidFill>
                  <a:srgbClr val="64748B"/>
                </a:solidFill>
              </a:defRPr>
            </a:pPr>
            <a:r>
              <a:t>满足舆情场景 Recall 要求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CF420C64-FB70-4561-9F40-EC57C88957B1}"/>
              </a:ext>
            </a:extLst>
          </p:cNvPr>
          <p:cNvSpPr>
            <a:spLocks noGrp="1"/>
          </p:cNvSpPr>
          <p:nvPr/>
        </p:nvSpPr>
        <p:spPr>
          <a:xfrm>
            <a:off x="838200" y="5962650"/>
            <a:ext cx="98107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 i="0">
                <a:solidFill>
                  <a:srgbClr val="0F172A"/>
                </a:solidFill>
              </a:defRPr>
            </a:pPr>
            <a:r>
              <a:t>基线 E0 的目标 F1 只有 0.625；E3 提升到 0.927，说明目标域少量金标校准是最大收益来源。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C991C8A1-3BB9-4E9D-A4E2-A5F81A3204E8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7810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0" i="0">
                <a:solidFill>
                  <a:srgbClr val="64748B"/>
                </a:solidFill>
              </a:defRPr>
            </a:pPr>
            <a:r>
              <a:t>Source: results/final_summary.csv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3CB4E06F-7501-493D-893A-8B0446925C6A}"/>
              </a:ext>
            </a:extLst>
          </p:cNvPr>
          <p:cNvSpPr>
            <a:spLocks noGrp="1"/>
          </p:cNvSpPr>
          <p:nvPr/>
        </p:nvSpPr>
        <p:spPr>
          <a:xfrm>
            <a:off x="11163300" y="6438900"/>
            <a:ext cx="4191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 i="0">
                <a:solidFill>
                  <a:srgbClr val="64748B"/>
                </a:solidFill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20085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矩形 135">
            <a:extLst>
              <a:ext uri="{FF2B5EF4-FFF2-40B4-BE49-F238E27FC236}">
                <a16:creationId xmlns:a16="http://schemas.microsoft.com/office/drawing/2014/main" id="{0B17B9C0-3628-41A5-A1B9-B5096101086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AC624B1-F2DD-46AB-B3AC-EC2E026E045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76200" cy="209550"/>
          </a:xfrm>
          <a:prstGeom prst="rect">
            <a:avLst/>
          </a:prstGeom>
          <a:solidFill>
            <a:srgbClr val="2563EB"/>
          </a:solidFill>
          <a:ln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3C1992B-22F9-4368-B5F1-73F77E99F0AF}"/>
              </a:ext>
            </a:extLst>
          </p:cNvPr>
          <p:cNvSpPr>
            <a:spLocks noGrp="1"/>
          </p:cNvSpPr>
          <p:nvPr/>
        </p:nvSpPr>
        <p:spPr>
          <a:xfrm>
            <a:off x="800100" y="371475"/>
            <a:ext cx="24765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2563EB"/>
                </a:solidFill>
              </a:defRPr>
            </a:pPr>
            <a:r>
              <a:t>ABLATION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02B35F9-2896-41AC-80BF-E2B0E6BB31F1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189029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 b="1" i="0">
                <a:solidFill>
                  <a:srgbClr val="0F172A"/>
                </a:solidFill>
              </a:defRPr>
            </a:pPr>
            <a:r>
              <a:rPr dirty="0" err="1"/>
              <a:t>消融证明</a:t>
            </a:r>
            <a:r>
              <a:rPr dirty="0"/>
              <a:t>：</a:t>
            </a:r>
            <a:endParaRPr lang="en-US" dirty="0"/>
          </a:p>
          <a:p>
            <a:pPr>
              <a:defRPr sz="2850" b="1" i="0">
                <a:solidFill>
                  <a:srgbClr val="0F172A"/>
                </a:solidFill>
              </a:defRPr>
            </a:pPr>
            <a:r>
              <a:rPr dirty="0" err="1"/>
              <a:t>伪标注和校准有效，过度领域过滤反而损伤正例召回</a:t>
            </a:r>
            <a:endParaRPr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2D228B7-0D5F-4FE4-B323-974A91016837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972800" cy="19050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519ECF8-28E6-4D56-8E93-AAF5E9C9A5D0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1885950" cy="400050"/>
          </a:xfrm>
          <a:prstGeom prst="rect">
            <a:avLst/>
          </a:prstGeom>
          <a:solidFill>
            <a:srgbClr val="25324A"/>
          </a:solidFill>
          <a:ln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B007485-8EF3-4EE3-829F-E9D76BD0593E}"/>
              </a:ext>
            </a:extLst>
          </p:cNvPr>
          <p:cNvSpPr>
            <a:spLocks noGrp="1"/>
          </p:cNvSpPr>
          <p:nvPr/>
        </p:nvSpPr>
        <p:spPr>
          <a:xfrm>
            <a:off x="762000" y="2019300"/>
            <a:ext cx="17335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1" i="0">
                <a:solidFill>
                  <a:srgbClr val="FFFFFF"/>
                </a:solidFill>
              </a:defRPr>
            </a:pPr>
            <a:r>
              <a:t>对照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45D5119-1508-404B-9CC3-00B975CF57D2}"/>
              </a:ext>
            </a:extLst>
          </p:cNvPr>
          <p:cNvSpPr>
            <a:spLocks noGrp="1"/>
          </p:cNvSpPr>
          <p:nvPr/>
        </p:nvSpPr>
        <p:spPr>
          <a:xfrm>
            <a:off x="2571750" y="1943100"/>
            <a:ext cx="952500" cy="400050"/>
          </a:xfrm>
          <a:prstGeom prst="rect">
            <a:avLst/>
          </a:prstGeom>
          <a:solidFill>
            <a:srgbClr val="25324A"/>
          </a:solidFill>
          <a:ln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195682A-F7DE-46AF-93BA-B4B6B9D4F4CB}"/>
              </a:ext>
            </a:extLst>
          </p:cNvPr>
          <p:cNvSpPr>
            <a:spLocks noGrp="1"/>
          </p:cNvSpPr>
          <p:nvPr/>
        </p:nvSpPr>
        <p:spPr>
          <a:xfrm>
            <a:off x="2647950" y="2019300"/>
            <a:ext cx="8001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1" i="0">
                <a:solidFill>
                  <a:srgbClr val="FFFFFF"/>
                </a:solidFill>
              </a:defRPr>
            </a:pPr>
            <a:r>
              <a:t>目标 F1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62A22C9-5BC7-41E5-9FB9-9DEA41026065}"/>
              </a:ext>
            </a:extLst>
          </p:cNvPr>
          <p:cNvSpPr>
            <a:spLocks noGrp="1"/>
          </p:cNvSpPr>
          <p:nvPr/>
        </p:nvSpPr>
        <p:spPr>
          <a:xfrm>
            <a:off x="3524250" y="1943100"/>
            <a:ext cx="1047750" cy="400050"/>
          </a:xfrm>
          <a:prstGeom prst="rect">
            <a:avLst/>
          </a:prstGeom>
          <a:solidFill>
            <a:srgbClr val="25324A"/>
          </a:solidFill>
          <a:ln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8695E49-8BF3-4019-83BB-43EB7B2E8B1C}"/>
              </a:ext>
            </a:extLst>
          </p:cNvPr>
          <p:cNvSpPr>
            <a:spLocks noGrp="1"/>
          </p:cNvSpPr>
          <p:nvPr/>
        </p:nvSpPr>
        <p:spPr>
          <a:xfrm>
            <a:off x="3600450" y="2019300"/>
            <a:ext cx="895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1" i="0">
                <a:solidFill>
                  <a:srgbClr val="FFFFFF"/>
                </a:solidFill>
              </a:defRPr>
            </a:pPr>
            <a:r>
              <a:t>DeltaF1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A800F86-31EB-493A-BA38-1C7CA4E00248}"/>
              </a:ext>
            </a:extLst>
          </p:cNvPr>
          <p:cNvSpPr>
            <a:spLocks noGrp="1"/>
          </p:cNvSpPr>
          <p:nvPr/>
        </p:nvSpPr>
        <p:spPr>
          <a:xfrm>
            <a:off x="4572000" y="1943100"/>
            <a:ext cx="1066800" cy="400050"/>
          </a:xfrm>
          <a:prstGeom prst="rect">
            <a:avLst/>
          </a:prstGeom>
          <a:solidFill>
            <a:srgbClr val="25324A"/>
          </a:solidFill>
          <a:ln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706187A-EBFB-4012-84B0-5AED64266D5F}"/>
              </a:ext>
            </a:extLst>
          </p:cNvPr>
          <p:cNvSpPr>
            <a:spLocks noGrp="1"/>
          </p:cNvSpPr>
          <p:nvPr/>
        </p:nvSpPr>
        <p:spPr>
          <a:xfrm>
            <a:off x="4648200" y="2019300"/>
            <a:ext cx="914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1" i="0">
                <a:solidFill>
                  <a:srgbClr val="FFFFFF"/>
                </a:solidFill>
              </a:defRPr>
            </a:pPr>
            <a:r>
              <a:t>负面召回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7B94300-FB34-424D-B252-A5AC9B258649}"/>
              </a:ext>
            </a:extLst>
          </p:cNvPr>
          <p:cNvSpPr>
            <a:spLocks noGrp="1"/>
          </p:cNvSpPr>
          <p:nvPr/>
        </p:nvSpPr>
        <p:spPr>
          <a:xfrm>
            <a:off x="5638800" y="1943100"/>
            <a:ext cx="4400550" cy="400050"/>
          </a:xfrm>
          <a:prstGeom prst="rect">
            <a:avLst/>
          </a:prstGeom>
          <a:solidFill>
            <a:srgbClr val="25324A"/>
          </a:solidFill>
          <a:ln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5E30E79-712A-416B-8166-D8DCC22EB828}"/>
              </a:ext>
            </a:extLst>
          </p:cNvPr>
          <p:cNvSpPr>
            <a:spLocks noGrp="1"/>
          </p:cNvSpPr>
          <p:nvPr/>
        </p:nvSpPr>
        <p:spPr>
          <a:xfrm>
            <a:off x="5715000" y="2019300"/>
            <a:ext cx="42481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1" i="0">
                <a:solidFill>
                  <a:srgbClr val="FFFFFF"/>
                </a:solidFill>
              </a:defRPr>
            </a:pPr>
            <a:r>
              <a:t>解释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7794FD0-B870-4382-8968-5C0CE9EF026C}"/>
              </a:ext>
            </a:extLst>
          </p:cNvPr>
          <p:cNvSpPr>
            <a:spLocks noGrp="1"/>
          </p:cNvSpPr>
          <p:nvPr/>
        </p:nvSpPr>
        <p:spPr>
          <a:xfrm>
            <a:off x="685800" y="2343150"/>
            <a:ext cx="1885950" cy="400050"/>
          </a:xfrm>
          <a:prstGeom prst="rect">
            <a:avLst/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FB84A5D-D6D0-48A0-A119-76DA83746FBA}"/>
              </a:ext>
            </a:extLst>
          </p:cNvPr>
          <p:cNvSpPr>
            <a:spLocks noGrp="1"/>
          </p:cNvSpPr>
          <p:nvPr/>
        </p:nvSpPr>
        <p:spPr>
          <a:xfrm>
            <a:off x="685800" y="2343150"/>
            <a:ext cx="18859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99678E2-7034-494C-B2FE-ABCBCC5E380C}"/>
              </a:ext>
            </a:extLst>
          </p:cNvPr>
          <p:cNvSpPr>
            <a:spLocks noGrp="1"/>
          </p:cNvSpPr>
          <p:nvPr/>
        </p:nvSpPr>
        <p:spPr>
          <a:xfrm>
            <a:off x="685800" y="2733675"/>
            <a:ext cx="18859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B8D593C-DCDC-46CF-8D66-40493E2FD1D0}"/>
              </a:ext>
            </a:extLst>
          </p:cNvPr>
          <p:cNvSpPr>
            <a:spLocks noGrp="1"/>
          </p:cNvSpPr>
          <p:nvPr/>
        </p:nvSpPr>
        <p:spPr>
          <a:xfrm>
            <a:off x="762000" y="2419350"/>
            <a:ext cx="17335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0" i="0">
                <a:solidFill>
                  <a:srgbClr val="0F172A"/>
                </a:solidFill>
              </a:defRPr>
            </a:pPr>
            <a:r>
              <a:t>E1 source-only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B50E86B-1C13-41D1-B997-E77576FA65AB}"/>
              </a:ext>
            </a:extLst>
          </p:cNvPr>
          <p:cNvSpPr>
            <a:spLocks noGrp="1"/>
          </p:cNvSpPr>
          <p:nvPr/>
        </p:nvSpPr>
        <p:spPr>
          <a:xfrm>
            <a:off x="2571750" y="2343150"/>
            <a:ext cx="952500" cy="400050"/>
          </a:xfrm>
          <a:prstGeom prst="rect">
            <a:avLst/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CBD7454-DD76-4E06-B419-F45130A9BB9B}"/>
              </a:ext>
            </a:extLst>
          </p:cNvPr>
          <p:cNvSpPr>
            <a:spLocks noGrp="1"/>
          </p:cNvSpPr>
          <p:nvPr/>
        </p:nvSpPr>
        <p:spPr>
          <a:xfrm>
            <a:off x="2571750" y="2343150"/>
            <a:ext cx="9525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1714D43-91AA-4970-BFEC-9CD693AD8E52}"/>
              </a:ext>
            </a:extLst>
          </p:cNvPr>
          <p:cNvSpPr>
            <a:spLocks noGrp="1"/>
          </p:cNvSpPr>
          <p:nvPr/>
        </p:nvSpPr>
        <p:spPr>
          <a:xfrm>
            <a:off x="2571750" y="2733675"/>
            <a:ext cx="9525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09E522F-1EFF-4CC4-A5A3-2E90F4C0D940}"/>
              </a:ext>
            </a:extLst>
          </p:cNvPr>
          <p:cNvSpPr>
            <a:spLocks noGrp="1"/>
          </p:cNvSpPr>
          <p:nvPr/>
        </p:nvSpPr>
        <p:spPr>
          <a:xfrm>
            <a:off x="2647950" y="2419350"/>
            <a:ext cx="8001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0" i="0">
                <a:solidFill>
                  <a:srgbClr val="0F172A"/>
                </a:solidFill>
              </a:defRPr>
            </a:pPr>
            <a:r>
              <a:t>0.644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8A4BE93-78F9-45A1-AA58-B2BB2F426B1C}"/>
              </a:ext>
            </a:extLst>
          </p:cNvPr>
          <p:cNvSpPr>
            <a:spLocks noGrp="1"/>
          </p:cNvSpPr>
          <p:nvPr/>
        </p:nvSpPr>
        <p:spPr>
          <a:xfrm>
            <a:off x="3524250" y="2343150"/>
            <a:ext cx="1047750" cy="400050"/>
          </a:xfrm>
          <a:prstGeom prst="rect">
            <a:avLst/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AA2A08A-FD25-45EE-974D-7EB8DE770FD4}"/>
              </a:ext>
            </a:extLst>
          </p:cNvPr>
          <p:cNvSpPr>
            <a:spLocks noGrp="1"/>
          </p:cNvSpPr>
          <p:nvPr/>
        </p:nvSpPr>
        <p:spPr>
          <a:xfrm>
            <a:off x="3524250" y="2343150"/>
            <a:ext cx="10477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288896D-8F3E-449E-9CB2-6DA26C59B445}"/>
              </a:ext>
            </a:extLst>
          </p:cNvPr>
          <p:cNvSpPr>
            <a:spLocks noGrp="1"/>
          </p:cNvSpPr>
          <p:nvPr/>
        </p:nvSpPr>
        <p:spPr>
          <a:xfrm>
            <a:off x="3524250" y="2733675"/>
            <a:ext cx="10477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44A4BDA-EC5B-44EA-B5A8-985BACF9A0EB}"/>
              </a:ext>
            </a:extLst>
          </p:cNvPr>
          <p:cNvSpPr>
            <a:spLocks noGrp="1"/>
          </p:cNvSpPr>
          <p:nvPr/>
        </p:nvSpPr>
        <p:spPr>
          <a:xfrm>
            <a:off x="3600450" y="2419350"/>
            <a:ext cx="895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0" i="0">
                <a:solidFill>
                  <a:srgbClr val="0F172A"/>
                </a:solidFill>
              </a:defRPr>
            </a:pPr>
            <a:r>
              <a:t>0.222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23FB561-DE13-46AC-98C8-6F636FC8EE9F}"/>
              </a:ext>
            </a:extLst>
          </p:cNvPr>
          <p:cNvSpPr>
            <a:spLocks noGrp="1"/>
          </p:cNvSpPr>
          <p:nvPr/>
        </p:nvSpPr>
        <p:spPr>
          <a:xfrm>
            <a:off x="4572000" y="2343150"/>
            <a:ext cx="1066800" cy="400050"/>
          </a:xfrm>
          <a:prstGeom prst="rect">
            <a:avLst/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7FA87C8-AA6C-48C9-A481-118A2E4E5378}"/>
              </a:ext>
            </a:extLst>
          </p:cNvPr>
          <p:cNvSpPr>
            <a:spLocks noGrp="1"/>
          </p:cNvSpPr>
          <p:nvPr/>
        </p:nvSpPr>
        <p:spPr>
          <a:xfrm>
            <a:off x="4572000" y="2343150"/>
            <a:ext cx="10668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77E942A-CE87-4627-9B15-1757061A1C1D}"/>
              </a:ext>
            </a:extLst>
          </p:cNvPr>
          <p:cNvSpPr>
            <a:spLocks noGrp="1"/>
          </p:cNvSpPr>
          <p:nvPr/>
        </p:nvSpPr>
        <p:spPr>
          <a:xfrm>
            <a:off x="4572000" y="2733675"/>
            <a:ext cx="10668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F21334D-2F61-431C-A83D-1820EC161F00}"/>
              </a:ext>
            </a:extLst>
          </p:cNvPr>
          <p:cNvSpPr>
            <a:spLocks noGrp="1"/>
          </p:cNvSpPr>
          <p:nvPr/>
        </p:nvSpPr>
        <p:spPr>
          <a:xfrm>
            <a:off x="4648200" y="2419350"/>
            <a:ext cx="914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0" i="0">
                <a:solidFill>
                  <a:srgbClr val="0F172A"/>
                </a:solidFill>
              </a:defRPr>
            </a:pPr>
            <a:r>
              <a:t>0.873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25D85FD-B198-4AD5-9287-7928E80911B9}"/>
              </a:ext>
            </a:extLst>
          </p:cNvPr>
          <p:cNvSpPr>
            <a:spLocks noGrp="1"/>
          </p:cNvSpPr>
          <p:nvPr/>
        </p:nvSpPr>
        <p:spPr>
          <a:xfrm>
            <a:off x="5638800" y="2343150"/>
            <a:ext cx="4400550" cy="400050"/>
          </a:xfrm>
          <a:prstGeom prst="rect">
            <a:avLst/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FCA3A70-A330-4C1B-8F22-24570E4243CD}"/>
              </a:ext>
            </a:extLst>
          </p:cNvPr>
          <p:cNvSpPr>
            <a:spLocks noGrp="1"/>
          </p:cNvSpPr>
          <p:nvPr/>
        </p:nvSpPr>
        <p:spPr>
          <a:xfrm>
            <a:off x="5638800" y="2343150"/>
            <a:ext cx="44005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D2557C2-8CAD-423E-82BF-FC232247062F}"/>
              </a:ext>
            </a:extLst>
          </p:cNvPr>
          <p:cNvSpPr>
            <a:spLocks noGrp="1"/>
          </p:cNvSpPr>
          <p:nvPr/>
        </p:nvSpPr>
        <p:spPr>
          <a:xfrm>
            <a:off x="5638800" y="2733675"/>
            <a:ext cx="44005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C849B42-8CE4-4B73-BFBC-5B5C3774F208}"/>
              </a:ext>
            </a:extLst>
          </p:cNvPr>
          <p:cNvSpPr>
            <a:spLocks noGrp="1"/>
          </p:cNvSpPr>
          <p:nvPr/>
        </p:nvSpPr>
        <p:spPr>
          <a:xfrm>
            <a:off x="5715000" y="2419350"/>
            <a:ext cx="42481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0" i="0">
                <a:solidFill>
                  <a:srgbClr val="0F172A"/>
                </a:solidFill>
              </a:defRPr>
            </a:pPr>
            <a:r>
              <a:t>增强特征后仍有明显跨域衰减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D0F674A-4F20-42C4-9F19-79D0C6DC548A}"/>
              </a:ext>
            </a:extLst>
          </p:cNvPr>
          <p:cNvSpPr>
            <a:spLocks noGrp="1"/>
          </p:cNvSpPr>
          <p:nvPr/>
        </p:nvSpPr>
        <p:spPr>
          <a:xfrm>
            <a:off x="685800" y="2743200"/>
            <a:ext cx="1885950" cy="400050"/>
          </a:xfrm>
          <a:prstGeom prst="rect">
            <a:avLst/>
          </a:prstGeom>
          <a:solidFill>
            <a:srgbClr val="F1F5F9"/>
          </a:solidFill>
          <a:ln>
            <a:noFill/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6DA0CE2-C855-459A-B037-09D849E8C3A1}"/>
              </a:ext>
            </a:extLst>
          </p:cNvPr>
          <p:cNvSpPr>
            <a:spLocks noGrp="1"/>
          </p:cNvSpPr>
          <p:nvPr/>
        </p:nvSpPr>
        <p:spPr>
          <a:xfrm>
            <a:off x="685800" y="2743200"/>
            <a:ext cx="18859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E40072E-78AF-436A-9C1E-F04F0E718CAE}"/>
              </a:ext>
            </a:extLst>
          </p:cNvPr>
          <p:cNvSpPr>
            <a:spLocks noGrp="1"/>
          </p:cNvSpPr>
          <p:nvPr/>
        </p:nvSpPr>
        <p:spPr>
          <a:xfrm>
            <a:off x="685800" y="3133725"/>
            <a:ext cx="18859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798A8B8-27A9-44E1-B89B-086ED6B4B955}"/>
              </a:ext>
            </a:extLst>
          </p:cNvPr>
          <p:cNvSpPr>
            <a:spLocks noGrp="1"/>
          </p:cNvSpPr>
          <p:nvPr/>
        </p:nvSpPr>
        <p:spPr>
          <a:xfrm>
            <a:off x="762000" y="2819400"/>
            <a:ext cx="17335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0" i="0">
                <a:solidFill>
                  <a:srgbClr val="0F172A"/>
                </a:solidFill>
              </a:defRPr>
            </a:pPr>
            <a:r>
              <a:t>E2 + pseudo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808A556-CC1D-48A0-BC0B-C2CE4D9C9D0E}"/>
              </a:ext>
            </a:extLst>
          </p:cNvPr>
          <p:cNvSpPr>
            <a:spLocks noGrp="1"/>
          </p:cNvSpPr>
          <p:nvPr/>
        </p:nvSpPr>
        <p:spPr>
          <a:xfrm>
            <a:off x="2571750" y="2743200"/>
            <a:ext cx="952500" cy="400050"/>
          </a:xfrm>
          <a:prstGeom prst="rect">
            <a:avLst/>
          </a:prstGeom>
          <a:solidFill>
            <a:srgbClr val="F1F5F9"/>
          </a:solidFill>
          <a:ln>
            <a:noFill/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1F97E7CB-C3D8-4472-BFD9-0786A2C70BF7}"/>
              </a:ext>
            </a:extLst>
          </p:cNvPr>
          <p:cNvSpPr>
            <a:spLocks noGrp="1"/>
          </p:cNvSpPr>
          <p:nvPr/>
        </p:nvSpPr>
        <p:spPr>
          <a:xfrm>
            <a:off x="2571750" y="2743200"/>
            <a:ext cx="9525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470C365-C82F-43F1-9618-89F102194ABF}"/>
              </a:ext>
            </a:extLst>
          </p:cNvPr>
          <p:cNvSpPr>
            <a:spLocks noGrp="1"/>
          </p:cNvSpPr>
          <p:nvPr/>
        </p:nvSpPr>
        <p:spPr>
          <a:xfrm>
            <a:off x="2571750" y="3133725"/>
            <a:ext cx="9525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FC42FC2-8FA6-40A7-8E42-E558A4FC83F3}"/>
              </a:ext>
            </a:extLst>
          </p:cNvPr>
          <p:cNvSpPr>
            <a:spLocks noGrp="1"/>
          </p:cNvSpPr>
          <p:nvPr/>
        </p:nvSpPr>
        <p:spPr>
          <a:xfrm>
            <a:off x="2647950" y="2819400"/>
            <a:ext cx="8001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0" i="0">
                <a:solidFill>
                  <a:srgbClr val="0F172A"/>
                </a:solidFill>
              </a:defRPr>
            </a:pPr>
            <a:r>
              <a:t>0.753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9E1F456-BBB4-441D-8F6E-8320BA657AC6}"/>
              </a:ext>
            </a:extLst>
          </p:cNvPr>
          <p:cNvSpPr>
            <a:spLocks noGrp="1"/>
          </p:cNvSpPr>
          <p:nvPr/>
        </p:nvSpPr>
        <p:spPr>
          <a:xfrm>
            <a:off x="3524250" y="2743200"/>
            <a:ext cx="1047750" cy="400050"/>
          </a:xfrm>
          <a:prstGeom prst="rect">
            <a:avLst/>
          </a:prstGeom>
          <a:solidFill>
            <a:srgbClr val="F1F5F9"/>
          </a:solidFill>
          <a:ln>
            <a:noFill/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350A0146-A0D3-4258-9DB0-A510778217E1}"/>
              </a:ext>
            </a:extLst>
          </p:cNvPr>
          <p:cNvSpPr>
            <a:spLocks noGrp="1"/>
          </p:cNvSpPr>
          <p:nvPr/>
        </p:nvSpPr>
        <p:spPr>
          <a:xfrm>
            <a:off x="3524250" y="2743200"/>
            <a:ext cx="10477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02AB777-3D62-4DD4-B88F-F0F7AE911908}"/>
              </a:ext>
            </a:extLst>
          </p:cNvPr>
          <p:cNvSpPr>
            <a:spLocks noGrp="1"/>
          </p:cNvSpPr>
          <p:nvPr/>
        </p:nvSpPr>
        <p:spPr>
          <a:xfrm>
            <a:off x="3524250" y="3133725"/>
            <a:ext cx="10477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819DDF6-0D9C-4F4D-B558-9D1C65AF7549}"/>
              </a:ext>
            </a:extLst>
          </p:cNvPr>
          <p:cNvSpPr>
            <a:spLocks noGrp="1"/>
          </p:cNvSpPr>
          <p:nvPr/>
        </p:nvSpPr>
        <p:spPr>
          <a:xfrm>
            <a:off x="3600450" y="2819400"/>
            <a:ext cx="895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0" i="0">
                <a:solidFill>
                  <a:srgbClr val="0F172A"/>
                </a:solidFill>
              </a:defRPr>
            </a:pPr>
            <a:r>
              <a:t>0.099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5B5DA11-06BC-4505-BEB9-CA77605FB677}"/>
              </a:ext>
            </a:extLst>
          </p:cNvPr>
          <p:cNvSpPr>
            <a:spLocks noGrp="1"/>
          </p:cNvSpPr>
          <p:nvPr/>
        </p:nvSpPr>
        <p:spPr>
          <a:xfrm>
            <a:off x="4572000" y="2743200"/>
            <a:ext cx="1066800" cy="400050"/>
          </a:xfrm>
          <a:prstGeom prst="rect">
            <a:avLst/>
          </a:prstGeom>
          <a:solidFill>
            <a:srgbClr val="F1F5F9"/>
          </a:solidFill>
          <a:ln>
            <a:noFill/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0F5622A-D963-44EC-AD4D-5D8934375701}"/>
              </a:ext>
            </a:extLst>
          </p:cNvPr>
          <p:cNvSpPr>
            <a:spLocks noGrp="1"/>
          </p:cNvSpPr>
          <p:nvPr/>
        </p:nvSpPr>
        <p:spPr>
          <a:xfrm>
            <a:off x="4572000" y="2743200"/>
            <a:ext cx="10668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8E802849-7078-47A0-B9B3-3FB7EFB430C2}"/>
              </a:ext>
            </a:extLst>
          </p:cNvPr>
          <p:cNvSpPr>
            <a:spLocks noGrp="1"/>
          </p:cNvSpPr>
          <p:nvPr/>
        </p:nvSpPr>
        <p:spPr>
          <a:xfrm>
            <a:off x="4572000" y="3133725"/>
            <a:ext cx="10668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B5ACC9A-E950-4C8A-A3DE-53AEEC9E2C3B}"/>
              </a:ext>
            </a:extLst>
          </p:cNvPr>
          <p:cNvSpPr>
            <a:spLocks noGrp="1"/>
          </p:cNvSpPr>
          <p:nvPr/>
        </p:nvSpPr>
        <p:spPr>
          <a:xfrm>
            <a:off x="4648200" y="2819400"/>
            <a:ext cx="914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0" i="0">
                <a:solidFill>
                  <a:srgbClr val="0F172A"/>
                </a:solidFill>
              </a:defRPr>
            </a:pPr>
            <a:r>
              <a:t>0.879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9CF4633A-D62C-4CC3-A40D-392F191A1837}"/>
              </a:ext>
            </a:extLst>
          </p:cNvPr>
          <p:cNvSpPr>
            <a:spLocks noGrp="1"/>
          </p:cNvSpPr>
          <p:nvPr/>
        </p:nvSpPr>
        <p:spPr>
          <a:xfrm>
            <a:off x="5638800" y="2743200"/>
            <a:ext cx="4400550" cy="400050"/>
          </a:xfrm>
          <a:prstGeom prst="rect">
            <a:avLst/>
          </a:prstGeom>
          <a:solidFill>
            <a:srgbClr val="F1F5F9"/>
          </a:solidFill>
          <a:ln>
            <a:noFill/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2CC86DF-6847-4717-8A0F-1B3924B1B335}"/>
              </a:ext>
            </a:extLst>
          </p:cNvPr>
          <p:cNvSpPr>
            <a:spLocks noGrp="1"/>
          </p:cNvSpPr>
          <p:nvPr/>
        </p:nvSpPr>
        <p:spPr>
          <a:xfrm>
            <a:off x="5638800" y="2743200"/>
            <a:ext cx="44005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ADA15E03-EB9F-4127-A613-65C8C5216F26}"/>
              </a:ext>
            </a:extLst>
          </p:cNvPr>
          <p:cNvSpPr>
            <a:spLocks noGrp="1"/>
          </p:cNvSpPr>
          <p:nvPr/>
        </p:nvSpPr>
        <p:spPr>
          <a:xfrm>
            <a:off x="5638800" y="3133725"/>
            <a:ext cx="44005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EA1EAAB7-7C4B-4F1D-B195-308E40A10981}"/>
              </a:ext>
            </a:extLst>
          </p:cNvPr>
          <p:cNvSpPr>
            <a:spLocks noGrp="1"/>
          </p:cNvSpPr>
          <p:nvPr/>
        </p:nvSpPr>
        <p:spPr>
          <a:xfrm>
            <a:off x="5715000" y="2819400"/>
            <a:ext cx="42481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0" i="0">
                <a:solidFill>
                  <a:srgbClr val="0F172A"/>
                </a:solidFill>
              </a:defRPr>
            </a:pPr>
            <a:r>
              <a:t>伪标注提供目标域词面信号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5ED31E62-D113-44B4-B56E-0BE066F1D942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1885950" cy="400050"/>
          </a:xfrm>
          <a:prstGeom prst="rect">
            <a:avLst/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F36B07F9-69E6-4944-B6B7-91CD43DBEE00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18859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7019E6F4-69E8-4E36-B85E-E24BEB452AC6}"/>
              </a:ext>
            </a:extLst>
          </p:cNvPr>
          <p:cNvSpPr>
            <a:spLocks noGrp="1"/>
          </p:cNvSpPr>
          <p:nvPr/>
        </p:nvSpPr>
        <p:spPr>
          <a:xfrm>
            <a:off x="685800" y="3533775"/>
            <a:ext cx="18859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69B4AF48-2403-4A66-A2F9-BFBFA88C5721}"/>
              </a:ext>
            </a:extLst>
          </p:cNvPr>
          <p:cNvSpPr>
            <a:spLocks noGrp="1"/>
          </p:cNvSpPr>
          <p:nvPr/>
        </p:nvSpPr>
        <p:spPr>
          <a:xfrm>
            <a:off x="762000" y="3219450"/>
            <a:ext cx="17335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0" i="0">
                <a:solidFill>
                  <a:srgbClr val="0F172A"/>
                </a:solidFill>
              </a:defRPr>
            </a:pPr>
            <a:r>
              <a:t>E3 + target adapter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097C3FF8-BF92-47B5-BBA4-DE0786AB2FD6}"/>
              </a:ext>
            </a:extLst>
          </p:cNvPr>
          <p:cNvSpPr>
            <a:spLocks noGrp="1"/>
          </p:cNvSpPr>
          <p:nvPr/>
        </p:nvSpPr>
        <p:spPr>
          <a:xfrm>
            <a:off x="2571750" y="3143250"/>
            <a:ext cx="952500" cy="400050"/>
          </a:xfrm>
          <a:prstGeom prst="rect">
            <a:avLst/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79E2CADD-42A2-479E-94E2-9F43DBFAEE46}"/>
              </a:ext>
            </a:extLst>
          </p:cNvPr>
          <p:cNvSpPr>
            <a:spLocks noGrp="1"/>
          </p:cNvSpPr>
          <p:nvPr/>
        </p:nvSpPr>
        <p:spPr>
          <a:xfrm>
            <a:off x="2571750" y="3143250"/>
            <a:ext cx="9525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9ADB90D5-1ABF-4FC2-BEC8-E966C355E619}"/>
              </a:ext>
            </a:extLst>
          </p:cNvPr>
          <p:cNvSpPr>
            <a:spLocks noGrp="1"/>
          </p:cNvSpPr>
          <p:nvPr/>
        </p:nvSpPr>
        <p:spPr>
          <a:xfrm>
            <a:off x="2571750" y="3533775"/>
            <a:ext cx="9525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F7F55DA9-882C-40CC-A4BC-2DB2CA9E4511}"/>
              </a:ext>
            </a:extLst>
          </p:cNvPr>
          <p:cNvSpPr>
            <a:spLocks noGrp="1"/>
          </p:cNvSpPr>
          <p:nvPr/>
        </p:nvSpPr>
        <p:spPr>
          <a:xfrm>
            <a:off x="2647950" y="3219450"/>
            <a:ext cx="8001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0" i="0">
                <a:solidFill>
                  <a:srgbClr val="0F172A"/>
                </a:solidFill>
              </a:defRPr>
            </a:pPr>
            <a:r>
              <a:t>0.927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762AC336-42E4-4DB5-9AD5-279F597709C4}"/>
              </a:ext>
            </a:extLst>
          </p:cNvPr>
          <p:cNvSpPr>
            <a:spLocks noGrp="1"/>
          </p:cNvSpPr>
          <p:nvPr/>
        </p:nvSpPr>
        <p:spPr>
          <a:xfrm>
            <a:off x="3524250" y="3143250"/>
            <a:ext cx="1047750" cy="400050"/>
          </a:xfrm>
          <a:prstGeom prst="rect">
            <a:avLst/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9661FE9E-2ACF-4126-BB86-3AB6C0682F20}"/>
              </a:ext>
            </a:extLst>
          </p:cNvPr>
          <p:cNvSpPr>
            <a:spLocks noGrp="1"/>
          </p:cNvSpPr>
          <p:nvPr/>
        </p:nvSpPr>
        <p:spPr>
          <a:xfrm>
            <a:off x="3524250" y="3143250"/>
            <a:ext cx="10477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2E6AC341-1E7C-463E-8732-42C369F17256}"/>
              </a:ext>
            </a:extLst>
          </p:cNvPr>
          <p:cNvSpPr>
            <a:spLocks noGrp="1"/>
          </p:cNvSpPr>
          <p:nvPr/>
        </p:nvSpPr>
        <p:spPr>
          <a:xfrm>
            <a:off x="3524250" y="3533775"/>
            <a:ext cx="10477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130F7459-089C-4B19-B968-A62AABC8ED78}"/>
              </a:ext>
            </a:extLst>
          </p:cNvPr>
          <p:cNvSpPr>
            <a:spLocks noGrp="1"/>
          </p:cNvSpPr>
          <p:nvPr/>
        </p:nvSpPr>
        <p:spPr>
          <a:xfrm>
            <a:off x="3600450" y="3219450"/>
            <a:ext cx="895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0" i="0">
                <a:solidFill>
                  <a:srgbClr val="0F172A"/>
                </a:solidFill>
              </a:defRPr>
            </a:pPr>
            <a:r>
              <a:t>-0.068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03AC33C3-9DE1-4033-ABC0-DEE587240B46}"/>
              </a:ext>
            </a:extLst>
          </p:cNvPr>
          <p:cNvSpPr>
            <a:spLocks noGrp="1"/>
          </p:cNvSpPr>
          <p:nvPr/>
        </p:nvSpPr>
        <p:spPr>
          <a:xfrm>
            <a:off x="4572000" y="3143250"/>
            <a:ext cx="1066800" cy="400050"/>
          </a:xfrm>
          <a:prstGeom prst="rect">
            <a:avLst/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42AEDA09-9A99-4FDB-AA04-73B16C5A4358}"/>
              </a:ext>
            </a:extLst>
          </p:cNvPr>
          <p:cNvSpPr>
            <a:spLocks noGrp="1"/>
          </p:cNvSpPr>
          <p:nvPr/>
        </p:nvSpPr>
        <p:spPr>
          <a:xfrm>
            <a:off x="4572000" y="3143250"/>
            <a:ext cx="10668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23B15BAE-8342-47A3-8EDC-1520E5312A0C}"/>
              </a:ext>
            </a:extLst>
          </p:cNvPr>
          <p:cNvSpPr>
            <a:spLocks noGrp="1"/>
          </p:cNvSpPr>
          <p:nvPr/>
        </p:nvSpPr>
        <p:spPr>
          <a:xfrm>
            <a:off x="4572000" y="3533775"/>
            <a:ext cx="10668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75EA4CD0-8594-4564-B31A-771B1C94353C}"/>
              </a:ext>
            </a:extLst>
          </p:cNvPr>
          <p:cNvSpPr>
            <a:spLocks noGrp="1"/>
          </p:cNvSpPr>
          <p:nvPr/>
        </p:nvSpPr>
        <p:spPr>
          <a:xfrm>
            <a:off x="4648200" y="3219450"/>
            <a:ext cx="914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0" i="0">
                <a:solidFill>
                  <a:srgbClr val="0F172A"/>
                </a:solidFill>
              </a:defRPr>
            </a:pPr>
            <a:r>
              <a:t>0.958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0EF3E09F-61DF-4CBD-BAC4-C50B9B35B684}"/>
              </a:ext>
            </a:extLst>
          </p:cNvPr>
          <p:cNvSpPr>
            <a:spLocks noGrp="1"/>
          </p:cNvSpPr>
          <p:nvPr/>
        </p:nvSpPr>
        <p:spPr>
          <a:xfrm>
            <a:off x="5638800" y="3143250"/>
            <a:ext cx="4400550" cy="400050"/>
          </a:xfrm>
          <a:prstGeom prst="rect">
            <a:avLst/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1B6C59C7-FA70-44E1-8B1A-E7D145E3A76E}"/>
              </a:ext>
            </a:extLst>
          </p:cNvPr>
          <p:cNvSpPr>
            <a:spLocks noGrp="1"/>
          </p:cNvSpPr>
          <p:nvPr/>
        </p:nvSpPr>
        <p:spPr>
          <a:xfrm>
            <a:off x="5638800" y="3143250"/>
            <a:ext cx="44005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8046DCB8-7357-4696-9117-08EE832AF26C}"/>
              </a:ext>
            </a:extLst>
          </p:cNvPr>
          <p:cNvSpPr>
            <a:spLocks noGrp="1"/>
          </p:cNvSpPr>
          <p:nvPr/>
        </p:nvSpPr>
        <p:spPr>
          <a:xfrm>
            <a:off x="5638800" y="3533775"/>
            <a:ext cx="44005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09447A45-E62E-471B-AB51-539051CB3C00}"/>
              </a:ext>
            </a:extLst>
          </p:cNvPr>
          <p:cNvSpPr>
            <a:spLocks noGrp="1"/>
          </p:cNvSpPr>
          <p:nvPr/>
        </p:nvSpPr>
        <p:spPr>
          <a:xfrm>
            <a:off x="5715000" y="3219450"/>
            <a:ext cx="42481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0" i="0">
                <a:solidFill>
                  <a:srgbClr val="0F172A"/>
                </a:solidFill>
              </a:defRPr>
            </a:pPr>
            <a:r>
              <a:t>少量金标校准收益最大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1B5EF61F-CA52-4319-BADE-61F67DCA7236}"/>
              </a:ext>
            </a:extLst>
          </p:cNvPr>
          <p:cNvSpPr>
            <a:spLocks noGrp="1"/>
          </p:cNvSpPr>
          <p:nvPr/>
        </p:nvSpPr>
        <p:spPr>
          <a:xfrm>
            <a:off x="685800" y="3543300"/>
            <a:ext cx="1885950" cy="400050"/>
          </a:xfrm>
          <a:prstGeom prst="rect">
            <a:avLst/>
          </a:prstGeom>
          <a:solidFill>
            <a:srgbClr val="F1F5F9"/>
          </a:solidFill>
          <a:ln>
            <a:noFill/>
            <a:prstDash val="solid"/>
          </a:ln>
        </p:spPr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023E1D15-3301-4364-A682-B7FF16300287}"/>
              </a:ext>
            </a:extLst>
          </p:cNvPr>
          <p:cNvSpPr>
            <a:spLocks noGrp="1"/>
          </p:cNvSpPr>
          <p:nvPr/>
        </p:nvSpPr>
        <p:spPr>
          <a:xfrm>
            <a:off x="685800" y="3543300"/>
            <a:ext cx="18859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3E652632-4B83-46D0-A127-F822F4C6DB11}"/>
              </a:ext>
            </a:extLst>
          </p:cNvPr>
          <p:cNvSpPr>
            <a:spLocks noGrp="1"/>
          </p:cNvSpPr>
          <p:nvPr/>
        </p:nvSpPr>
        <p:spPr>
          <a:xfrm>
            <a:off x="685800" y="3933825"/>
            <a:ext cx="18859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17170CBC-A6C7-4B11-B944-523245107FAF}"/>
              </a:ext>
            </a:extLst>
          </p:cNvPr>
          <p:cNvSpPr>
            <a:spLocks noGrp="1"/>
          </p:cNvSpPr>
          <p:nvPr/>
        </p:nvSpPr>
        <p:spPr>
          <a:xfrm>
            <a:off x="762000" y="3619500"/>
            <a:ext cx="17335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0" i="0">
                <a:solidFill>
                  <a:srgbClr val="0F172A"/>
                </a:solidFill>
              </a:defRPr>
            </a:pPr>
            <a:r>
              <a:t>E5 feature filter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FB8CD3AE-3F01-4786-90B1-05698C331046}"/>
              </a:ext>
            </a:extLst>
          </p:cNvPr>
          <p:cNvSpPr>
            <a:spLocks noGrp="1"/>
          </p:cNvSpPr>
          <p:nvPr/>
        </p:nvSpPr>
        <p:spPr>
          <a:xfrm>
            <a:off x="2571750" y="3543300"/>
            <a:ext cx="952500" cy="400050"/>
          </a:xfrm>
          <a:prstGeom prst="rect">
            <a:avLst/>
          </a:prstGeom>
          <a:solidFill>
            <a:srgbClr val="F1F5F9"/>
          </a:solidFill>
          <a:ln>
            <a:noFill/>
            <a:prstDash val="solid"/>
          </a:ln>
        </p:spPr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E75948E8-C6B9-4BD5-9780-6B22EB3D4342}"/>
              </a:ext>
            </a:extLst>
          </p:cNvPr>
          <p:cNvSpPr>
            <a:spLocks noGrp="1"/>
          </p:cNvSpPr>
          <p:nvPr/>
        </p:nvSpPr>
        <p:spPr>
          <a:xfrm>
            <a:off x="2571750" y="3543300"/>
            <a:ext cx="9525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A9420A8A-C1AB-4FF7-B967-850302EC98CA}"/>
              </a:ext>
            </a:extLst>
          </p:cNvPr>
          <p:cNvSpPr>
            <a:spLocks noGrp="1"/>
          </p:cNvSpPr>
          <p:nvPr/>
        </p:nvSpPr>
        <p:spPr>
          <a:xfrm>
            <a:off x="2571750" y="3933825"/>
            <a:ext cx="9525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9D84460D-3676-4B12-9617-89B8256EF4E0}"/>
              </a:ext>
            </a:extLst>
          </p:cNvPr>
          <p:cNvSpPr>
            <a:spLocks noGrp="1"/>
          </p:cNvSpPr>
          <p:nvPr/>
        </p:nvSpPr>
        <p:spPr>
          <a:xfrm>
            <a:off x="2647950" y="3619500"/>
            <a:ext cx="8001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0" i="0">
                <a:solidFill>
                  <a:srgbClr val="0F172A"/>
                </a:solidFill>
              </a:defRPr>
            </a:pPr>
            <a:r>
              <a:t>0.681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AF6DC461-298B-4AFE-8F95-868B675DFE8C}"/>
              </a:ext>
            </a:extLst>
          </p:cNvPr>
          <p:cNvSpPr>
            <a:spLocks noGrp="1"/>
          </p:cNvSpPr>
          <p:nvPr/>
        </p:nvSpPr>
        <p:spPr>
          <a:xfrm>
            <a:off x="3524250" y="3543300"/>
            <a:ext cx="1047750" cy="400050"/>
          </a:xfrm>
          <a:prstGeom prst="rect">
            <a:avLst/>
          </a:prstGeom>
          <a:solidFill>
            <a:srgbClr val="F1F5F9"/>
          </a:solidFill>
          <a:ln>
            <a:noFill/>
            <a:prstDash val="solid"/>
          </a:ln>
        </p:spPr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9E1C6CA3-51E0-4D94-90A4-8BA7E79C4ACF}"/>
              </a:ext>
            </a:extLst>
          </p:cNvPr>
          <p:cNvSpPr>
            <a:spLocks noGrp="1"/>
          </p:cNvSpPr>
          <p:nvPr/>
        </p:nvSpPr>
        <p:spPr>
          <a:xfrm>
            <a:off x="3524250" y="3543300"/>
            <a:ext cx="10477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4F01564C-E6CB-4894-BF68-0BBF84E3FF4C}"/>
              </a:ext>
            </a:extLst>
          </p:cNvPr>
          <p:cNvSpPr>
            <a:spLocks noGrp="1"/>
          </p:cNvSpPr>
          <p:nvPr/>
        </p:nvSpPr>
        <p:spPr>
          <a:xfrm>
            <a:off x="3524250" y="3933825"/>
            <a:ext cx="10477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9BC92DC6-9985-49A4-97C8-9AF83F5F1E40}"/>
              </a:ext>
            </a:extLst>
          </p:cNvPr>
          <p:cNvSpPr>
            <a:spLocks noGrp="1"/>
          </p:cNvSpPr>
          <p:nvPr/>
        </p:nvSpPr>
        <p:spPr>
          <a:xfrm>
            <a:off x="3600450" y="3619500"/>
            <a:ext cx="895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0" i="0">
                <a:solidFill>
                  <a:srgbClr val="0F172A"/>
                </a:solidFill>
              </a:defRPr>
            </a:pPr>
            <a:r>
              <a:t>0.170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ABFAF206-0C55-413F-8F0A-420A8D3C7358}"/>
              </a:ext>
            </a:extLst>
          </p:cNvPr>
          <p:cNvSpPr>
            <a:spLocks noGrp="1"/>
          </p:cNvSpPr>
          <p:nvPr/>
        </p:nvSpPr>
        <p:spPr>
          <a:xfrm>
            <a:off x="4572000" y="3543300"/>
            <a:ext cx="1066800" cy="400050"/>
          </a:xfrm>
          <a:prstGeom prst="rect">
            <a:avLst/>
          </a:prstGeom>
          <a:solidFill>
            <a:srgbClr val="F1F5F9"/>
          </a:solidFill>
          <a:ln>
            <a:noFill/>
            <a:prstDash val="solid"/>
          </a:ln>
        </p:spPr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0370E4E0-E94A-4035-9FFE-91F318452755}"/>
              </a:ext>
            </a:extLst>
          </p:cNvPr>
          <p:cNvSpPr>
            <a:spLocks noGrp="1"/>
          </p:cNvSpPr>
          <p:nvPr/>
        </p:nvSpPr>
        <p:spPr>
          <a:xfrm>
            <a:off x="4572000" y="3543300"/>
            <a:ext cx="10668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EF80FE85-F99E-4850-A356-DCF89ED23FC9}"/>
              </a:ext>
            </a:extLst>
          </p:cNvPr>
          <p:cNvSpPr>
            <a:spLocks noGrp="1"/>
          </p:cNvSpPr>
          <p:nvPr/>
        </p:nvSpPr>
        <p:spPr>
          <a:xfrm>
            <a:off x="4572000" y="3933825"/>
            <a:ext cx="10668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C6751FA3-B5E1-489C-96C4-446E0F0E0303}"/>
              </a:ext>
            </a:extLst>
          </p:cNvPr>
          <p:cNvSpPr>
            <a:spLocks noGrp="1"/>
          </p:cNvSpPr>
          <p:nvPr/>
        </p:nvSpPr>
        <p:spPr>
          <a:xfrm>
            <a:off x="4648200" y="3619500"/>
            <a:ext cx="914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0" i="0">
                <a:solidFill>
                  <a:srgbClr val="0F172A"/>
                </a:solidFill>
              </a:defRPr>
            </a:pPr>
            <a:r>
              <a:t>0.898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9C68BEDF-13ED-43EA-81B5-8833F5CD6731}"/>
              </a:ext>
            </a:extLst>
          </p:cNvPr>
          <p:cNvSpPr>
            <a:spLocks noGrp="1"/>
          </p:cNvSpPr>
          <p:nvPr/>
        </p:nvSpPr>
        <p:spPr>
          <a:xfrm>
            <a:off x="5638800" y="3543300"/>
            <a:ext cx="4400550" cy="400050"/>
          </a:xfrm>
          <a:prstGeom prst="rect">
            <a:avLst/>
          </a:prstGeom>
          <a:solidFill>
            <a:srgbClr val="F1F5F9"/>
          </a:solidFill>
          <a:ln>
            <a:noFill/>
            <a:prstDash val="solid"/>
          </a:ln>
        </p:spPr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2228838B-31DB-476B-A32B-69F378D57C5E}"/>
              </a:ext>
            </a:extLst>
          </p:cNvPr>
          <p:cNvSpPr>
            <a:spLocks noGrp="1"/>
          </p:cNvSpPr>
          <p:nvPr/>
        </p:nvSpPr>
        <p:spPr>
          <a:xfrm>
            <a:off x="5638800" y="3543300"/>
            <a:ext cx="44005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16D0A49B-2739-4C6E-AEFB-CEDEBA771688}"/>
              </a:ext>
            </a:extLst>
          </p:cNvPr>
          <p:cNvSpPr>
            <a:spLocks noGrp="1"/>
          </p:cNvSpPr>
          <p:nvPr/>
        </p:nvSpPr>
        <p:spPr>
          <a:xfrm>
            <a:off x="5638800" y="3933825"/>
            <a:ext cx="44005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299B8103-D2AA-40AE-8275-F341C00A1C0F}"/>
              </a:ext>
            </a:extLst>
          </p:cNvPr>
          <p:cNvSpPr>
            <a:spLocks noGrp="1"/>
          </p:cNvSpPr>
          <p:nvPr/>
        </p:nvSpPr>
        <p:spPr>
          <a:xfrm>
            <a:off x="5715000" y="3619500"/>
            <a:ext cx="42481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0" i="0">
                <a:solidFill>
                  <a:srgbClr val="0F172A"/>
                </a:solidFill>
              </a:defRPr>
            </a:pPr>
            <a:r>
              <a:t>MMD 降低，但过滤过强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D1D08880-9A3B-4819-9F74-43AEBBBADF5C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885950" cy="400050"/>
          </a:xfrm>
          <a:prstGeom prst="rect">
            <a:avLst/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EBC846D4-05FA-4074-B0AA-942E19BABED2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8859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0C987B92-0529-4A0B-B4AF-EFBD95494D2A}"/>
              </a:ext>
            </a:extLst>
          </p:cNvPr>
          <p:cNvSpPr>
            <a:spLocks noGrp="1"/>
          </p:cNvSpPr>
          <p:nvPr/>
        </p:nvSpPr>
        <p:spPr>
          <a:xfrm>
            <a:off x="685800" y="4333875"/>
            <a:ext cx="18859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3B4DDA86-4A16-441C-A676-E3F16D0FCC36}"/>
              </a:ext>
            </a:extLst>
          </p:cNvPr>
          <p:cNvSpPr>
            <a:spLocks noGrp="1"/>
          </p:cNvSpPr>
          <p:nvPr/>
        </p:nvSpPr>
        <p:spPr>
          <a:xfrm>
            <a:off x="762000" y="4019550"/>
            <a:ext cx="17335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0" i="0">
                <a:solidFill>
                  <a:srgbClr val="0F172A"/>
                </a:solidFill>
              </a:defRPr>
            </a:pPr>
            <a:r>
              <a:t>E6 char1-5</a:t>
            </a: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D2EC81EC-A6F0-4847-BE94-C0AABDB019B9}"/>
              </a:ext>
            </a:extLst>
          </p:cNvPr>
          <p:cNvSpPr>
            <a:spLocks noGrp="1"/>
          </p:cNvSpPr>
          <p:nvPr/>
        </p:nvSpPr>
        <p:spPr>
          <a:xfrm>
            <a:off x="2571750" y="3943350"/>
            <a:ext cx="952500" cy="400050"/>
          </a:xfrm>
          <a:prstGeom prst="rect">
            <a:avLst/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7C7CB114-1567-4746-9ABC-3CFEDE39F87C}"/>
              </a:ext>
            </a:extLst>
          </p:cNvPr>
          <p:cNvSpPr>
            <a:spLocks noGrp="1"/>
          </p:cNvSpPr>
          <p:nvPr/>
        </p:nvSpPr>
        <p:spPr>
          <a:xfrm>
            <a:off x="2571750" y="3943350"/>
            <a:ext cx="9525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6CCB7D1F-3A33-49B7-A05E-A77475EF4873}"/>
              </a:ext>
            </a:extLst>
          </p:cNvPr>
          <p:cNvSpPr>
            <a:spLocks noGrp="1"/>
          </p:cNvSpPr>
          <p:nvPr/>
        </p:nvSpPr>
        <p:spPr>
          <a:xfrm>
            <a:off x="2571750" y="4333875"/>
            <a:ext cx="9525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1D020E61-08EC-40DB-95C3-1BF7D0BC8989}"/>
              </a:ext>
            </a:extLst>
          </p:cNvPr>
          <p:cNvSpPr>
            <a:spLocks noGrp="1"/>
          </p:cNvSpPr>
          <p:nvPr/>
        </p:nvSpPr>
        <p:spPr>
          <a:xfrm>
            <a:off x="2647950" y="4019550"/>
            <a:ext cx="8001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0" i="0">
                <a:solidFill>
                  <a:srgbClr val="0F172A"/>
                </a:solidFill>
              </a:defRPr>
            </a:pPr>
            <a:r>
              <a:t>0.890</a:t>
            </a: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80BF196C-882F-45F3-857C-130252A09248}"/>
              </a:ext>
            </a:extLst>
          </p:cNvPr>
          <p:cNvSpPr>
            <a:spLocks noGrp="1"/>
          </p:cNvSpPr>
          <p:nvPr/>
        </p:nvSpPr>
        <p:spPr>
          <a:xfrm>
            <a:off x="3524250" y="3943350"/>
            <a:ext cx="1047750" cy="400050"/>
          </a:xfrm>
          <a:prstGeom prst="rect">
            <a:avLst/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F12F47C8-BBD0-4034-89B5-ED216E340AF2}"/>
              </a:ext>
            </a:extLst>
          </p:cNvPr>
          <p:cNvSpPr>
            <a:spLocks noGrp="1"/>
          </p:cNvSpPr>
          <p:nvPr/>
        </p:nvSpPr>
        <p:spPr>
          <a:xfrm>
            <a:off x="3524250" y="3943350"/>
            <a:ext cx="10477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6920C951-6E07-48F3-B0CD-61B41D09E189}"/>
              </a:ext>
            </a:extLst>
          </p:cNvPr>
          <p:cNvSpPr>
            <a:spLocks noGrp="1"/>
          </p:cNvSpPr>
          <p:nvPr/>
        </p:nvSpPr>
        <p:spPr>
          <a:xfrm>
            <a:off x="3524250" y="4333875"/>
            <a:ext cx="10477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6A69EE4D-DE29-4AE7-98B7-E54B763ACE1C}"/>
              </a:ext>
            </a:extLst>
          </p:cNvPr>
          <p:cNvSpPr>
            <a:spLocks noGrp="1"/>
          </p:cNvSpPr>
          <p:nvPr/>
        </p:nvSpPr>
        <p:spPr>
          <a:xfrm>
            <a:off x="3600450" y="4019550"/>
            <a:ext cx="895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0" i="0">
                <a:solidFill>
                  <a:srgbClr val="0F172A"/>
                </a:solidFill>
              </a:defRPr>
            </a:pPr>
            <a:r>
              <a:t>-0.019</a:t>
            </a: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E4E6D09B-02C9-4EB9-B870-BD888AD05E86}"/>
              </a:ext>
            </a:extLst>
          </p:cNvPr>
          <p:cNvSpPr>
            <a:spLocks noGrp="1"/>
          </p:cNvSpPr>
          <p:nvPr/>
        </p:nvSpPr>
        <p:spPr>
          <a:xfrm>
            <a:off x="4572000" y="3943350"/>
            <a:ext cx="1066800" cy="400050"/>
          </a:xfrm>
          <a:prstGeom prst="rect">
            <a:avLst/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608A8CCE-B7A5-4DC0-A9A7-63A0E1EC0D45}"/>
              </a:ext>
            </a:extLst>
          </p:cNvPr>
          <p:cNvSpPr>
            <a:spLocks noGrp="1"/>
          </p:cNvSpPr>
          <p:nvPr/>
        </p:nvSpPr>
        <p:spPr>
          <a:xfrm>
            <a:off x="4572000" y="3943350"/>
            <a:ext cx="10668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390D5FB4-35B6-437B-94B2-F19F35203935}"/>
              </a:ext>
            </a:extLst>
          </p:cNvPr>
          <p:cNvSpPr>
            <a:spLocks noGrp="1"/>
          </p:cNvSpPr>
          <p:nvPr/>
        </p:nvSpPr>
        <p:spPr>
          <a:xfrm>
            <a:off x="4572000" y="4333875"/>
            <a:ext cx="106680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CD11FF23-9759-4BEC-8800-DE9649AA1071}"/>
              </a:ext>
            </a:extLst>
          </p:cNvPr>
          <p:cNvSpPr>
            <a:spLocks noGrp="1"/>
          </p:cNvSpPr>
          <p:nvPr/>
        </p:nvSpPr>
        <p:spPr>
          <a:xfrm>
            <a:off x="4648200" y="4019550"/>
            <a:ext cx="914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0" i="0">
                <a:solidFill>
                  <a:srgbClr val="0F172A"/>
                </a:solidFill>
              </a:defRPr>
            </a:pPr>
            <a:r>
              <a:t>0.935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29980345-1B34-4754-9423-8C26C4D5CCE6}"/>
              </a:ext>
            </a:extLst>
          </p:cNvPr>
          <p:cNvSpPr>
            <a:spLocks noGrp="1"/>
          </p:cNvSpPr>
          <p:nvPr/>
        </p:nvSpPr>
        <p:spPr>
          <a:xfrm>
            <a:off x="5638800" y="3943350"/>
            <a:ext cx="4400550" cy="400050"/>
          </a:xfrm>
          <a:prstGeom prst="rect">
            <a:avLst/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33C53963-6843-4312-804A-B31C98934759}"/>
              </a:ext>
            </a:extLst>
          </p:cNvPr>
          <p:cNvSpPr>
            <a:spLocks noGrp="1"/>
          </p:cNvSpPr>
          <p:nvPr/>
        </p:nvSpPr>
        <p:spPr>
          <a:xfrm>
            <a:off x="5638800" y="3943350"/>
            <a:ext cx="44005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1DA5E6FF-2DE1-485A-8B8D-0F20074BD3B9}"/>
              </a:ext>
            </a:extLst>
          </p:cNvPr>
          <p:cNvSpPr>
            <a:spLocks noGrp="1"/>
          </p:cNvSpPr>
          <p:nvPr/>
        </p:nvSpPr>
        <p:spPr>
          <a:xfrm>
            <a:off x="5638800" y="4333875"/>
            <a:ext cx="44005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FFA36FE6-967D-4F81-B290-B450454E4312}"/>
              </a:ext>
            </a:extLst>
          </p:cNvPr>
          <p:cNvSpPr>
            <a:spLocks noGrp="1"/>
          </p:cNvSpPr>
          <p:nvPr/>
        </p:nvSpPr>
        <p:spPr>
          <a:xfrm>
            <a:off x="5715000" y="4019550"/>
            <a:ext cx="42481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0" i="0">
                <a:solidFill>
                  <a:srgbClr val="0F172A"/>
                </a:solidFill>
              </a:defRPr>
            </a:pPr>
            <a:r>
              <a:t>跨域平衡最好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F6AB8192-3EB8-47A0-A66F-20BB26780EEF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93535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0696883A-4B36-446E-89A3-ACA100096F82}"/>
              </a:ext>
            </a:extLst>
          </p:cNvPr>
          <p:cNvSpPr>
            <a:spLocks noGrp="1"/>
          </p:cNvSpPr>
          <p:nvPr/>
        </p:nvSpPr>
        <p:spPr>
          <a:xfrm>
            <a:off x="685800" y="4343400"/>
            <a:ext cx="9353550" cy="9525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E1EA58AC-11B4-400E-B998-184F14D9D802}"/>
              </a:ext>
            </a:extLst>
          </p:cNvPr>
          <p:cNvSpPr>
            <a:spLocks noGrp="1"/>
          </p:cNvSpPr>
          <p:nvPr/>
        </p:nvSpPr>
        <p:spPr>
          <a:xfrm>
            <a:off x="762000" y="4629150"/>
            <a:ext cx="20002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 i="0">
                <a:solidFill>
                  <a:srgbClr val="2563EB"/>
                </a:solidFill>
              </a:defRPr>
            </a:pPr>
            <a:r>
              <a:t>目标 F1 提升路径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96A45838-B67B-444C-A20A-5C5D19DF621F}"/>
              </a:ext>
            </a:extLst>
          </p:cNvPr>
          <p:cNvSpPr>
            <a:spLocks noGrp="1"/>
          </p:cNvSpPr>
          <p:nvPr/>
        </p:nvSpPr>
        <p:spPr>
          <a:xfrm>
            <a:off x="762000" y="5010150"/>
            <a:ext cx="12192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1" i="0">
                <a:solidFill>
                  <a:srgbClr val="0F172A"/>
                </a:solidFill>
              </a:defRPr>
            </a:pPr>
            <a:r>
              <a:t>E1</a:t>
            </a:r>
          </a:p>
        </p:txBody>
      </p:sp>
      <p:sp>
        <p:nvSpPr>
          <p:cNvPr id="120" name="圆角矩形 119">
            <a:extLst>
              <a:ext uri="{FF2B5EF4-FFF2-40B4-BE49-F238E27FC236}">
                <a16:creationId xmlns:a16="http://schemas.microsoft.com/office/drawing/2014/main" id="{9CAF610A-DA1D-4348-BC83-22DA23585D95}"/>
              </a:ext>
            </a:extLst>
          </p:cNvPr>
          <p:cNvSpPr>
            <a:spLocks noGrp="1"/>
          </p:cNvSpPr>
          <p:nvPr/>
        </p:nvSpPr>
        <p:spPr>
          <a:xfrm>
            <a:off x="2019300" y="5029200"/>
            <a:ext cx="3143250" cy="171450"/>
          </a:xfrm>
          <a:prstGeom prst="roundRect">
            <a:avLst>
              <a:gd name="adj" fmla="val 33333"/>
            </a:avLst>
          </a:prstGeom>
          <a:solidFill>
            <a:srgbClr val="E2E8F0"/>
          </a:solidFill>
          <a:ln>
            <a:noFill/>
            <a:prstDash val="solid"/>
          </a:ln>
        </p:spPr>
      </p:sp>
      <p:sp>
        <p:nvSpPr>
          <p:cNvPr id="121" name="圆角矩形 120">
            <a:extLst>
              <a:ext uri="{FF2B5EF4-FFF2-40B4-BE49-F238E27FC236}">
                <a16:creationId xmlns:a16="http://schemas.microsoft.com/office/drawing/2014/main" id="{ED916E1D-C3B4-4B49-A214-61997B68F34B}"/>
              </a:ext>
            </a:extLst>
          </p:cNvPr>
          <p:cNvSpPr>
            <a:spLocks noGrp="1"/>
          </p:cNvSpPr>
          <p:nvPr/>
        </p:nvSpPr>
        <p:spPr>
          <a:xfrm>
            <a:off x="2019300" y="5029200"/>
            <a:ext cx="2024253" cy="171450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>
            <a:noFill/>
            <a:prstDash val="solid"/>
          </a:ln>
        </p:spPr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4F6FFFF2-AD4F-4F56-BD44-503B0393C70E}"/>
              </a:ext>
            </a:extLst>
          </p:cNvPr>
          <p:cNvSpPr>
            <a:spLocks noGrp="1"/>
          </p:cNvSpPr>
          <p:nvPr/>
        </p:nvSpPr>
        <p:spPr>
          <a:xfrm>
            <a:off x="5238750" y="5010150"/>
            <a:ext cx="6858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1" i="0">
                <a:solidFill>
                  <a:srgbClr val="2563EB"/>
                </a:solidFill>
              </a:defRPr>
            </a:pPr>
            <a:r>
              <a:t>0.644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2D1E286C-B460-4F8E-A357-3268A3C6C329}"/>
              </a:ext>
            </a:extLst>
          </p:cNvPr>
          <p:cNvSpPr>
            <a:spLocks noGrp="1"/>
          </p:cNvSpPr>
          <p:nvPr/>
        </p:nvSpPr>
        <p:spPr>
          <a:xfrm>
            <a:off x="762000" y="5372100"/>
            <a:ext cx="12192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1" i="0">
                <a:solidFill>
                  <a:srgbClr val="0F172A"/>
                </a:solidFill>
              </a:defRPr>
            </a:pPr>
            <a:r>
              <a:t>E2</a:t>
            </a:r>
          </a:p>
        </p:txBody>
      </p:sp>
      <p:sp>
        <p:nvSpPr>
          <p:cNvPr id="124" name="圆角矩形 123">
            <a:extLst>
              <a:ext uri="{FF2B5EF4-FFF2-40B4-BE49-F238E27FC236}">
                <a16:creationId xmlns:a16="http://schemas.microsoft.com/office/drawing/2014/main" id="{57CD67AB-6D6B-403A-96C2-6CE161C0DAB4}"/>
              </a:ext>
            </a:extLst>
          </p:cNvPr>
          <p:cNvSpPr>
            <a:spLocks noGrp="1"/>
          </p:cNvSpPr>
          <p:nvPr/>
        </p:nvSpPr>
        <p:spPr>
          <a:xfrm>
            <a:off x="2019300" y="5391150"/>
            <a:ext cx="3143250" cy="171450"/>
          </a:xfrm>
          <a:prstGeom prst="roundRect">
            <a:avLst>
              <a:gd name="adj" fmla="val 33333"/>
            </a:avLst>
          </a:prstGeom>
          <a:solidFill>
            <a:srgbClr val="E2E8F0"/>
          </a:solidFill>
          <a:ln>
            <a:noFill/>
            <a:prstDash val="solid"/>
          </a:ln>
        </p:spPr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904797FE-73DA-4BCA-9350-ED68F2EDDC64}"/>
              </a:ext>
            </a:extLst>
          </p:cNvPr>
          <p:cNvSpPr>
            <a:spLocks noGrp="1"/>
          </p:cNvSpPr>
          <p:nvPr/>
        </p:nvSpPr>
        <p:spPr>
          <a:xfrm>
            <a:off x="2019300" y="5391150"/>
            <a:ext cx="2366867" cy="171450"/>
          </a:xfrm>
          <a:prstGeom prst="roundRect">
            <a:avLst>
              <a:gd name="adj" fmla="val 33333"/>
            </a:avLst>
          </a:prstGeom>
          <a:solidFill>
            <a:srgbClr val="16A34A"/>
          </a:solidFill>
          <a:ln>
            <a:noFill/>
            <a:prstDash val="solid"/>
          </a:ln>
        </p:spPr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3B0D700A-6D45-4268-BFC9-5CC286F3C779}"/>
              </a:ext>
            </a:extLst>
          </p:cNvPr>
          <p:cNvSpPr>
            <a:spLocks noGrp="1"/>
          </p:cNvSpPr>
          <p:nvPr/>
        </p:nvSpPr>
        <p:spPr>
          <a:xfrm>
            <a:off x="5238750" y="5372100"/>
            <a:ext cx="6858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1" i="0">
                <a:solidFill>
                  <a:srgbClr val="16A34A"/>
                </a:solidFill>
              </a:defRPr>
            </a:pPr>
            <a:r>
              <a:t>0.753</a:t>
            </a: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69569206-BA07-445A-B08F-7AF208604DC3}"/>
              </a:ext>
            </a:extLst>
          </p:cNvPr>
          <p:cNvSpPr>
            <a:spLocks noGrp="1"/>
          </p:cNvSpPr>
          <p:nvPr/>
        </p:nvSpPr>
        <p:spPr>
          <a:xfrm>
            <a:off x="762000" y="5734050"/>
            <a:ext cx="12192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1" i="0">
                <a:solidFill>
                  <a:srgbClr val="0F172A"/>
                </a:solidFill>
              </a:defRPr>
            </a:pPr>
            <a:r>
              <a:t>E3</a:t>
            </a:r>
          </a:p>
        </p:txBody>
      </p:sp>
      <p:sp>
        <p:nvSpPr>
          <p:cNvPr id="128" name="圆角矩形 127">
            <a:extLst>
              <a:ext uri="{FF2B5EF4-FFF2-40B4-BE49-F238E27FC236}">
                <a16:creationId xmlns:a16="http://schemas.microsoft.com/office/drawing/2014/main" id="{36BFB5BA-23EC-496B-89CD-54F60FB2D99F}"/>
              </a:ext>
            </a:extLst>
          </p:cNvPr>
          <p:cNvSpPr>
            <a:spLocks noGrp="1"/>
          </p:cNvSpPr>
          <p:nvPr/>
        </p:nvSpPr>
        <p:spPr>
          <a:xfrm>
            <a:off x="2019300" y="5753100"/>
            <a:ext cx="3143250" cy="171450"/>
          </a:xfrm>
          <a:prstGeom prst="roundRect">
            <a:avLst>
              <a:gd name="adj" fmla="val 33333"/>
            </a:avLst>
          </a:prstGeom>
          <a:solidFill>
            <a:srgbClr val="E2E8F0"/>
          </a:solidFill>
          <a:ln>
            <a:noFill/>
            <a:prstDash val="solid"/>
          </a:ln>
        </p:spPr>
      </p:sp>
      <p:sp>
        <p:nvSpPr>
          <p:cNvPr id="129" name="圆角矩形 128">
            <a:extLst>
              <a:ext uri="{FF2B5EF4-FFF2-40B4-BE49-F238E27FC236}">
                <a16:creationId xmlns:a16="http://schemas.microsoft.com/office/drawing/2014/main" id="{5107E8FE-DA77-40FB-9867-FBF8994C21A4}"/>
              </a:ext>
            </a:extLst>
          </p:cNvPr>
          <p:cNvSpPr>
            <a:spLocks noGrp="1"/>
          </p:cNvSpPr>
          <p:nvPr/>
        </p:nvSpPr>
        <p:spPr>
          <a:xfrm>
            <a:off x="2019300" y="5753100"/>
            <a:ext cx="2913793" cy="171450"/>
          </a:xfrm>
          <a:prstGeom prst="roundRect">
            <a:avLst>
              <a:gd name="adj" fmla="val 33333"/>
            </a:avLst>
          </a:prstGeom>
          <a:solidFill>
            <a:srgbClr val="16A34A"/>
          </a:solidFill>
          <a:ln>
            <a:noFill/>
            <a:prstDash val="solid"/>
          </a:ln>
        </p:spPr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1B3DB49B-B0C4-4E5A-9008-E50D09772122}"/>
              </a:ext>
            </a:extLst>
          </p:cNvPr>
          <p:cNvSpPr>
            <a:spLocks noGrp="1"/>
          </p:cNvSpPr>
          <p:nvPr/>
        </p:nvSpPr>
        <p:spPr>
          <a:xfrm>
            <a:off x="5238750" y="5734050"/>
            <a:ext cx="6858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1" i="0">
                <a:solidFill>
                  <a:srgbClr val="16A34A"/>
                </a:solidFill>
              </a:defRPr>
            </a:pPr>
            <a:r>
              <a:t>0.927</a:t>
            </a:r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2A0A158B-BABA-4BB7-A3D1-08E248588AB0}"/>
              </a:ext>
            </a:extLst>
          </p:cNvPr>
          <p:cNvSpPr>
            <a:spLocks noGrp="1"/>
          </p:cNvSpPr>
          <p:nvPr/>
        </p:nvSpPr>
        <p:spPr>
          <a:xfrm>
            <a:off x="5695950" y="4838700"/>
            <a:ext cx="5219700" cy="895350"/>
          </a:xfrm>
          <a:prstGeom prst="roundRect">
            <a:avLst>
              <a:gd name="adj" fmla="val 8511"/>
            </a:avLst>
          </a:prstGeom>
          <a:solidFill>
            <a:srgbClr val="FEF2F2"/>
          </a:solidFill>
          <a:ln>
            <a:noFill/>
            <a:prstDash val="solid"/>
          </a:ln>
        </p:spPr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C1AEA923-6738-4584-9B91-D93A7579C2D9}"/>
              </a:ext>
            </a:extLst>
          </p:cNvPr>
          <p:cNvSpPr>
            <a:spLocks noGrp="1"/>
          </p:cNvSpPr>
          <p:nvPr/>
        </p:nvSpPr>
        <p:spPr>
          <a:xfrm>
            <a:off x="5943600" y="5029200"/>
            <a:ext cx="1524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DC2626"/>
                </a:solidFill>
              </a:defRPr>
            </a:pPr>
            <a:r>
              <a:t>负向发现也重要</a:t>
            </a: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53796DE5-83A8-4F71-8B42-C8C2FA9C4BEA}"/>
              </a:ext>
            </a:extLst>
          </p:cNvPr>
          <p:cNvSpPr>
            <a:spLocks noGrp="1"/>
          </p:cNvSpPr>
          <p:nvPr/>
        </p:nvSpPr>
        <p:spPr>
          <a:xfrm>
            <a:off x="5943600" y="5334000"/>
            <a:ext cx="44958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0" i="0">
                <a:solidFill>
                  <a:srgbClr val="0F172A"/>
                </a:solidFill>
              </a:defRPr>
            </a:pPr>
            <a:r>
              <a:t>E5 的 MMD 从 0.049 降到 0.016，但目标 F1 只有 0.681。说明“对齐”不能只看分布距离，还要保护情感触发词。</a:t>
            </a:r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0BED11B2-F8EA-4633-AA78-722EC2675499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7810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0" i="0">
                <a:solidFill>
                  <a:srgbClr val="64748B"/>
                </a:solidFill>
              </a:defRPr>
            </a:pPr>
            <a:r>
              <a:t>Source: results/final_summary.csv</a:t>
            </a: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4D39BB88-7DCA-44B7-A94C-8F5DD58301AA}"/>
              </a:ext>
            </a:extLst>
          </p:cNvPr>
          <p:cNvSpPr>
            <a:spLocks noGrp="1"/>
          </p:cNvSpPr>
          <p:nvPr/>
        </p:nvSpPr>
        <p:spPr>
          <a:xfrm>
            <a:off x="11163300" y="6438900"/>
            <a:ext cx="4191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 i="0">
                <a:solidFill>
                  <a:srgbClr val="64748B"/>
                </a:solidFill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5177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1CCCC211-6ABE-44ED-9FCA-856BB39547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6F6A7FC-3841-48C3-A5B3-52E863CFAA4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76200" cy="209550"/>
          </a:xfrm>
          <a:prstGeom prst="rect">
            <a:avLst/>
          </a:prstGeom>
          <a:solidFill>
            <a:srgbClr val="2563EB"/>
          </a:solidFill>
          <a:ln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F933D3D-DEC8-4915-A180-9CB9024DE554}"/>
              </a:ext>
            </a:extLst>
          </p:cNvPr>
          <p:cNvSpPr>
            <a:spLocks noGrp="1"/>
          </p:cNvSpPr>
          <p:nvPr/>
        </p:nvSpPr>
        <p:spPr>
          <a:xfrm>
            <a:off x="800100" y="371475"/>
            <a:ext cx="24765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2563EB"/>
                </a:solidFill>
              </a:defRPr>
            </a:pPr>
            <a:r>
              <a:t>FAILURE CASE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4486304-7F51-441F-9D0D-0187FFD8A45C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04875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 b="1" i="0">
                <a:solidFill>
                  <a:srgbClr val="0F172A"/>
                </a:solidFill>
              </a:defRPr>
            </a:pPr>
            <a:r>
              <a:rPr dirty="0" err="1"/>
              <a:t>失败案例集中在微博语境混合：正向词并不总是正向情绪</a:t>
            </a:r>
            <a:endParaRPr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664465C-2827-4222-84EF-B7311439B455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972800" cy="19050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28DABB54-5FF8-46EB-9796-0867BF2D38DB}"/>
              </a:ext>
            </a:extLst>
          </p:cNvPr>
          <p:cNvSpPr>
            <a:spLocks noGrp="1"/>
          </p:cNvSpPr>
          <p:nvPr/>
        </p:nvSpPr>
        <p:spPr>
          <a:xfrm>
            <a:off x="723900" y="1962150"/>
            <a:ext cx="6191250" cy="2343150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F23D882-1A24-4625-9D84-C537E71D580E}"/>
              </a:ext>
            </a:extLst>
          </p:cNvPr>
          <p:cNvSpPr>
            <a:spLocks noGrp="1"/>
          </p:cNvSpPr>
          <p:nvPr/>
        </p:nvSpPr>
        <p:spPr>
          <a:xfrm>
            <a:off x="990600" y="2209800"/>
            <a:ext cx="20955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2563EB"/>
                </a:solidFill>
              </a:defRPr>
            </a:pPr>
            <a:r>
              <a:t>真实错误样本（E0）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9C7BE92-5E76-45B4-A972-2BC4F9E29582}"/>
              </a:ext>
            </a:extLst>
          </p:cNvPr>
          <p:cNvSpPr>
            <a:spLocks noGrp="1"/>
          </p:cNvSpPr>
          <p:nvPr/>
        </p:nvSpPr>
        <p:spPr>
          <a:xfrm>
            <a:off x="990600" y="2628900"/>
            <a:ext cx="5429250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 i="0">
                <a:solidFill>
                  <a:srgbClr val="0F172A"/>
                </a:solidFill>
              </a:defRPr>
            </a:pPr>
            <a:r>
              <a:t>“今天又吃多了[抓狂]这劲爆的音乐配上如此的美味，实在无法抗拒啊！黑菌意大利米饭配烤奶酪片太香……现在已经飘飘然了！”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23D5872-916D-4FA0-85F2-186A48523B40}"/>
              </a:ext>
            </a:extLst>
          </p:cNvPr>
          <p:cNvSpPr>
            <a:spLocks noGrp="1"/>
          </p:cNvSpPr>
          <p:nvPr/>
        </p:nvSpPr>
        <p:spPr>
          <a:xfrm>
            <a:off x="990600" y="3752850"/>
            <a:ext cx="50482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 i="0">
                <a:solidFill>
                  <a:srgbClr val="DC2626"/>
                </a:solidFill>
              </a:defRPr>
            </a:pPr>
            <a:r>
              <a:t>真实标签：负面 / 预测：正面 / positive prob=0.619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0BFBEED1-DDDC-402B-BAD6-07BCD2D82F20}"/>
              </a:ext>
            </a:extLst>
          </p:cNvPr>
          <p:cNvSpPr>
            <a:spLocks noGrp="1"/>
          </p:cNvSpPr>
          <p:nvPr/>
        </p:nvSpPr>
        <p:spPr>
          <a:xfrm>
            <a:off x="7486650" y="1962150"/>
            <a:ext cx="3657600" cy="2343150"/>
          </a:xfrm>
          <a:prstGeom prst="roundRect">
            <a:avLst>
              <a:gd name="adj" fmla="val 3252"/>
            </a:avLst>
          </a:prstGeom>
          <a:solidFill>
            <a:srgbClr val="FFFBEB"/>
          </a:solidFill>
          <a:ln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572ADF6-9B40-4520-A0D5-D454AF804039}"/>
              </a:ext>
            </a:extLst>
          </p:cNvPr>
          <p:cNvSpPr>
            <a:spLocks noGrp="1"/>
          </p:cNvSpPr>
          <p:nvPr/>
        </p:nvSpPr>
        <p:spPr>
          <a:xfrm>
            <a:off x="7772400" y="2209800"/>
            <a:ext cx="17145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 i="0">
                <a:solidFill>
                  <a:srgbClr val="F59E0B"/>
                </a:solidFill>
              </a:defRPr>
            </a:pPr>
            <a:r>
              <a:t>为什么会错？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96BC0241-5DD2-4001-9F64-65557C69EDB0}"/>
              </a:ext>
            </a:extLst>
          </p:cNvPr>
          <p:cNvSpPr>
            <a:spLocks noGrp="1"/>
          </p:cNvSpPr>
          <p:nvPr/>
        </p:nvSpPr>
        <p:spPr>
          <a:xfrm>
            <a:off x="7772400" y="2705100"/>
            <a:ext cx="66675" cy="66675"/>
          </a:xfrm>
          <a:prstGeom prst="roundRect">
            <a:avLst>
              <a:gd name="adj" fmla="val 42857"/>
            </a:avLst>
          </a:prstGeom>
          <a:solidFill>
            <a:srgbClr val="F59E0B"/>
          </a:solidFill>
          <a:ln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6265184-8F06-4442-BC0F-12130728E890}"/>
              </a:ext>
            </a:extLst>
          </p:cNvPr>
          <p:cNvSpPr>
            <a:spLocks noGrp="1"/>
          </p:cNvSpPr>
          <p:nvPr/>
        </p:nvSpPr>
        <p:spPr>
          <a:xfrm>
            <a:off x="7943850" y="2628900"/>
            <a:ext cx="27813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0" i="0">
                <a:solidFill>
                  <a:srgbClr val="0F172A"/>
                </a:solidFill>
              </a:defRPr>
            </a:pPr>
            <a:r>
              <a:t>局部有“美味、太香、不错”等正向词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2FD9174C-E0C6-45FB-9FC5-92B8B5A2DAB6}"/>
              </a:ext>
            </a:extLst>
          </p:cNvPr>
          <p:cNvSpPr>
            <a:spLocks noGrp="1"/>
          </p:cNvSpPr>
          <p:nvPr/>
        </p:nvSpPr>
        <p:spPr>
          <a:xfrm>
            <a:off x="7772400" y="3162300"/>
            <a:ext cx="66675" cy="66675"/>
          </a:xfrm>
          <a:prstGeom prst="roundRect">
            <a:avLst>
              <a:gd name="adj" fmla="val 42857"/>
            </a:avLst>
          </a:prstGeom>
          <a:solidFill>
            <a:srgbClr val="DC2626"/>
          </a:solidFill>
          <a:ln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D43E2A-BA74-4CA8-986A-F57474C480E3}"/>
              </a:ext>
            </a:extLst>
          </p:cNvPr>
          <p:cNvSpPr>
            <a:spLocks noGrp="1"/>
          </p:cNvSpPr>
          <p:nvPr/>
        </p:nvSpPr>
        <p:spPr>
          <a:xfrm>
            <a:off x="7943850" y="3086100"/>
            <a:ext cx="27813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0" i="0">
                <a:solidFill>
                  <a:srgbClr val="0F172A"/>
                </a:solidFill>
              </a:defRPr>
            </a:pPr>
            <a:r>
              <a:t>整体语境里有“吃多了、抓狂”负面体验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2164C2BC-5555-4E6A-A999-2A961359FA31}"/>
              </a:ext>
            </a:extLst>
          </p:cNvPr>
          <p:cNvSpPr>
            <a:spLocks noGrp="1"/>
          </p:cNvSpPr>
          <p:nvPr/>
        </p:nvSpPr>
        <p:spPr>
          <a:xfrm>
            <a:off x="7772400" y="3619500"/>
            <a:ext cx="66675" cy="66675"/>
          </a:xfrm>
          <a:prstGeom prst="roundRect">
            <a:avLst>
              <a:gd name="adj" fmla="val 42857"/>
            </a:avLst>
          </a:prstGeom>
          <a:solidFill>
            <a:srgbClr val="2563EB"/>
          </a:solidFill>
          <a:ln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4C1017-302B-42C0-87D2-A996F05FCEF1}"/>
              </a:ext>
            </a:extLst>
          </p:cNvPr>
          <p:cNvSpPr>
            <a:spLocks noGrp="1"/>
          </p:cNvSpPr>
          <p:nvPr/>
        </p:nvSpPr>
        <p:spPr>
          <a:xfrm>
            <a:off x="7943850" y="3543300"/>
            <a:ext cx="27813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0" i="0">
                <a:solidFill>
                  <a:srgbClr val="0F172A"/>
                </a:solidFill>
              </a:defRPr>
            </a:pPr>
            <a:r>
              <a:t>线性 n-gram 缺少跨句语义和反讽建模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CFEE6651-5D81-4E3E-8A47-5D5AD6289E59}"/>
              </a:ext>
            </a:extLst>
          </p:cNvPr>
          <p:cNvSpPr>
            <a:spLocks noGrp="1"/>
          </p:cNvSpPr>
          <p:nvPr/>
        </p:nvSpPr>
        <p:spPr>
          <a:xfrm>
            <a:off x="723900" y="4781550"/>
            <a:ext cx="10420350" cy="83820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6923B04-15EF-46C8-94DD-CB6EEE163078}"/>
              </a:ext>
            </a:extLst>
          </p:cNvPr>
          <p:cNvSpPr>
            <a:spLocks noGrp="1"/>
          </p:cNvSpPr>
          <p:nvPr/>
        </p:nvSpPr>
        <p:spPr>
          <a:xfrm>
            <a:off x="990600" y="5010150"/>
            <a:ext cx="1143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 i="0">
                <a:solidFill>
                  <a:srgbClr val="2563EB"/>
                </a:solidFill>
              </a:defRPr>
            </a:pPr>
            <a:r>
              <a:t>改进方向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E62A8EE-3752-4C06-BA6C-0401F15A09C2}"/>
              </a:ext>
            </a:extLst>
          </p:cNvPr>
          <p:cNvSpPr>
            <a:spLocks noGrp="1"/>
          </p:cNvSpPr>
          <p:nvPr/>
        </p:nvSpPr>
        <p:spPr>
          <a:xfrm>
            <a:off x="2247900" y="4972050"/>
            <a:ext cx="81915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 i="0">
                <a:solidFill>
                  <a:srgbClr val="0F172A"/>
                </a:solidFill>
              </a:defRPr>
            </a:pPr>
            <a:r>
              <a:t>加入上下文编码器、表情/反讽特征、人工校验的困难样本集，并把错误类型作为后续主动学习采样依据。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E6AAAA7-517A-4859-8F51-B938FF2DC2D3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7810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0" i="0">
                <a:solidFill>
                  <a:srgbClr val="64748B"/>
                </a:solidFill>
              </a:defRPr>
            </a:pPr>
            <a:r>
              <a:t>Source: results/final_error_cases.csv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3DFD177-FEBA-4F0B-9859-1272BAE10E00}"/>
              </a:ext>
            </a:extLst>
          </p:cNvPr>
          <p:cNvSpPr>
            <a:spLocks noGrp="1"/>
          </p:cNvSpPr>
          <p:nvPr/>
        </p:nvSpPr>
        <p:spPr>
          <a:xfrm>
            <a:off x="11163300" y="6438900"/>
            <a:ext cx="4191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 i="0">
                <a:solidFill>
                  <a:srgbClr val="64748B"/>
                </a:solidFill>
              </a:defRPr>
            </a:pPr>
            <a: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389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3C8758A2-550E-428C-AD31-F1B3BE70077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0C6EC3B-4891-466C-A25E-9094F601C0E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76200" cy="209550"/>
          </a:xfrm>
          <a:prstGeom prst="rect">
            <a:avLst/>
          </a:prstGeom>
          <a:solidFill>
            <a:srgbClr val="2563EB"/>
          </a:solidFill>
          <a:ln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A59B5D9-E891-4CE3-BF46-E7AF2295D78C}"/>
              </a:ext>
            </a:extLst>
          </p:cNvPr>
          <p:cNvSpPr>
            <a:spLocks noGrp="1"/>
          </p:cNvSpPr>
          <p:nvPr/>
        </p:nvSpPr>
        <p:spPr>
          <a:xfrm>
            <a:off x="800100" y="371475"/>
            <a:ext cx="24765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2563EB"/>
                </a:solidFill>
              </a:defRPr>
            </a:pPr>
            <a:r>
              <a:t>WRAP-UP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3BC40EB-4985-49CA-A0D9-D024BE1272D3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55370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 b="1" i="0">
                <a:solidFill>
                  <a:srgbClr val="0F172A"/>
                </a:solidFill>
              </a:defRPr>
            </a:pPr>
            <a:r>
              <a:rPr dirty="0" err="1"/>
              <a:t>最终交付</a:t>
            </a:r>
            <a:r>
              <a:rPr lang="zh-CN" altLang="en-US" dirty="0"/>
              <a:t>：</a:t>
            </a:r>
            <a:r>
              <a:rPr dirty="0" err="1"/>
              <a:t>可复现系统</a:t>
            </a:r>
            <a:endParaRPr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568CB18-4C41-46BC-BFA7-8C325EB8C72F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0972800" cy="19050"/>
          </a:xfrm>
          <a:prstGeom prst="rect">
            <a:avLst/>
          </a:prstGeom>
          <a:solidFill>
            <a:srgbClr val="CBD5E1"/>
          </a:solidFill>
          <a:ln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B8B113A-3D40-4D89-96A4-C130CB31F136}"/>
              </a:ext>
            </a:extLst>
          </p:cNvPr>
          <p:cNvSpPr>
            <a:spLocks noGrp="1"/>
          </p:cNvSpPr>
          <p:nvPr/>
        </p:nvSpPr>
        <p:spPr>
          <a:xfrm>
            <a:off x="723900" y="1924050"/>
            <a:ext cx="15240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 i="0">
                <a:solidFill>
                  <a:srgbClr val="16A34A"/>
                </a:solidFill>
              </a:defRPr>
            </a:pPr>
            <a:r>
              <a:t>主要贡献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32DD8E65-66BE-49B4-881F-C67CEEA8233D}"/>
              </a:ext>
            </a:extLst>
          </p:cNvPr>
          <p:cNvSpPr>
            <a:spLocks noGrp="1"/>
          </p:cNvSpPr>
          <p:nvPr/>
        </p:nvSpPr>
        <p:spPr>
          <a:xfrm>
            <a:off x="723900" y="2419350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A34A"/>
          </a:solidFill>
          <a:ln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A17848A-E7D0-49D0-994A-33B0642EA01B}"/>
              </a:ext>
            </a:extLst>
          </p:cNvPr>
          <p:cNvSpPr>
            <a:spLocks noGrp="1"/>
          </p:cNvSpPr>
          <p:nvPr/>
        </p:nvSpPr>
        <p:spPr>
          <a:xfrm>
            <a:off x="895350" y="2343150"/>
            <a:ext cx="45910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 i="0">
                <a:solidFill>
                  <a:srgbClr val="0F172A"/>
                </a:solidFill>
              </a:defRPr>
            </a:pPr>
            <a:r>
              <a:t>真实公开数据：源域 8000，目标域 6000，含 3600 unlabeled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ED46D995-5C5D-40F0-8D4F-8C7387B93ED5}"/>
              </a:ext>
            </a:extLst>
          </p:cNvPr>
          <p:cNvSpPr>
            <a:spLocks noGrp="1"/>
          </p:cNvSpPr>
          <p:nvPr/>
        </p:nvSpPr>
        <p:spPr>
          <a:xfrm>
            <a:off x="723900" y="2876550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A34A"/>
          </a:solidFill>
          <a:ln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B47BA20-130E-4592-9364-F8D0706003BC}"/>
              </a:ext>
            </a:extLst>
          </p:cNvPr>
          <p:cNvSpPr>
            <a:spLocks noGrp="1"/>
          </p:cNvSpPr>
          <p:nvPr/>
        </p:nvSpPr>
        <p:spPr>
          <a:xfrm>
            <a:off x="895350" y="2800350"/>
            <a:ext cx="45910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 i="0">
                <a:solidFill>
                  <a:srgbClr val="0F172A"/>
                </a:solidFill>
              </a:defRPr>
            </a:pPr>
            <a:r>
              <a:t>E0-E6 完整消融：每个方法 3 个随机种子均值±标准差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CB7440AD-82EC-41B4-A74F-74D6A9BAA295}"/>
              </a:ext>
            </a:extLst>
          </p:cNvPr>
          <p:cNvSpPr>
            <a:spLocks noGrp="1"/>
          </p:cNvSpPr>
          <p:nvPr/>
        </p:nvSpPr>
        <p:spPr>
          <a:xfrm>
            <a:off x="723900" y="3333750"/>
            <a:ext cx="66675" cy="66675"/>
          </a:xfrm>
          <a:prstGeom prst="roundRect">
            <a:avLst>
              <a:gd name="adj" fmla="val 42857"/>
            </a:avLst>
          </a:prstGeom>
          <a:solidFill>
            <a:srgbClr val="16A34A"/>
          </a:solidFill>
          <a:ln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52D347A-19B6-46A8-B7F2-67B9AF18DD25}"/>
              </a:ext>
            </a:extLst>
          </p:cNvPr>
          <p:cNvSpPr>
            <a:spLocks noGrp="1"/>
          </p:cNvSpPr>
          <p:nvPr/>
        </p:nvSpPr>
        <p:spPr>
          <a:xfrm>
            <a:off x="895350" y="3257550"/>
            <a:ext cx="45910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 i="0">
                <a:solidFill>
                  <a:srgbClr val="0F172A"/>
                </a:solidFill>
              </a:defRPr>
            </a:pPr>
            <a:r>
              <a:t>交付闭环：prepare_real_data / run_final / verify_final / report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AF71B6A-6F6F-4211-9C47-74B5D0654DF0}"/>
              </a:ext>
            </a:extLst>
          </p:cNvPr>
          <p:cNvSpPr>
            <a:spLocks noGrp="1"/>
          </p:cNvSpPr>
          <p:nvPr/>
        </p:nvSpPr>
        <p:spPr>
          <a:xfrm>
            <a:off x="6229350" y="1924050"/>
            <a:ext cx="15240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 i="0">
                <a:solidFill>
                  <a:srgbClr val="DC2626"/>
                </a:solidFill>
              </a:defRPr>
            </a:pPr>
            <a:r>
              <a:t>局限性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0D86305D-F736-4C57-8F05-28D82F95B56C}"/>
              </a:ext>
            </a:extLst>
          </p:cNvPr>
          <p:cNvSpPr>
            <a:spLocks noGrp="1"/>
          </p:cNvSpPr>
          <p:nvPr/>
        </p:nvSpPr>
        <p:spPr>
          <a:xfrm>
            <a:off x="6229350" y="2419350"/>
            <a:ext cx="66675" cy="66675"/>
          </a:xfrm>
          <a:prstGeom prst="roundRect">
            <a:avLst>
              <a:gd name="adj" fmla="val 42857"/>
            </a:avLst>
          </a:prstGeom>
          <a:solidFill>
            <a:srgbClr val="DC2626"/>
          </a:solidFill>
          <a:ln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4C972C7-4828-4BA5-B0C8-5542B85873D2}"/>
              </a:ext>
            </a:extLst>
          </p:cNvPr>
          <p:cNvSpPr>
            <a:spLocks noGrp="1"/>
          </p:cNvSpPr>
          <p:nvPr/>
        </p:nvSpPr>
        <p:spPr>
          <a:xfrm>
            <a:off x="6400800" y="2343150"/>
            <a:ext cx="45910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 i="0">
                <a:solidFill>
                  <a:srgbClr val="0F172A"/>
                </a:solidFill>
              </a:defRPr>
            </a:pPr>
            <a:r>
              <a:t>CPU 版本用 lexical/hash 特征模拟完整深度迁移框架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7B832426-F619-470F-BD78-47F9A068992A}"/>
              </a:ext>
            </a:extLst>
          </p:cNvPr>
          <p:cNvSpPr>
            <a:spLocks noGrp="1"/>
          </p:cNvSpPr>
          <p:nvPr/>
        </p:nvSpPr>
        <p:spPr>
          <a:xfrm>
            <a:off x="6229350" y="2876550"/>
            <a:ext cx="66675" cy="66675"/>
          </a:xfrm>
          <a:prstGeom prst="roundRect">
            <a:avLst>
              <a:gd name="adj" fmla="val 42857"/>
            </a:avLst>
          </a:prstGeom>
          <a:solidFill>
            <a:srgbClr val="DC2626"/>
          </a:solidFill>
          <a:ln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BA400C3-DC85-482C-AD0B-9CB59C0FCE9B}"/>
              </a:ext>
            </a:extLst>
          </p:cNvPr>
          <p:cNvSpPr>
            <a:spLocks noGrp="1"/>
          </p:cNvSpPr>
          <p:nvPr/>
        </p:nvSpPr>
        <p:spPr>
          <a:xfrm>
            <a:off x="6400800" y="2800350"/>
            <a:ext cx="45910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 i="0">
                <a:solidFill>
                  <a:srgbClr val="0F172A"/>
                </a:solidFill>
              </a:defRPr>
            </a:pPr>
            <a:r>
              <a:t>反讽、表情和长转发链仍是主要误差来源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EEF4A844-EDAD-4DB5-8FA8-0020D36B2C19}"/>
              </a:ext>
            </a:extLst>
          </p:cNvPr>
          <p:cNvSpPr>
            <a:spLocks noGrp="1"/>
          </p:cNvSpPr>
          <p:nvPr/>
        </p:nvSpPr>
        <p:spPr>
          <a:xfrm>
            <a:off x="6229350" y="3333750"/>
            <a:ext cx="66675" cy="66675"/>
          </a:xfrm>
          <a:prstGeom prst="roundRect">
            <a:avLst>
              <a:gd name="adj" fmla="val 42857"/>
            </a:avLst>
          </a:prstGeom>
          <a:solidFill>
            <a:srgbClr val="DC2626"/>
          </a:solidFill>
          <a:ln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87B1C72-23A3-405A-8EBF-9CDBD91C9553}"/>
              </a:ext>
            </a:extLst>
          </p:cNvPr>
          <p:cNvSpPr>
            <a:spLocks noGrp="1"/>
          </p:cNvSpPr>
          <p:nvPr/>
        </p:nvSpPr>
        <p:spPr>
          <a:xfrm>
            <a:off x="6400800" y="3257550"/>
            <a:ext cx="45910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 i="0">
                <a:solidFill>
                  <a:srgbClr val="0F172A"/>
                </a:solidFill>
              </a:defRPr>
            </a:pPr>
            <a:r>
              <a:t>后续可补 BERT/RoBERTa 微调和人工一致性评估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6C92EA19-1B21-493B-A4A9-27E133D45D0E}"/>
              </a:ext>
            </a:extLst>
          </p:cNvPr>
          <p:cNvSpPr>
            <a:spLocks noGrp="1"/>
          </p:cNvSpPr>
          <p:nvPr/>
        </p:nvSpPr>
        <p:spPr>
          <a:xfrm>
            <a:off x="723900" y="4267200"/>
            <a:ext cx="23812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2DDB9C1-57AE-4372-9F78-C3150446280E}"/>
              </a:ext>
            </a:extLst>
          </p:cNvPr>
          <p:cNvSpPr>
            <a:spLocks noGrp="1"/>
          </p:cNvSpPr>
          <p:nvPr/>
        </p:nvSpPr>
        <p:spPr>
          <a:xfrm>
            <a:off x="723900" y="4267200"/>
            <a:ext cx="47625" cy="1066800"/>
          </a:xfrm>
          <a:prstGeom prst="rect">
            <a:avLst/>
          </a:prstGeom>
          <a:solidFill>
            <a:srgbClr val="16A34A"/>
          </a:solidFill>
          <a:ln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6B80359-64C4-41E4-ABEA-DDADB06957C0}"/>
              </a:ext>
            </a:extLst>
          </p:cNvPr>
          <p:cNvSpPr>
            <a:spLocks noGrp="1"/>
          </p:cNvSpPr>
          <p:nvPr/>
        </p:nvSpPr>
        <p:spPr>
          <a:xfrm>
            <a:off x="895350" y="4419600"/>
            <a:ext cx="21145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1" i="0">
                <a:solidFill>
                  <a:srgbClr val="16A34A"/>
                </a:solidFill>
              </a:defRPr>
            </a:pPr>
            <a:r>
              <a:t>0.927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0187195-4C23-44B9-ABD8-31196774FB36}"/>
              </a:ext>
            </a:extLst>
          </p:cNvPr>
          <p:cNvSpPr>
            <a:spLocks noGrp="1"/>
          </p:cNvSpPr>
          <p:nvPr/>
        </p:nvSpPr>
        <p:spPr>
          <a:xfrm>
            <a:off x="895350" y="4810125"/>
            <a:ext cx="21145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0F172A"/>
                </a:solidFill>
              </a:defRPr>
            </a:pPr>
            <a:r>
              <a:t>最佳目标 F1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A285737-4B43-4669-96FA-478C7D08D95A}"/>
              </a:ext>
            </a:extLst>
          </p:cNvPr>
          <p:cNvSpPr>
            <a:spLocks noGrp="1"/>
          </p:cNvSpPr>
          <p:nvPr/>
        </p:nvSpPr>
        <p:spPr>
          <a:xfrm>
            <a:off x="895350" y="5067300"/>
            <a:ext cx="21145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0" i="0">
                <a:solidFill>
                  <a:srgbClr val="64748B"/>
                </a:solidFill>
              </a:defRPr>
            </a:pPr>
            <a:r>
              <a:t>E3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36004A86-EAC7-4AEC-88E3-D67D44CE42E3}"/>
              </a:ext>
            </a:extLst>
          </p:cNvPr>
          <p:cNvSpPr>
            <a:spLocks noGrp="1"/>
          </p:cNvSpPr>
          <p:nvPr/>
        </p:nvSpPr>
        <p:spPr>
          <a:xfrm>
            <a:off x="3409950" y="4267200"/>
            <a:ext cx="23812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7DEB669-EF52-46B5-951D-5077A9BD520B}"/>
              </a:ext>
            </a:extLst>
          </p:cNvPr>
          <p:cNvSpPr>
            <a:spLocks noGrp="1"/>
          </p:cNvSpPr>
          <p:nvPr/>
        </p:nvSpPr>
        <p:spPr>
          <a:xfrm>
            <a:off x="3409950" y="4267200"/>
            <a:ext cx="47625" cy="1066800"/>
          </a:xfrm>
          <a:prstGeom prst="rect">
            <a:avLst/>
          </a:prstGeom>
          <a:solidFill>
            <a:srgbClr val="2563EB"/>
          </a:solidFill>
          <a:ln>
            <a:noFill/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54654EA-674B-41F1-AE0F-6B8B8EF09257}"/>
              </a:ext>
            </a:extLst>
          </p:cNvPr>
          <p:cNvSpPr>
            <a:spLocks noGrp="1"/>
          </p:cNvSpPr>
          <p:nvPr/>
        </p:nvSpPr>
        <p:spPr>
          <a:xfrm>
            <a:off x="3581400" y="4419600"/>
            <a:ext cx="21145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1" i="0">
                <a:solidFill>
                  <a:srgbClr val="2563EB"/>
                </a:solidFill>
              </a:defRPr>
            </a:pPr>
            <a:r>
              <a:t>0.935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56ED24E-595F-4CFB-9BD2-B40D574E8E4B}"/>
              </a:ext>
            </a:extLst>
          </p:cNvPr>
          <p:cNvSpPr>
            <a:spLocks noGrp="1"/>
          </p:cNvSpPr>
          <p:nvPr/>
        </p:nvSpPr>
        <p:spPr>
          <a:xfrm>
            <a:off x="3581400" y="4810125"/>
            <a:ext cx="21145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 i="0">
                <a:solidFill>
                  <a:srgbClr val="0F172A"/>
                </a:solidFill>
              </a:defRPr>
            </a:pPr>
            <a:r>
              <a:t>E6 负面召回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D30E0C3-8C26-4F4E-842B-D81A6BB4A6FE}"/>
              </a:ext>
            </a:extLst>
          </p:cNvPr>
          <p:cNvSpPr>
            <a:spLocks noGrp="1"/>
          </p:cNvSpPr>
          <p:nvPr/>
        </p:nvSpPr>
        <p:spPr>
          <a:xfrm>
            <a:off x="3581400" y="5067300"/>
            <a:ext cx="21145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0" i="0">
                <a:solidFill>
                  <a:srgbClr val="64748B"/>
                </a:solidFill>
              </a:defRPr>
            </a:pPr>
            <a:r>
              <a:t>兼顾稳定性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70D4E66-E3D4-4FD9-BF5A-8F42374E8F5C}"/>
              </a:ext>
            </a:extLst>
          </p:cNvPr>
          <p:cNvSpPr>
            <a:spLocks noGrp="1"/>
          </p:cNvSpPr>
          <p:nvPr/>
        </p:nvSpPr>
        <p:spPr>
          <a:xfrm>
            <a:off x="9124950" y="4457700"/>
            <a:ext cx="1143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 i="0">
                <a:solidFill>
                  <a:srgbClr val="FFFFFF"/>
                </a:solidFill>
              </a:defRPr>
            </a:pPr>
            <a:r>
              <a:t>演示过渡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B8646F9-076D-421D-BA5B-BBABB85C3109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7810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0" i="0">
                <a:solidFill>
                  <a:srgbClr val="64748B"/>
                </a:solidFill>
              </a:defRPr>
            </a:pPr>
            <a:r>
              <a:t>Source: repository results and final report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68F48B7-BF4C-4C1A-B6FD-CD6CD9FC9DD1}"/>
              </a:ext>
            </a:extLst>
          </p:cNvPr>
          <p:cNvSpPr>
            <a:spLocks noGrp="1"/>
          </p:cNvSpPr>
          <p:nvPr/>
        </p:nvSpPr>
        <p:spPr>
          <a:xfrm>
            <a:off x="11163300" y="6438900"/>
            <a:ext cx="4191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 i="0">
                <a:solidFill>
                  <a:srgbClr val="64748B"/>
                </a:solidFill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6779712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901</Words>
  <Application>Microsoft Macintosh PowerPoint</Application>
  <DocSecurity>0</DocSecurity>
  <PresentationFormat>宽屏</PresentationFormat>
  <Paragraphs>313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2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乘黄 李</cp:lastModifiedBy>
  <cp:revision>2</cp:revision>
  <dcterms:created xsi:type="dcterms:W3CDTF">2026-06-11T17:35:22Z</dcterms:created>
  <dcterms:modified xsi:type="dcterms:W3CDTF">2026-06-13T06:10:30Z</dcterms:modified>
</cp:coreProperties>
</file>
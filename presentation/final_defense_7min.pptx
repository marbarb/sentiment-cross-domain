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939fc98cdb4a01" /><Relationship Type="http://schemas.openxmlformats.org/officeDocument/2006/relationships/extended-properties" Target="/docProps/app.xml" Id="Rb223341c25204863" /><Relationship Type="http://schemas.openxmlformats.org/officeDocument/2006/relationships/officeDocument" Target="/ppt/presentation.xml" Id="R39a86dcfd4654c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562829f85846b2"/>
  </p:sldMasterIdLst>
  <p:notesMasterIdLst>
    <p:notesMasterId xmlns:r="http://schemas.openxmlformats.org/officeDocument/2006/relationships" r:id="Raebc8a7066194c61"/>
  </p:notesMasterIdLst>
  <p:sldIdLst>
    <p:sldId xmlns:r="http://schemas.openxmlformats.org/officeDocument/2006/relationships" id="256" r:id="R20a4ad96ebf04e22"/>
    <p:sldId xmlns:r="http://schemas.openxmlformats.org/officeDocument/2006/relationships" id="257" r:id="Rb36f49f05c0f45a9"/>
    <p:sldId xmlns:r="http://schemas.openxmlformats.org/officeDocument/2006/relationships" id="258" r:id="Re7257177fc8841d6"/>
    <p:sldId xmlns:r="http://schemas.openxmlformats.org/officeDocument/2006/relationships" id="259" r:id="R8fa98629ad8a4525"/>
    <p:sldId xmlns:r="http://schemas.openxmlformats.org/officeDocument/2006/relationships" id="260" r:id="Ra18819978ac948f2"/>
    <p:sldId xmlns:r="http://schemas.openxmlformats.org/officeDocument/2006/relationships" id="261" r:id="R3e00a2af43fb4c29"/>
    <p:sldId xmlns:r="http://schemas.openxmlformats.org/officeDocument/2006/relationships" id="262" r:id="R5a110ce9311040ef"/>
    <p:sldId xmlns:r="http://schemas.openxmlformats.org/officeDocument/2006/relationships" id="263" r:id="R96825566ad1f4ee1"/>
    <p:sldId xmlns:r="http://schemas.openxmlformats.org/officeDocument/2006/relationships" id="264" r:id="R26142daa32a74a1d"/>
    <p:sldId xmlns:r="http://schemas.openxmlformats.org/officeDocument/2006/relationships" id="265" r:id="Rbc9f95dfb5de49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f66b530af54d9a" /><Relationship Type="http://schemas.openxmlformats.org/officeDocument/2006/relationships/slideMaster" Target="/ppt/slideMasters/slideMaster1.xml" Id="Rc2562829f85846b2" /><Relationship Type="http://schemas.openxmlformats.org/officeDocument/2006/relationships/notesMaster" Target="/ppt/notesMasters/notesMaster1.xml" Id="Raebc8a7066194c61" /><Relationship Type="http://schemas.openxmlformats.org/officeDocument/2006/relationships/presProps" Target="/ppt/presProps.xml" Id="R6f65f4a7a2bb452a" /><Relationship Type="http://schemas.openxmlformats.org/officeDocument/2006/relationships/viewProps" Target="/ppt/viewProps.xml" Id="R6720c44b31a0408b" /><Relationship Type="http://schemas.openxmlformats.org/officeDocument/2006/relationships/tableStyles" Target="/ppt/tableStyles.xml" Id="R0feeb0b1dcff4d8e" /><Relationship Type="http://schemas.openxmlformats.org/officeDocument/2006/relationships/slide" Target="/ppt/slides/slide1.xml" Id="R20a4ad96ebf04e22" /><Relationship Type="http://schemas.openxmlformats.org/officeDocument/2006/relationships/slide" Target="/ppt/slides/slide2.xml" Id="Rb36f49f05c0f45a9" /><Relationship Type="http://schemas.openxmlformats.org/officeDocument/2006/relationships/slide" Target="/ppt/slides/slide3.xml" Id="Re7257177fc8841d6" /><Relationship Type="http://schemas.openxmlformats.org/officeDocument/2006/relationships/slide" Target="/ppt/slides/slide4.xml" Id="R8fa98629ad8a4525" /><Relationship Type="http://schemas.openxmlformats.org/officeDocument/2006/relationships/slide" Target="/ppt/slides/slide5.xml" Id="Ra18819978ac948f2" /><Relationship Type="http://schemas.openxmlformats.org/officeDocument/2006/relationships/slide" Target="/ppt/slides/slide6.xml" Id="R3e00a2af43fb4c29" /><Relationship Type="http://schemas.openxmlformats.org/officeDocument/2006/relationships/slide" Target="/ppt/slides/slide7.xml" Id="R5a110ce9311040ef" /><Relationship Type="http://schemas.openxmlformats.org/officeDocument/2006/relationships/slide" Target="/ppt/slides/slide8.xml" Id="R96825566ad1f4ee1" /><Relationship Type="http://schemas.openxmlformats.org/officeDocument/2006/relationships/slide" Target="/ppt/slides/slide9.xml" Id="R26142daa32a74a1d" /><Relationship Type="http://schemas.openxmlformats.org/officeDocument/2006/relationships/slide" Target="/ppt/slides/slide10.xml" Id="Rbc9f95dfb5de49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0ec64aee2344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73959136af4e18" /><Relationship Type="http://schemas.openxmlformats.org/officeDocument/2006/relationships/notesMaster" Target="/ppt/notesMasters/notesMaster1.xml" Id="Rcf9f3c0f2b834a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eba90782bb40f0" /><Relationship Type="http://schemas.openxmlformats.org/officeDocument/2006/relationships/notesMaster" Target="/ppt/notesMasters/notesMaster1.xml" Id="Rd2c6f72a983548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a5856d1b0d4691" /><Relationship Type="http://schemas.openxmlformats.org/officeDocument/2006/relationships/notesMaster" Target="/ppt/notesMasters/notesMaster1.xml" Id="R8d23cf891f7341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3e9105e4e04740" /><Relationship Type="http://schemas.openxmlformats.org/officeDocument/2006/relationships/notesMaster" Target="/ppt/notesMasters/notesMaster1.xml" Id="R206dfafe722141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6f1eef6892468f" /><Relationship Type="http://schemas.openxmlformats.org/officeDocument/2006/relationships/notesMaster" Target="/ppt/notesMasters/notesMaster1.xml" Id="Rdaec1fbf0faa41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cf0c61554540b4" /><Relationship Type="http://schemas.openxmlformats.org/officeDocument/2006/relationships/notesMaster" Target="/ppt/notesMasters/notesMaster1.xml" Id="Rd23dca7260644b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439c94d8ea46ff" /><Relationship Type="http://schemas.openxmlformats.org/officeDocument/2006/relationships/notesMaster" Target="/ppt/notesMasters/notesMaster1.xml" Id="Rc1e6d7522c6a42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10fdcd63e7461f" /><Relationship Type="http://schemas.openxmlformats.org/officeDocument/2006/relationships/notesMaster" Target="/ppt/notesMasters/notesMaster1.xml" Id="R1067c61cc24046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b5f275f7614a59" /><Relationship Type="http://schemas.openxmlformats.org/officeDocument/2006/relationships/notesMaster" Target="/ppt/notesMasters/notesMaster1.xml" Id="Rd3524f5dc2ff48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531037221048f8" /><Relationship Type="http://schemas.openxmlformats.org/officeDocument/2006/relationships/notesMaster" Target="/ppt/notesMasters/notesMaster1.xml" Id="Rf504da2e84ea41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213c5c16c4c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1e2b5d93bc4e5a" /><Relationship Type="http://schemas.openxmlformats.org/officeDocument/2006/relationships/slideLayout" Target="/ppt/slideLayouts/slideLayout1.xml" Id="R2c7307b7562f4a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7307b7562f4a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bef860b9d4242" /><Relationship Type="http://schemas.openxmlformats.org/officeDocument/2006/relationships/notesSlide" Target="/ppt/notesSlides/notesSlide1.xml" Id="R798c5d96fb634b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372df0b3648b1" /><Relationship Type="http://schemas.openxmlformats.org/officeDocument/2006/relationships/notesSlide" Target="/ppt/notesSlides/notesSlide2.xml" Id="R99db10dd955348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3df4603614ddf" /><Relationship Type="http://schemas.openxmlformats.org/officeDocument/2006/relationships/notesSlide" Target="/ppt/notesSlides/notesSlide3.xml" Id="Rdfcbfbf340514b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a5b02940e46b4" /><Relationship Type="http://schemas.openxmlformats.org/officeDocument/2006/relationships/notesSlide" Target="/ppt/notesSlides/notesSlide4.xml" Id="R1a46839c58c64b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8590bf38b414d" /><Relationship Type="http://schemas.openxmlformats.org/officeDocument/2006/relationships/notesSlide" Target="/ppt/notesSlides/notesSlide5.xml" Id="R3996609df56341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1e416b81c403f" /><Relationship Type="http://schemas.openxmlformats.org/officeDocument/2006/relationships/notesSlide" Target="/ppt/notesSlides/notesSlide6.xml" Id="R111662945f1e49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aed9d72014e21" /><Relationship Type="http://schemas.openxmlformats.org/officeDocument/2006/relationships/notesSlide" Target="/ppt/notesSlides/notesSlide7.xml" Id="R67cf7dc1ad4847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4df52c3c746ea" /><Relationship Type="http://schemas.openxmlformats.org/officeDocument/2006/relationships/notesSlide" Target="/ppt/notesSlides/notesSlide8.xml" Id="Re9f36a8226d64b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dc0d559f04faf" /><Relationship Type="http://schemas.openxmlformats.org/officeDocument/2006/relationships/notesSlide" Target="/ppt/notesSlides/notesSlide9.xml" Id="R52c75389f1bf45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eefa07f51472b" /><Relationship Type="http://schemas.openxmlformats.org/officeDocument/2006/relationships/notesSlide" Target="/ppt/notesSlides/notesSlide10.xml" Id="Rda78625e1c3b4d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FAC2F3-08F2-4661-82DE-2F97A9E6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D00B0-D012-4F96-8D2F-03AB908F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186BB-C69A-44D7-B66B-AB985D63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0DCEA-043E-4638-8E0A-428DAE10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06CA1-7268-4A5E-A59B-E67579EF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"/>
            <a:ext cx="857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FFFFF"/>
                </a:solidFill>
              </a:defRPr>
            </a:pPr>
            <a:r>
              <a:t>社交媒体情感分析的跨域泛化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2CA0A-9C43-444D-AFDB-791E6DD9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DDE7F7"/>
                </a:solidFill>
              </a:defRPr>
            </a:pPr>
            <a:r>
              <a:t>面向分布偏移的 Data-Centric 改进与可复现实验系统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2B1EC-1899-44A7-A08C-9962830D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514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9FB4D9"/>
                </a:solidFill>
              </a:defRPr>
            </a:pPr>
            <a:r>
              <a:t>数据挖掘课程项目 · 最终答辩材料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1BDC5-3DFB-4EFE-A047-8671329C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t>小组成员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913BA-4914-4F6B-AA56-F2EC4853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4762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172A"/>
                </a:solidFill>
              </a:defRPr>
            </a:pPr>
            <a:r>
              <a:t>李乘黄 3220251475</a:t>
            </a:r>
          </a:p>
          <a:p xmlns:a="http://schemas.openxmlformats.org/drawingml/2006/main">
            <a:pPr>
              <a:defRPr sz="1725" b="1" i="0">
                <a:solidFill>
                  <a:srgbClr val="0F172A"/>
                </a:solidFill>
              </a:defRPr>
            </a:pPr>
            <a:r>
              <a:t>马啸 3220251484</a:t>
            </a:r>
          </a:p>
          <a:p xmlns:a="http://schemas.openxmlformats.org/drawingml/2006/main">
            <a:pPr>
              <a:defRPr sz="1725" b="1" i="0">
                <a:solidFill>
                  <a:srgbClr val="0F172A"/>
                </a:solidFill>
              </a:defRPr>
            </a:pPr>
            <a:r>
              <a:t>THAM WAN HEI 3820251057</a:t>
            </a:r>
          </a:p>
          <a:p xmlns:a="http://schemas.openxmlformats.org/drawingml/2006/main">
            <a:pPr>
              <a:defRPr sz="1725" b="1" i="0">
                <a:solidFill>
                  <a:srgbClr val="0F172A"/>
                </a:solidFill>
              </a:defRPr>
            </a:pPr>
            <a:r>
              <a:t>化润宇 3220251231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CB345-D577-4B75-B111-269BE9ED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</a:defRPr>
            </a:pPr>
            <a:r>
              <a:t>日期：2026-06-12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CE486-8855-4467-9905-CD1AED1E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16764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B97D6-C7D4-480F-8A17-E6007237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C8646-986A-4DCB-B269-CDD63E42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28900"/>
            <a:ext cx="1409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563EB"/>
                </a:solidFill>
              </a:defRPr>
            </a:pPr>
            <a:r>
              <a:t>6000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054A1-F8C5-460D-8733-9B232E91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19425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目标域微博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62C0F-EE2B-4117-B57C-A1BA6C92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76600"/>
            <a:ext cx="140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含 3600 条 unlabeled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15A3C-19B4-4ED1-8482-83366C3D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76500"/>
            <a:ext cx="16764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2853F-0997-4542-9410-3B1CEBFC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76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52C46-B4C7-4E66-83A3-5F8E92CC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1409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6A34A"/>
                </a:solidFill>
              </a:defRPr>
            </a:pPr>
            <a:r>
              <a:t>0.927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6CB87-D708-4B88-9CFF-D132DE2A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19425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最佳目标 F1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BD9AF-61D2-46D2-AECE-15C91E98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140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E3 target adapter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EBDEC-4274-416D-B41D-C514F246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76500"/>
            <a:ext cx="16764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65EBB5-2DAB-4E15-83F8-D3F33005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76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7BAD1-68FB-411A-8C2C-B066E3E0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28900"/>
            <a:ext cx="1409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59E0B"/>
                </a:solidFill>
              </a:defRPr>
            </a:pPr>
            <a:r>
              <a:t>-0.019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B3B636-2618-41A3-8D6D-6FD829C0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19425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最平衡 DeltaF1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D61AFD-6AAE-41B6-BD33-010A8396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76600"/>
            <a:ext cx="140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E6 char1-5 backbone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0E5B7-B44A-4C17-8C12-7F9C0400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99117C-4D4A-4224-BC92-110282E4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563EB"/>
                </a:solidFill>
              </a:defRPr>
            </a:pPr>
            <a:r>
              <a:t>一句话结论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F8F1CB-D85B-40F7-B09C-5AF68DF9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48200"/>
            <a:ext cx="5334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t>少量目标域标注 + 弱监督/适配策略，能显著缩小评论源域到微博目标域的情感分类性能衰减。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B3447A-732A-404A-903C-28653911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81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Artifacts: final_report, final_metrics, final_data_audit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F58964-03CF-447D-B29C-B7188D36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77696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C02A31-09C1-4EA4-B7FC-06B4C911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CDAC3-CE05-4310-A7C4-6C8D3A16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E1A8B-EC37-4911-9803-DCE840E9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563EB"/>
                </a:solidFill>
              </a:defRPr>
            </a:pPr>
            <a:r>
              <a:t>AGENDA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7E1E4-FEA5-40E8-81EB-992398C7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t>7 分钟汇报按“问题—数据—方法—证据—演示”推进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77C81-CE5B-4DEA-995E-6D080F07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B488C-E96B-4EE6-8834-7DA4CF01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5621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59E5D-6700-45DC-8AC4-10F1EE63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647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DFA34-2747-4655-87E9-8B6A208C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120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72A"/>
                </a:solidFill>
              </a:defRPr>
            </a:pPr>
            <a:r>
              <a:t>问题背景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DED8E-5C5E-41EB-8685-1E727306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95675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4748B"/>
                </a:solidFill>
              </a:defRPr>
            </a:pPr>
            <a:r>
              <a:t>为什么跨域情感分析值得做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F6D28-B244-41E0-A6A0-BEBCEADB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051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8CAC7-C2BD-4F95-8AE4-8BDA07BF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48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7D42C-1B00-4AB7-8709-0FF2CBD7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33625"/>
            <a:ext cx="15621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2771D-AF6C-4E73-BC87-511537D7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52700"/>
            <a:ext cx="647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4A0FE-47F5-42E0-B06E-B92A9307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05150"/>
            <a:ext cx="120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72A"/>
                </a:solidFill>
              </a:defRPr>
            </a:pPr>
            <a:r>
              <a:t>数据介绍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C39B0-CA27-40FA-B9A9-A204E287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95675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4748B"/>
                </a:solidFill>
              </a:defRPr>
            </a:pPr>
            <a:r>
              <a:t>来源、规模、偏移与审计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61E33-E7AE-4FF7-9B37-F56ABD2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4B9E9-A892-4947-A559-903BF9EB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DDD18-CF94-4D4F-B630-ACEB925A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33625"/>
            <a:ext cx="15621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C9824-F8B5-4FFB-A073-D285F1EB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52700"/>
            <a:ext cx="647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9E6D4-DA5D-4394-B51F-0BB5FB51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120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72A"/>
                </a:solidFill>
              </a:defRPr>
            </a:pPr>
            <a:r>
              <a:t>技术方案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75704-B29B-437C-BDB0-55F6FE1A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95675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4748B"/>
                </a:solidFill>
              </a:defRPr>
            </a:pPr>
            <a:r>
              <a:t>架构、基线、进阶模块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9E9FF-B70F-46C6-9B3E-226A2886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051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9E7AC3-1579-451B-9F20-E4FCBA73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CB398-EB25-449D-A9E8-18D0B5C5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33625"/>
            <a:ext cx="15621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7EE54D-57DF-4446-8836-508562CD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52700"/>
            <a:ext cx="647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4B2FC3-9A23-4459-B322-62AB8681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120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72A"/>
                </a:solidFill>
              </a:defRPr>
            </a:pPr>
            <a:r>
              <a:t>实验结果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768ADF-03E8-4216-96D0-D719F08B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95675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4748B"/>
                </a:solidFill>
              </a:defRPr>
            </a:pPr>
            <a:r>
              <a:t>指标、消融、失败案例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584436-2C54-45D9-A2B8-3B3C5321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051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7DD756-737C-49D9-8871-270BADEA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48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BBC12B-B083-429D-B22C-EB1573EA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15621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366BDB-7796-43F9-A0CA-36D0DFD9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647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F2203F-A137-4394-84AA-2C3BEA78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20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72A"/>
                </a:solidFill>
              </a:defRPr>
            </a:pPr>
            <a:r>
              <a:t>总结演示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FF2628-95DF-4E1F-AD23-92A10465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95675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4748B"/>
                </a:solidFill>
              </a:defRPr>
            </a:pPr>
            <a:r>
              <a:t>贡献、局限与 3 分钟系统 demo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DB3029-F2A0-4207-9A51-224E1CEE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t>时间分配建议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0FD284-3C9A-430E-A57E-E4F39A17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t>背景 1 分钟 · 数据 1 分钟 · 方法 2 分钟 · 实验结果 2 分钟 · 总结 1 分钟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E90C08-CA5A-4E2C-B07D-B3CF3B50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4748B"/>
                </a:solidFill>
              </a:defRPr>
            </a:pPr>
            <a:r>
              <a:t>后续另接 3 分钟系统演示视频：展示数据准备、实验运行、结果文件和报告/图表。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6AD2E6-BCAC-4DC5-B030-D5437EF0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81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Source: repository results and final report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A2C1F1-1809-4CD3-AFEC-2C52BAC3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1459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FBC805-04E0-4F5E-BCF5-4E9FC4E9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98703-A0C0-42C7-B174-E537EEB0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7A86F-5911-499D-A831-0BFD3F83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563EB"/>
                </a:solidFill>
              </a:defRPr>
            </a:pPr>
            <a:r>
              <a:t>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A16A6-D656-41F2-ABB2-4FC94098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t>评论域模型直接迁移到微博，会遭遇文本风格与类别分布双重偏移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99748-AAA8-4F10-9366-F01C5A7E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9531D-0388-4E2E-9CEC-E0300C06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629150" cy="224790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DAED5-E716-4761-9ED2-C19EAAE6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172A"/>
                </a:solidFill>
              </a:defRPr>
            </a:pPr>
            <a:r>
              <a:t>源域：评论文本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725D7-6E56-44F5-9DBC-B82DF984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905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t>waimai_10k 外卖评论</a:t>
            </a:r>
          </a:p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t>短文本、商品/服务体验、标签均衡</a:t>
            </a:r>
          </a:p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t>平均长度约 22.9 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2A701-A82F-43D4-B994-0C1D8216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368A4-3606-4BA9-AE31-C941F9F8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381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4748B"/>
                </a:solidFill>
              </a:defRPr>
            </a:pPr>
            <a:r>
              <a:t>模型容易学到：口味、配送、服务等评论词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538FA-0824-43D5-9089-3ADD6D2B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4629150" cy="224790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A2C10-DFA6-43EB-8C54-6334D997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172A"/>
                </a:solidFill>
              </a:defRPr>
            </a:pPr>
            <a:r>
              <a:t>目标域：微博文本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283B5-2F89-48D8-B012-B64ECC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81300"/>
            <a:ext cx="3905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t>weibo_senti_100k 微博情感</a:t>
            </a:r>
          </a:p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t>转发链、表情、反讽、语境混杂</a:t>
            </a:r>
          </a:p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t>负面偏重：负:正 = 2:1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9903A-D988-4B18-B0CB-AF7C3835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43350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823B9-C9CC-4DE8-B542-0D2F7AAD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95750"/>
            <a:ext cx="381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4748B"/>
                </a:solidFill>
              </a:defRPr>
            </a:pPr>
            <a:r>
              <a:t>目标更接近舆情监测：负面召回不能低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17B1E-3812-4B74-81C0-3BB651FE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67050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2F833-BFAB-47BB-8696-931E8BC9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05100"/>
            <a:ext cx="106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563EB"/>
                </a:solidFill>
              </a:defRPr>
            </a:pPr>
            <a:r>
              <a:t>Domain shift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C8D2C-73F8-43D2-B379-66D16331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1A412-0106-485C-B80F-483A8D41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4695DE-2FB3-40A8-A9E1-11D112C9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62525"/>
            <a:ext cx="2209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6A34A"/>
                </a:solidFill>
              </a:defRPr>
            </a:pPr>
            <a:r>
              <a:t>业务价值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173E2-29FD-40B7-83E0-BE4ABD2E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53050"/>
            <a:ext cx="2209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更早发现负面舆情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98BA97-E077-4192-8931-D7DD396C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10225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Recall negative &gt;= 0.85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DC0DC-E733-4D93-AFC4-E3E4BF05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10125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EDDD2-077A-42B1-8572-B0EFFEB0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10125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44F5AC-4EAC-4698-8A9F-891E3E8D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62525"/>
            <a:ext cx="2209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563EB"/>
                </a:solidFill>
              </a:defRPr>
            </a:pPr>
            <a:r>
              <a:t>科学价值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0B67C-A4EC-4537-A861-D8CEADF2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53050"/>
            <a:ext cx="2209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量化跨域性能衰减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67F8FE-E443-4B55-8CB3-096881B9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10225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DeltaF1 = F1s - F1t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4B3CF2-0C0B-4AD6-95C6-4D5EC0B4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0125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832527-F574-4558-B915-3EA16E9B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0125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FB42A1-375C-49A8-8D5C-73A0F40E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62525"/>
            <a:ext cx="2209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59E0B"/>
                </a:solidFill>
              </a:defRPr>
            </a:pPr>
            <a:r>
              <a:t>工程价值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F93CA3-0037-443C-B558-49992D33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53050"/>
            <a:ext cx="2209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可复现实验闭环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14C465-F23D-4799-92F7-71B13183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10225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数据、指标、报告一键生成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46AD93-CAC2-4EBA-9CA9-9F8CF855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341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4E3199-8B04-41F5-8A06-F3E6EE3E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57900"/>
            <a:ext cx="8591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F172A"/>
                </a:solidFill>
              </a:defRPr>
            </a:pPr>
            <a:r>
              <a:t>核心问题：只靠源域训练的模型，目标域表现会明显下降。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025516-9E78-4459-96BB-0160C766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81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Source: repository results and final report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3AC824-ADC8-4040-A69E-DE589922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31885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EFF33E-4BFE-444F-8899-2DC5FA01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868DD-B0A8-47D0-B59A-F7D90B14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F20ED-0B10-4932-8257-7F2423C9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563EB"/>
                </a:solidFill>
              </a:defRPr>
            </a:pPr>
            <a:r>
              <a:t>DATA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52F85-DC39-406C-AAF2-7AB4AB3F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t>正式数据满足目标域 5k+ 要求，并刻意保留负面偏重场景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A3923-F0F2-47DA-A9BD-4AB72610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065CE-A854-40D4-B689-C5F44C34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C4876-53B4-42FC-8B6F-11592826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276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t>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15203-6114-4821-B986-431FE57F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383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F14F0-0F40-446F-A6E4-C2B624E1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t>raw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EE373-A310-42B5-B012-C24121BF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383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A1E5D-D83B-435E-9719-F14307F0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1455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t>processed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2BA94-19A0-45A0-8F69-4AD46152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F1E3E-3DDE-47CB-975C-F03B1419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1455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t>train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5B185-F3D0-4BCA-B687-5CD1BFD4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38350"/>
            <a:ext cx="704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5AA14-53D9-43B4-982D-42625F74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145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t>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1B966-7B93-46C1-BDF3-75A6AA8F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38350"/>
            <a:ext cx="704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B6DA0-F62A-4914-8322-883FF286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145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30B5D-8B32-4962-B2B7-CE2E7DF0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61B2E-244F-4552-96E5-DFE6D447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1455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t>unlabeled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41FAB-4BC7-4D13-B68C-99D8C72E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F6A44C-44C6-4A6E-BE60-B71E6CA6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723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t>正例比例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2E888-2C28-401F-8A19-086F4EE0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D5090C-FC81-472C-B14C-D6FB74E8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723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t>平均长度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570C8-370E-4CDC-8762-EE5B9B02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2BF314-FE20-4542-AD9C-CB5884B4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172311-6B2F-4EE1-9359-218812CA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59E99-74B8-45E4-B791-4A07BF0C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276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源域 waimai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431D8A-2BD0-4DD8-B379-C89DDFBB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3840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6FD392-A430-42C2-844B-BFADA24E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38400"/>
            <a:ext cx="100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513FE8-4D8D-4413-9DCF-1F721979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28925"/>
            <a:ext cx="100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5DB332-2B6C-423B-A9D0-A7DBC7AC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1460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11987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35A955-7090-4D25-98D1-05F8CBB1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384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EF4721-9A30-4410-AE3D-07CFE044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3840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511757-151B-494F-B81D-08578E61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28925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075B56-EE6A-4189-BA12-0BBF8B69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1460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8000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60196F-5547-4B36-B9D0-AA871D4D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4EE2BF-B07D-442A-87F0-C0A4850F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EC3860-5844-4C56-B65F-E648A386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28925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107B9F-81E2-47B0-BC16-B0BD3821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1460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5600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8BC599-ED0E-44FA-BDB0-F679DB8F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38400"/>
            <a:ext cx="704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7E8316-E4A8-4153-ACE0-E942C5AF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3840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C94628-A182-4990-826F-7396B291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28925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F535D3-1009-44BE-96BC-93300332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1460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1200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DC82FE-0961-455A-ADC8-B9419804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38400"/>
            <a:ext cx="704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14AF7C-548A-4A71-B96E-14B30F6A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3840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ED5F79-243B-400B-A482-D786862A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28925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41279D-5276-4CDC-8F08-3B2F5C5D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1460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1200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79E247-22D1-467E-A38A-CF4A6A0E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DF2A06-E856-4DF1-B4E5-9CC23EC2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5588FE-DDE5-4AB3-80FA-EE799322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28925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E219DE-FF60-4DDF-8F88-AAF43531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5828CC-9C4E-4739-8042-561AB889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384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0E564F-2DC5-4284-B355-6E5305C5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38400"/>
            <a:ext cx="87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70211A-8F21-431D-B973-C0613D84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28925"/>
            <a:ext cx="87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B7EEE4-FF2B-4B71-9C11-5D7D4F7A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14600"/>
            <a:ext cx="723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50.0%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C08355-0742-4309-9C71-42925D13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384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C1F970-C1A6-4C51-9AAD-BDBF6D22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38400"/>
            <a:ext cx="87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47F2E5-C42F-4F6B-8A84-1D1F57FE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28925"/>
            <a:ext cx="87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F11581-9D17-47D6-8AA9-64E53E3C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723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22.9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73573C-0E14-4229-9208-C27DE244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353CAC-DA32-4A9B-99A2-1F986CAE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FB561A-E040-4D39-A380-6A356FD6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9A735E-5D81-4CEE-BBC5-9904F57B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276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目标域 weibo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8F1E37-DCF9-4A42-8825-E995FE68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384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85C2F8-67A9-48C7-A5DD-FD7BE9DF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38450"/>
            <a:ext cx="100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5191AC-8247-49C2-A918-34EE5FC6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28975"/>
            <a:ext cx="100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1D88D9-4B79-41B4-8E90-187FF03C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1465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119000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AEA3A4E-139E-454E-8B3A-61F339EB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384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1A772B5-9D90-4C01-96AD-6EBD8371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3845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BF1D5F1-FB15-42BA-892F-2AC30F7A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28975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D4D1625-38E0-4AA8-9341-3A944D8B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6000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E8140D8-1F68-40B9-BF5A-BFB9B77F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3845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64C759C-AD67-4B77-9B94-724ED301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38450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A371DF-BF1D-41AF-A287-FB962C36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28975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553DCDD-C53B-4E04-91BE-91C8D858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1465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600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C3500BD-73D8-47FA-93EB-98DE8FD6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38450"/>
            <a:ext cx="704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194A38-7BEF-40A0-92FB-FC3B4B8E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38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3864CFC-AA99-48B8-BA97-BFC600AF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28975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11551B9-FFBE-4BF0-8D81-8B5E3C9F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146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600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3DCB737-F91C-40CE-AE43-9533D8D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8450"/>
            <a:ext cx="704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48906A6-49C6-4F68-9B9A-D1E214D3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8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8A1867B-1079-4B31-ADED-2FF8AEFC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28975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CDEB8E1-53CC-488B-85A8-9CE6F4AA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146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1200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E0961C0-79FC-4A62-AE50-FEB291F6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6D5E88E-D05C-4872-84B9-D7955542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5EECBC5-A2C6-4BD2-8BAB-9FF0B3D3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28975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A0244B1-B8DF-4825-8B4F-D14007D8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3600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CDD3F07-A74D-4AD1-89FD-F068F8B0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384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919CE5-94B8-4729-9C39-6D4FCA28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38450"/>
            <a:ext cx="87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6868EBF-A8AB-4BBA-9097-821A4BC0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28975"/>
            <a:ext cx="87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ADBE454-1982-4E2B-AF2F-B61E9B9E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723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33.3%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3A027BE-25E0-4CF9-9327-0CA94D38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54B7871-B375-4890-AD12-CCCC544D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87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49E48BA-8C34-4C05-8B11-8FC9EC5B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28975"/>
            <a:ext cx="87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6A67240-0CF2-4976-8F74-B2DB4F31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723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0F172A"/>
                </a:solidFill>
              </a:defRPr>
            </a:pPr>
            <a:r>
              <a:t>51.9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7DF1952-E1F4-4013-BC23-28786379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55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C21278C-DDAE-41F6-A985-395DB614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855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C01CAE4-7AA5-41A1-B09C-47AEB936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24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0DBB5D1-D9A6-4BAB-9B9C-95B860CA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175539B-682F-4692-8B91-D0493FF4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057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DC2626"/>
                </a:solidFill>
              </a:defRPr>
            </a:pPr>
            <a:r>
              <a:t>2:1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7C7FAB0-8E01-4FAC-AEFA-73A801AB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2057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目标域负:正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057C6E7-4422-4CEB-99D0-B23A3F10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2057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模拟负面舆情偏重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3370EAB-A6BC-4351-B7C9-0559CB5A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33800"/>
            <a:ext cx="2324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C1CB105-1ABD-4385-B61C-9A5C648D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338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01D3E0B-A095-4759-A671-36760C85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86200"/>
            <a:ext cx="2057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563EB"/>
                </a:solidFill>
              </a:defRPr>
            </a:pPr>
            <a:r>
              <a:t>3600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0D6ECAB-15AC-4AC8-9524-B8181A43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76725"/>
            <a:ext cx="2057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未标注目标样本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202523B-D294-43D3-92E7-49BF97CB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33900"/>
            <a:ext cx="2057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用于弱监督伪标注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1861A27-9421-4940-8D57-26CBF254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33800"/>
            <a:ext cx="2324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A00CBA0-F2B4-4032-A4F3-0E980E9E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338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28D9912-0A40-42B5-9467-7675E658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86200"/>
            <a:ext cx="2057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6A34A"/>
                </a:solidFill>
              </a:defRPr>
            </a:pPr>
            <a:r>
              <a:t>10%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1AB1477-2D05-4737-BA50-7EF578BE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76725"/>
            <a:ext cx="2057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目标域金标训练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461A0F7-AC6A-4332-AFB4-98CD5F4E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33900"/>
            <a:ext cx="2057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少量标注适配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7E8AB98-E206-4008-9CB3-7AD2B1AA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576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563EB"/>
                </a:solidFill>
              </a:defRPr>
            </a:pPr>
            <a:r>
              <a:t>核心挑战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373A7CB-DB7B-4B27-9F9B-56602BB8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338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983DA02-122D-4B80-99FC-F8A1B5D2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57650"/>
            <a:ext cx="2305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F172A"/>
                </a:solidFill>
              </a:defRPr>
            </a:pPr>
            <a:r>
              <a:t>文本更长，且转发链、表情符号更多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0875665-8C2D-41A9-830C-CF7737B7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910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F546069-B3B6-4FC8-A54F-E9513F9B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14850"/>
            <a:ext cx="2305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F172A"/>
                </a:solidFill>
              </a:defRPr>
            </a:pPr>
            <a:r>
              <a:t>类别分布不均衡，负面召回是硬指标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E34B2F8-9777-4EFA-AB10-1C130DCD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482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CC55AD6-D611-4DF7-978D-41732783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72050"/>
            <a:ext cx="2305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F172A"/>
                </a:solidFill>
              </a:defRPr>
            </a:pPr>
            <a:r>
              <a:t>源域评论词与微博语境词重叠有限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D0269F9-BCB5-4732-BC4E-BC05B17D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t>数据审计产物：results/final_data_audit.json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0002289-635B-4796-8286-014604A6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81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Source: results/final_data_audit.json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C1CE913-EC7C-4C22-9654-6CC8B7F1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20018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65B70A-6A9A-4672-BB2A-B311B9F2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2AF28-8AA3-415B-89E1-B6D53275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5AAD1-89C0-420A-A3A6-8343D9EA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563EB"/>
                </a:solidFill>
              </a:defRPr>
            </a:pPr>
            <a: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38A65-E2EA-415D-AC9A-FA784D3C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t>系统从公开数据到报告产物全链路可复现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8F6B3-FA99-459F-A3E4-0487ED5A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1D77E-0442-46F8-A3DE-8FD96C26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52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DBD0A-20EE-495D-A9D3-B311C80B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E9CA8-F9D6-4E69-8422-704B243D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F172A"/>
                </a:solidFill>
              </a:defRPr>
            </a:pPr>
            <a:r>
              <a:t>公开语料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DC785-34D7-4624-B223-501209FF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257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waimai_10k</a:t>
            </a:r>
          </a:p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weibo_senti_100k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F3608-0101-4EE3-AD05-CB5E25F3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717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A320B-5F01-4AC6-B681-BF6C6355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9825"/>
            <a:ext cx="228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947B7-CE01-4FE1-9B12-4CB51D15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1676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65898-AC50-4876-84FD-50876D71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4709D-C6FA-4254-A19A-7096FBBA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90750"/>
            <a:ext cx="140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F172A"/>
                </a:solidFill>
              </a:defRPr>
            </a:pPr>
            <a:r>
              <a:t>清洗去噪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43BC7-5EFE-494C-A971-C61E0857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140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TextCleaner</a:t>
            </a:r>
          </a:p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去重、过滤噪声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E7F71-AADE-43D3-AE08-596C04EB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717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E22FE-FEBB-442C-82BA-089EDB05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9825"/>
            <a:ext cx="228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40F94-923A-481B-9C09-6D7316DD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38350"/>
            <a:ext cx="1714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B5316-CDD4-4666-94DD-245F5C4A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383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465354-A1B3-4924-B41A-B3487A6E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F172A"/>
                </a:solidFill>
              </a:defRPr>
            </a:pPr>
            <a:r>
              <a:t>数据切分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B8A40-9CF9-42B3-ABBD-EDEEDC7B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33650"/>
            <a:ext cx="1447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train / val / test</a:t>
            </a:r>
          </a:p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unlabeled 目标域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E9076-F388-4D75-ACBC-C0DD4CE3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218079-D7E0-4A1D-BF73-4FF7B334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9825"/>
            <a:ext cx="228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951820-655B-44F2-B523-1F2AD9DB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38350"/>
            <a:ext cx="1714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FB5AF1-DAE5-4FA4-AAE3-CC5A154A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383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37DECD-8BF9-4C50-9710-68C58B3C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F172A"/>
                </a:solidFill>
              </a:defRPr>
            </a:pPr>
            <a:r>
              <a:t>特征编码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D904D-E67F-470B-833C-9C7E9965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33650"/>
            <a:ext cx="1447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char n-gram</a:t>
            </a:r>
          </a:p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情感词典特征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4781B0-D810-4492-96CE-B4D24C16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C4951D-F25C-495A-BD57-5C9AB746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09825"/>
            <a:ext cx="228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2133F2-5E4F-46B8-A5FF-C3228E18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38350"/>
            <a:ext cx="14668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D3D9DE-F9FC-420E-82E6-C4E69BB2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383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B6377C-A61E-4663-9C34-E72B01EF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907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F172A"/>
                </a:solidFill>
              </a:defRPr>
            </a:pPr>
            <a:r>
              <a:t>实验矩阵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CBD6F7-47FE-4065-AA44-59F5F1EB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33650"/>
            <a:ext cx="1200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E0-E6</a:t>
            </a:r>
          </a:p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3 seeds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B38A2C-D989-4AB5-8A28-5E0D1D2F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143250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4A7250-463B-4A82-AE64-B2C7C5FD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714750"/>
            <a:ext cx="28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563EB"/>
                </a:solidFill>
              </a:defRPr>
            </a:pPr>
            <a: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C3227F-E63A-47BE-84F9-F1705371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38600"/>
            <a:ext cx="2038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1A589C-204F-4D53-B824-CC705594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386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DF5F8E-1BE0-4151-9B3E-DE830D59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1771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F172A"/>
                </a:solidFill>
              </a:defRPr>
            </a:pPr>
            <a:r>
              <a:t>阈值与评估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F08192-5C3A-4CEB-B304-B1056F59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33900"/>
            <a:ext cx="1771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target-val 调阈值</a:t>
            </a:r>
          </a:p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Macro-F1 / AUC / Recall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AD4B47-CF09-4FE9-B628-03DC453E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720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7CBF5A-A855-4AD7-9E04-B3225DB7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10075"/>
            <a:ext cx="228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08E9CD-4071-4DB5-BDAF-CD50D881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38600"/>
            <a:ext cx="2266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43A07B-9645-4926-B44E-3154CACB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386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B9F92C-44D8-4FA4-AADE-E4A2941A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910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F172A"/>
                </a:solidFill>
              </a:defRPr>
            </a:pPr>
            <a:r>
              <a:t>指标与错误样本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EBAFB7-4F7A-49C5-B9D7-0DF98163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33900"/>
            <a:ext cx="2000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final_metrics.json</a:t>
            </a:r>
          </a:p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summary.csv / error_cases.csv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A22BB1-660E-4088-959E-E328126C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720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001898-22B6-4645-9D00-AFE4D335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10075"/>
            <a:ext cx="228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149610-6385-4802-9DDA-2A631BAD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38600"/>
            <a:ext cx="2266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F73459-6F3E-4A2E-B42F-C032A11C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386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1D8837-B1B6-4953-BD6F-9528CEF6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910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F172A"/>
                </a:solidFill>
              </a:defRPr>
            </a:pPr>
            <a:r>
              <a:t>报告与图表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371BF6-C7AF-4C17-AEC7-7AFE071F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2000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final_report.pdf</a:t>
            </a:r>
          </a:p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t>final_metrics_chart.png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6FE2E0-E847-49FC-B4C9-6224AD35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39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0616B1-1B58-4590-B468-9E29F0D2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563EB"/>
                </a:solidFill>
              </a:defRPr>
            </a:pPr>
            <a:r>
              <a:t>架构要点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D87955-3B83-4491-A0E0-68C30E01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05475"/>
            <a:ext cx="876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F172A"/>
                </a:solidFill>
              </a:defRPr>
            </a:pPr>
            <a:r>
              <a:t>每一步都有文件产物：数据审计、实验指标、错误样本和最终报告都可追溯；验证脚本负责检查数据规模、E0-E6 完整性和达标指标。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8F4169-2B12-48E3-9A5C-21BDBEC3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81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Flow diagram source: scripts/prepare_real_data.py, src/experiments/final_runner.py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6C7C67-2528-4A61-9A8B-A1C5A2C5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1662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E95894-67BA-4C90-9322-964B123C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C0094-D168-4158-8446-D4D706D4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F3B7A-370E-4ABB-82E2-DADBDA00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563EB"/>
                </a:solidFill>
              </a:defRPr>
            </a:pPr>
            <a: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C59EB-5DB5-464D-9D4A-BC6E9574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t>实验矩阵隔离每个模块的贡献，而不是只报告一个最终分数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6A545-DD6E-4D2B-9161-1CAAC55D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E8C52-B1BB-4375-94D6-76908FD3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0B517-B0F3-4EB3-93B2-7279D67B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C633D-5FAA-4D28-9AFE-AA5FA730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526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4C353-AB7A-4142-A6D9-75F1359B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28825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389AC-5A76-48DF-817B-94D10E6C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52625"/>
            <a:ext cx="335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A7CCF-52D4-43AD-B0C3-C310EE1B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28825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关键变化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098C5-EC13-47FB-83E7-E08EA6AD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6934C-1D07-4E03-BE81-F0FD70E9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5CF17-2177-4F31-829A-9C401DE7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F3D53-E63E-44C0-88AA-C41167FF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E0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23F39-95F2-45DB-8BAC-A7A1BAD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764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4499E-34ED-403F-8650-494676C4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7647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0E1FC-DC4D-4ACD-993B-E757A4B6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908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090BC-6B3E-4104-88D7-607C0FF4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52675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TF-IDF+LR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0A5F1-F8A6-4E99-8E63-62996FA7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76475"/>
            <a:ext cx="335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BB2F1D-CE07-4743-BEA2-62893A32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7647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47BC5-027C-4E78-A57C-048B8F97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9080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0241B-4697-474E-94B3-212F413B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52675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仅源域训练，浅层下限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8547CA-C14F-4978-BC5E-878C4342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71915-80FB-4025-BB3B-BC9D1DED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4E02E0-0143-4D6D-9F36-4F3CD55D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475BC1-DDCD-4918-AFDD-FB231A78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E1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E7EC0B-B7E3-41A6-A572-3678D373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003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AF39F7-2AC2-4165-80D7-1234F7ED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0032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5788DA-B0D9-4D8C-996D-0CAFAF53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683B9A-B071-424C-ABD1-C4FE2EB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76525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强 lexical encoder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F8D957-FF50-4B13-80B7-6A5EB5D4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0325"/>
            <a:ext cx="335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21E4B7-F7A0-4736-A334-633EAB34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032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AAEF0C-05D2-41B5-A156-3417ADF2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146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4E7C88-F762-4324-A1E7-4F060022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76525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加入 char n-gram + 情感词典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B8F26D-30F2-40AB-A0AE-CA4773D9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D15572-4DD2-4893-8561-B0F883DB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88A58A-9887-49C3-8021-9611B780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387C5C-C36E-4198-B3F6-23F9796D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E2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69D3F1-40A7-4F5B-965A-E8776DE9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241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1F84E2-FCD0-4B17-AD96-8D8C6BA7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2417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6C838B-EB72-4015-85D3-86164941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4C1B12-CEFB-42B1-82B7-B81B1539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00375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弱监督伪标注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39208B-B2BC-456F-90FF-31B97484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24175"/>
            <a:ext cx="335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161C3C-69CB-4413-8C74-853E91A5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2417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A5FEF5-D5DC-4C4C-ABB8-4415F188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3850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ED4CBF-15AD-40F4-80F4-2B0C6879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0375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从 unlabeled 目标域选择高置信样本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1DDD56-E3B1-405D-82D9-AF11B61D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E38F15-8427-4F30-A3C0-E84F47B4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F25116-A3D3-48A8-BC0E-ECFE3140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24060F-1340-471E-95B3-A7530216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E3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92CFC5-D922-4A28-96EA-B0BD0BD9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480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25BB86-2758-4F24-BCB8-2137C7B9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4802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C41FA6-A0E7-45AD-88B4-09D70F93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623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901DD0-E307-4711-8286-7A2D2479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24225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目标域 adapter calibration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913974-CEB2-40BF-8511-19462895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48025"/>
            <a:ext cx="335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94F162-B3A2-4575-9C21-9694C50C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4802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D5131A-50F7-4CE3-A014-E1F34904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623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52A29C-43B9-43A7-885C-51913A89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24225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少量目标域金标校准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660C08-28F9-401A-A7D6-C19624AD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857A1C-1941-468F-9030-52F2D912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8CD60F-FB63-4168-A56D-04FB55E5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448170-CF37-4F04-B688-28ADD5BF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E4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084C5A-39C2-4392-9FE5-A2C80960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718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DC9229-3533-4162-B940-E873E783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7187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8B1B4BF-6481-40AA-A448-555A7A7F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B154321-CA73-4185-A770-D80238BE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48075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伪标注 + adapter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406F9A4-5295-48D3-8515-18D3FB0B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71875"/>
            <a:ext cx="335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548C46-9682-41A9-A649-560FED1E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7187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E6F1B99-1FEE-4C81-BE26-92203A02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8F0922-67EB-494E-84A6-6A0E46AF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48075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组合 E2 与 E3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5836BC0-3BBB-44AA-8F64-EF9A5C64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E0D4A1-48A8-43D3-980E-2AAB2028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0A14AE2-677D-4B9B-90AA-695273F8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03733F5-D85A-4502-B434-60DD960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E5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D5F17C5-33E8-4618-8750-818DF777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957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89481FF-E653-44CA-B2B6-E463994C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9572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122E3B6-0382-4974-A813-1592E267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100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0382EB2-92BC-44D2-ADE1-AF2D0CEF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71925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领域特征过滤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B55E17D-3509-42D3-ABDC-15469EA1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95725"/>
            <a:ext cx="335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7E37399-D3DD-42A8-A108-5AA2CC9A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9572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FC92201-FCD1-4DBD-943B-698BC816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100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7294E70-1A70-4699-A75E-C2F7D987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71925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过滤强领域特异 n-gram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CBAF813-F84F-4F89-9303-3C992CC6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2B8373F-39CB-4732-BBA1-7F37B2CD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34099E3-0B94-4F14-862A-A62AC4FC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3747702-746F-4BA6-8DD8-7581D667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E6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2A572E7-7C1D-4AFD-AD92-BFE2EA93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195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490AB50-B571-4B3E-BE7B-EA0AD87F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1957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9DB3280-F630-4879-B306-B1BBA454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339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66814EE-600D-43CE-AE92-03A65C9F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char1-5 backbone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4AB3B50-2CE6-4F90-B376-E0884844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19575"/>
            <a:ext cx="335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D6FF541-4F76-4749-93D3-9A1D0937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1957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1A5684A-FF7F-4D85-887E-A03156A2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3390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7113C01-D896-421E-845E-898838BA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95775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扩大特征空间，替代 backbone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78A4366-199C-44A3-A548-762A0A18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2B60A36-CED8-45FA-9C5B-21193CAD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B4EA6FC-38AD-47C5-B07E-594F6F9F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563EB"/>
                </a:solidFill>
              </a:defRPr>
            </a:pPr>
            <a:r>
              <a:t>核心逻辑伪代码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71314B6-B1EA-4EDF-8065-D7330B5E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24100"/>
            <a:ext cx="40005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546EF6E-D321-4FA5-AC42-7B6EB782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35814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E5E7EB"/>
                </a:solidFill>
              </a:defRPr>
            </a:pPr>
            <a:r>
              <a:t>for method in E0..E6:</a:t>
            </a:r>
          </a:p>
          <a:p xmlns:a="http://schemas.openxmlformats.org/drawingml/2006/main">
            <a:pPr>
              <a:defRPr sz="1125" b="0" i="0">
                <a:solidFill>
                  <a:srgbClr val="E5E7EB"/>
                </a:solidFill>
              </a:defRPr>
            </a:pPr>
            <a:r>
              <a:t>  train_data = source</a:t>
            </a:r>
          </a:p>
          <a:p xmlns:a="http://schemas.openxmlformats.org/drawingml/2006/main">
            <a:pPr>
              <a:defRPr sz="1125" b="0" i="0">
                <a:solidFill>
                  <a:srgbClr val="E5E7EB"/>
                </a:solidFill>
              </a:defRPr>
            </a:pPr>
            <a:r>
              <a:t>  if pseudo: add high_conf(unlabeled)</a:t>
            </a:r>
          </a:p>
          <a:p xmlns:a="http://schemas.openxmlformats.org/drawingml/2006/main">
            <a:pPr>
              <a:defRPr sz="1125" b="0" i="0">
                <a:solidFill>
                  <a:srgbClr val="E5E7EB"/>
                </a:solidFill>
              </a:defRPr>
            </a:pPr>
            <a:r>
              <a:t>  if adapter: add weighted(target_train)</a:t>
            </a:r>
          </a:p>
          <a:p xmlns:a="http://schemas.openxmlformats.org/drawingml/2006/main">
            <a:pPr>
              <a:defRPr sz="1125" b="0" i="0">
                <a:solidFill>
                  <a:srgbClr val="E5E7EB"/>
                </a:solidFill>
              </a:defRPr>
            </a:pPr>
            <a:r>
              <a:t>  model = sparse_logreg(features)</a:t>
            </a:r>
          </a:p>
          <a:p xmlns:a="http://schemas.openxmlformats.org/drawingml/2006/main">
            <a:pPr>
              <a:defRPr sz="1125" b="0" i="0">
                <a:solidFill>
                  <a:srgbClr val="E5E7EB"/>
                </a:solidFill>
              </a:defRPr>
            </a:pPr>
            <a:r>
              <a:t>  tau = argmax F1(target_val)</a:t>
            </a:r>
          </a:p>
          <a:p xmlns:a="http://schemas.openxmlformats.org/drawingml/2006/main">
            <a:pPr>
              <a:defRPr sz="1125" b="0" i="0">
                <a:solidFill>
                  <a:srgbClr val="E5E7EB"/>
                </a:solidFill>
              </a:defRPr>
            </a:pPr>
            <a:r>
              <a:t>        with neg_recall &gt;= 0.85</a:t>
            </a:r>
          </a:p>
          <a:p xmlns:a="http://schemas.openxmlformats.org/drawingml/2006/main">
            <a:pPr>
              <a:defRPr sz="1125" b="0" i="0">
                <a:solidFill>
                  <a:srgbClr val="E5E7EB"/>
                </a:solidFill>
              </a:defRPr>
            </a:pPr>
            <a:r>
              <a:t>  report source_test / target_test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6671170-6A04-41DC-8632-0F912B84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33950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B859C43-001B-4F3F-97E0-152AF33A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95875"/>
            <a:ext cx="819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6A34A"/>
                </a:solidFill>
              </a:defRPr>
            </a:pPr>
            <a:r>
              <a:t>创新点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120FC1E-D683-4C26-BD9E-92F81884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38725"/>
            <a:ext cx="2647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F172A"/>
                </a:solidFill>
              </a:defRPr>
            </a:pPr>
            <a:r>
              <a:t>把数据诊断、伪标注、少量目标域校准和领域过滤放进同一消融框架，用 DeltaF1 和负面召回共同约束。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F1F2FDB-8FD1-4583-AB63-94A1B960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81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Source: src/experiments/final_runner.py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9F1950A-9C16-4334-841F-2D476C40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93256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DCBA9D-4AD1-4483-940E-499D85E3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05897-7BA0-4561-AC48-260DAA0C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953C9-2DED-4BA6-91E2-7DEA72D2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563EB"/>
                </a:solidFill>
              </a:defRPr>
            </a:pPr>
            <a: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65242-CCF0-4534-B72A-EC8F197B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t>E3 目标域 F1 最佳，E6 跨域衰减最平衡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5FF8D-8C41-4A59-BAA8-A29B1B33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3B99D-3021-4BEB-BC18-8C8A0393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1247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E1507-1F00-4CE7-9CF9-D78CBD33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172A"/>
                </a:solidFill>
              </a:defRPr>
            </a:pPr>
            <a:r>
              <a:t>Target Macro-F1 / Negative Recall / Target AUC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A592B-2A9C-46FB-90FD-E624DB9F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1419"/>
            <a:ext cx="133350" cy="1488281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13845-CE40-4B29-AE01-5631C896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40919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563EB"/>
                </a:solidFill>
              </a:defRPr>
            </a:pPr>
            <a:r>
              <a:t>0.63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C9D3F-0115-44FA-97B0-9ED7AA9D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09963"/>
            <a:ext cx="133350" cy="17097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739BC-7751-4E55-A6B8-903EE417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19463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A34A"/>
                </a:solidFill>
              </a:defRPr>
            </a:pPr>
            <a:r>
              <a:t>0.72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5678C-3C49-4DC6-A562-C8D8074D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8544"/>
            <a:ext cx="133350" cy="1631156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31FAC-02ED-44BF-B44C-3CD171B2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98044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F59E0B"/>
                </a:solidFill>
              </a:defRPr>
            </a:pPr>
            <a:r>
              <a:t>0.69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93408-7B60-4443-A0F7-89E0BBEF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62575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172A"/>
                </a:solidFill>
              </a:defRPr>
            </a:pPr>
            <a:r>
              <a:t>E0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DD8F3-C61C-441A-B6F1-C4D4CD33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86175"/>
            <a:ext cx="133350" cy="1533525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6B3E1-E48B-4F67-8F1A-5BE78950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495675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563EB"/>
                </a:solidFill>
              </a:defRPr>
            </a:pPr>
            <a:r>
              <a:t>0.64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97183-F5B3-4A91-91E6-4B6E5DA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40869"/>
            <a:ext cx="133350" cy="2078831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9D5A2-34A1-4855-8965-B1AB1F3D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950369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A34A"/>
                </a:solidFill>
              </a:defRPr>
            </a:pPr>
            <a:r>
              <a:t>0.87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BA4C48-4EDD-4060-8401-9C716BFA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07581"/>
            <a:ext cx="133350" cy="1712119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F439B-D6A9-4C9C-98DA-473F5BC1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17081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F59E0B"/>
                </a:solidFill>
              </a:defRPr>
            </a:pPr>
            <a:r>
              <a:t>0.72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A1977-4094-4578-AACE-9E0EA7E8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62575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172A"/>
                </a:solidFill>
              </a:defRPr>
            </a:pPr>
            <a:r>
              <a:t>E1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EB4CE4-297C-45B4-9DB7-1BC81A95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26619"/>
            <a:ext cx="133350" cy="1793081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2FE641-2245-4FFC-A52A-27CC05DC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36119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563EB"/>
                </a:solidFill>
              </a:defRPr>
            </a:pPr>
            <a:r>
              <a:t>0.75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445FC8-5220-48BE-AE8B-8D09E5B5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26581"/>
            <a:ext cx="133350" cy="2093119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22C59-3140-419D-B5AA-09B0E864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936081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A34A"/>
                </a:solidFill>
              </a:defRPr>
            </a:pPr>
            <a:r>
              <a:t>0.88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296FCC-A130-4702-8129-567789B7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33738"/>
            <a:ext cx="133350" cy="1985963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BAE884-1493-4057-A5BB-614F2A0D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43238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F59E0B"/>
                </a:solidFill>
              </a:defRPr>
            </a:pPr>
            <a:r>
              <a:t>0.83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8CFCDB-B912-44ED-9F7E-AAFE285D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362575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172A"/>
                </a:solidFill>
              </a:defRPr>
            </a:pPr>
            <a:r>
              <a:t>E2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E9C1AF-E2CB-4C12-9582-6A8B6401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12281"/>
            <a:ext cx="133350" cy="2207419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39E86B-C30B-433A-9E61-524049B6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21781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563EB"/>
                </a:solidFill>
              </a:defRPr>
            </a:pPr>
            <a:r>
              <a:t>0.93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4DBF96-686F-4769-A7FF-F21F2CFE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38463"/>
            <a:ext cx="133350" cy="22812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98307C-A6BD-40B1-9B37-319281F4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47963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A34A"/>
                </a:solidFill>
              </a:defRPr>
            </a:pPr>
            <a:r>
              <a:t>0.96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9FC271-4798-4329-A4A2-946CFF09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86075"/>
            <a:ext cx="133350" cy="2333625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B425A4-09D7-4072-84D7-B820B0A0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95575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F59E0B"/>
                </a:solidFill>
              </a:defRPr>
            </a:pPr>
            <a:r>
              <a:t>0.98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463D87-B4A1-4C2C-94AA-8B39CE5C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62575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172A"/>
                </a:solidFill>
              </a:defRPr>
            </a:pPr>
            <a:r>
              <a:t>E3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FC02D9-6B74-4845-8251-0E46795C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83719"/>
            <a:ext cx="133350" cy="2135981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05E949-1F43-46E3-8A1E-C717D33C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93219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563EB"/>
                </a:solidFill>
              </a:defRPr>
            </a:pPr>
            <a:r>
              <a:t>0.90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8A3B9F-8E99-48BE-B0D9-43847247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5619"/>
            <a:ext cx="133350" cy="2174081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6E8CD7-5341-473E-A1AC-9B7844BB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55119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A34A"/>
                </a:solidFill>
              </a:defRPr>
            </a:pPr>
            <a:r>
              <a:t>0.91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F0684E-3C5C-4BB0-8B52-F996236A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26556"/>
            <a:ext cx="133350" cy="2293144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7256B7-2A44-4DAC-8033-7F8B10A5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36056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F59E0B"/>
                </a:solidFill>
              </a:defRPr>
            </a:pPr>
            <a:r>
              <a:t>0.96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10F138-A76E-4377-A7E6-F22BA082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62575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172A"/>
                </a:solidFill>
              </a:defRPr>
            </a:pPr>
            <a:r>
              <a:t>E4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DA94DE-34F0-415A-A9A2-6A9BBF65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98069"/>
            <a:ext cx="133350" cy="1621631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DDC271-13D1-47AA-9D77-49B8FBAF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407569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563EB"/>
                </a:solidFill>
              </a:defRPr>
            </a:pPr>
            <a:r>
              <a:t>0.68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340C75-D084-4300-B338-18659091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81338"/>
            <a:ext cx="133350" cy="2138363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975B3B-BE93-487E-A194-4E76CD8C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90838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A34A"/>
                </a:solidFill>
              </a:defRPr>
            </a:pPr>
            <a:r>
              <a:t>0.90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DBD80C-0012-431B-8E23-1D4116B8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4231"/>
            <a:ext cx="133350" cy="1845469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B616BF-D0A4-4FC2-BDE0-89863CEC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183731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F59E0B"/>
                </a:solidFill>
              </a:defRPr>
            </a:pPr>
            <a:r>
              <a:t>0.78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3AC6CC-CEDF-4F81-AA04-573EF3CC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362575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172A"/>
                </a:solidFill>
              </a:defRPr>
            </a:pPr>
            <a:r>
              <a:t>E5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B5434B-DBB4-4FEA-8472-DEA9E634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00388"/>
            <a:ext cx="133350" cy="2119313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58B0FE-C46C-46DC-B50F-5BFF0128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909888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563EB"/>
                </a:solidFill>
              </a:defRPr>
            </a:pPr>
            <a:r>
              <a:t>0.89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98BE01-2CC8-4D05-80B2-717AD265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93231"/>
            <a:ext cx="133350" cy="2226469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ECDD84-CF7C-4ED1-BEB1-FD147EEB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02731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A34A"/>
                </a:solidFill>
              </a:defRPr>
            </a:pPr>
            <a:r>
              <a:t>0.94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273E24-76A2-4BC8-B37F-876726F1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28938"/>
            <a:ext cx="133350" cy="2290763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449A6A-2834-466C-90DF-354263C0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38438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F59E0B"/>
                </a:solidFill>
              </a:defRPr>
            </a:pPr>
            <a:r>
              <a:t>0.96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FA117B-8B3D-4CE3-83D4-889F1DE9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62575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172A"/>
                </a:solidFill>
              </a:defRPr>
            </a:pPr>
            <a:r>
              <a:t>E6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970F0B-0382-43C6-83B4-51F3C68F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632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B036CB-133B-459A-92EB-C90BEBD9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57400"/>
            <a:ext cx="114300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27DA44-9BB5-4239-9F62-BAB094D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00250"/>
            <a:ext cx="781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F172A"/>
                </a:solidFill>
              </a:defRPr>
            </a:pPr>
            <a:r>
              <a:t>Target F1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68B0B9-F26A-48BC-8E5C-69945B8F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57400"/>
            <a:ext cx="114300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CF798D-2D39-49C3-B8BB-15E95941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895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F172A"/>
                </a:solidFill>
              </a:defRPr>
            </a:pPr>
            <a:r>
              <a:t>Neg Recall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60FFEF-B059-4728-BFA2-7372CB36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57400"/>
            <a:ext cx="114300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01534F-D9C4-41D9-A362-57C2FDF6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00250"/>
            <a:ext cx="43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0F172A"/>
                </a:solidFill>
              </a:defRPr>
            </a:pPr>
            <a:r>
              <a:t>AUC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C51130-5C8D-4A42-8E90-8D4D0282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2724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ECB2A4E-DE45-4F07-8B25-63041B51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6B15F7-0D9B-4B2B-8627-6225067A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457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6A34A"/>
                </a:solidFill>
              </a:defRPr>
            </a:pPr>
            <a:r>
              <a:t>0.927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A1C6D5-8B68-4AC4-9827-57BAF470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57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E3 Target F1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6A99D52-7543-453F-9146-94C1886E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2457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少量目标域金标校准最有效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9914A2D-AD33-4AD0-A5A8-196DD6E5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6600"/>
            <a:ext cx="2724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9320192-DCAA-4964-9350-C40841EC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66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1F008A-4809-4349-B2ED-F5E479B4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2457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563EB"/>
                </a:solidFill>
              </a:defRPr>
            </a:pPr>
            <a:r>
              <a:t>-0.019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FA1F87-3279-48F8-A955-C857F9DF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9525"/>
            <a:ext cx="2457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E6 DeltaF1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7BFE78F-0D71-4B22-9E2E-D93716AB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76700"/>
            <a:ext cx="2457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源域/目标域性能最均衡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C63D9C9-4AC7-411A-A11E-D80F26B7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0100"/>
            <a:ext cx="2724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37BBEAD-2375-45A0-91E5-D82318C3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01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FB139CA-11F2-4004-83E3-D23DAC8A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457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DC2626"/>
                </a:solidFill>
              </a:defRPr>
            </a:pPr>
            <a:r>
              <a:t>0.958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506ECEC-FB01-4C5D-8245-92086374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53025"/>
            <a:ext cx="2457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E3 负面召回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14CEED3-1FA4-49FD-84B6-1F3E0F03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10200"/>
            <a:ext cx="2457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满足舆情场景 Recall 要求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F420C64-FB70-4561-9F40-EC57C889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981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t>基线 E0 的目标 F1 只有 0.625；E3 提升到 0.927，说明目标域少量金标校准是最大收益来源。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991C8A1-3BB9-4E9D-A4E2-A5F81A32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81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Source: results/final_summary.csv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CB4E06F-7501-493D-893A-8B044692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00850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17B9C0-3628-41A5-A1B9-B5096101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624B1-F2DD-46AB-B3AC-EC2E026E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1992B-22F9-4368-B5F1-73F77E99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563EB"/>
                </a:solidFill>
              </a:defRPr>
            </a:pPr>
            <a:r>
              <a:t>ABLATION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B35F9-2896-41AC-80BF-E2B0E6BB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t>消融证明：伪标注和校准有效，过度领域过滤反而损伤正例召回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228B7-0D5F-4FE4-B323-974A9101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9ECF8-28E6-4D56-8E93-AAF5E9C9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07485-8EF3-4EE3-829F-E9D76BD0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733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D5119-1508-404B-9CC3-00B975CF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431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5682A-F7DE-46AF-93BA-B4B6B9D4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800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目标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A22C9-5BC7-41E5-9FB9-9DEA4102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431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95E49-8BF3-4019-83BB-43EB7B2E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19300"/>
            <a:ext cx="89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DeltaF1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00F86-31EB-493A-BA38-1C7CA4E0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6187A-EBFB-4012-84B0-5AED6426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1930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负面召回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94300-FB34-424D-B252-A5AC9B25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43100"/>
            <a:ext cx="440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2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30E79-712A-416B-8166-D8DCC22E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19300"/>
            <a:ext cx="424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94FD0-B870-4382-8968-5C0CE9EF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84A5D-D6D0-48A0-A119-76DA837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678E2-7034-494C-B2FE-ABCBCC5E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D593C-DCDC-46CF-8D66-40493E2F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733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E1 source-only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0E86B-1C13-41D1-B997-E77576FA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431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D7454-DD76-4E06-B419-F45130A9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43150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14D43-91AA-4970-BFEC-9CD693AD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33675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E522F-1EFF-4CC4-A5A3-2E90F4C0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19350"/>
            <a:ext cx="800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0.644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A4BE93-78F9-45A1-AA58-B2BB2F42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2A08A-FD25-45EE-974D-7EB8DE77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88896D-8F3E-449E-9CB2-6DA26C59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33675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4A4BDA-EC5B-44EA-B5A8-985BACF9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19350"/>
            <a:ext cx="89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0.222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FB561-DE13-46AC-98C8-6F636FC8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FA87C8-AA6C-48C9-A481-118A2E4E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E942A-CE87-4627-9B15-1757061A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33675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21334D-2F61-431C-A83D-1820EC16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0.873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5D85FD-B198-4AD5-9287-7928E809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40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CA3A70-A330-4C1B-8F22-24570E42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2557C2-8CAD-423E-82BF-FC232247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3367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849B42-8CE4-4B73-BFBC-5B5C3774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19350"/>
            <a:ext cx="424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增强特征后仍有明显跨域衰减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0F674A-4F20-42C4-9F19-79D0C6DC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DA0CE2-C855-459A-B037-09D849E8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40072E-78AF-436A-9C1E-F04F0E71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98A8B8-27A9-44E1-B89B-086ED6B4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1733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E2 + pseudo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08A556-CC1D-48A0-BC0B-C2CE4D9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432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97E7CB-C3D8-4472-BFD9-0786A2C7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43200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70C365-C82F-43F1-9618-89F10219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33725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C42FC2-8FA6-40A7-8E42-E558A4FC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19400"/>
            <a:ext cx="800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0.753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E1F456-BBB4-441D-8F6E-8320BA65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32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0A0146-A0D3-4258-9DB0-A5107782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320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2AB777-3D62-4DD4-B88F-F0F7AE91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33725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19DDF6-0D9C-4F4D-B558-9D1C65AF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89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0.099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B5DA11-06BC-4505-BEB9-CA77605F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F5622A-D963-44EC-AD4D-5D893437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802849-7078-47A0-B9B3-3FB7EFB4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33725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5ACC9A-E950-4C8A-A3DE-53AEEC9E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1940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0.879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F4633A-D62C-4CC3-A40D-392F191A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43200"/>
            <a:ext cx="440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CC86DF-6847-4717-8A0F-1B3924B1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4320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A15E03-EB9F-4127-A613-65C8C521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3372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1EAAB7-7C4B-4F1D-B195-308E40A1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424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伪标注提供目标域词面信号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ED31E62-D113-44B4-B56E-0BE066F1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6B07F9-69E6-4944-B6B7-91CD43DB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19E6F4-69E8-4E36-B85E-E24BEB45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B4AF48-2403-4A66-A2F9-BFBFA88C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733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E3 + target adapter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7C3FF8-BF92-47B5-BBA4-DE0786AB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E2CADD-42A2-479E-94E2-9F43DBFA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DB90D5-1ABF-4FC2-BEC8-E966C355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33775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7F55DA9-882C-40CC-A4BC-2DB2CA9E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800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0.927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2AC336-42E4-4DB5-9AD5-279F5977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661FE9E-2ACF-4126-BB86-3AB6C068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E6AC341-1E7C-463E-8732-42C369F1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0F7459-089C-4B19-B968-A62AABC8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89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-0.068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3AC33C3-9DE1-4033-ABC0-DEE58724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AEDA09-9A99-4FDB-AA04-73B16C5A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3B15BAE-8342-47A3-8EDC-1520E531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33775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5EA4CD0-8594-4564-B31A-771B1C94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1945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0.958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F3E09F-61DF-4CBD-BAC4-C50B9B35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43250"/>
            <a:ext cx="440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6C59C7-FA70-44E1-8B1A-E7D145E3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4325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046DCB8-7357-4696-9117-08EE832A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3377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9447A45-E62E-471B-AB51-539051CB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424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少量金标校准收益最大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B5EF61F-CA52-4319-BADE-61F67DCA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23E1D15-3301-4364-A682-B7FF1630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E652632-4B83-46D0-A127-F822F4C6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7170CBC-A6C7-4B11-B944-52324510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733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E5 feature filter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B8CD3AE-3F01-4786-90B1-05698C33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433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75948E8-C6B9-4BD5-9780-6B22EB3D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43300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9420A8A-C1AB-4FF7-B967-850302EC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33825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D84460D-3676-4B12-9617-89B8256E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19500"/>
            <a:ext cx="800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0.681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F6DC461-298B-4AFE-8F95-868B675D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433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E1C6CA3-51E0-4D94-90A4-8BA7E79C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4330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F01564C-E6CB-4894-BF68-0BBF84E3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33825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BC92DC6-9985-49A4-97C8-9AF83F5F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9500"/>
            <a:ext cx="89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0.170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BFAF206-0C55-413F-8F0A-420A8D3C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433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370E4E0-E94A-4035-9FFE-91F31845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4330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F80FE85-F99E-4850-A356-DCF89ED2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33825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6751FA3-B5E1-489C-96C4-446E0F0E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1950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0.898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C68BEDF-13ED-43EA-81B5-8833F5CD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43300"/>
            <a:ext cx="440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228838B-31DB-476B-A32B-69F378D5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4330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6D0A49B-2739-4C6E-AEFB-CEDEBA77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3382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99B8103-D2AA-40AE-8275-F341C00A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19500"/>
            <a:ext cx="424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MMD 降低，但过滤过强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1D08880-9A3B-4819-9F74-43AEBBBA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BC846D4-05FA-4074-B0AA-942E19BA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C987B92-0529-4A0B-B4AF-EFBD9549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B4DDA86-4A16-441C-A676-E3F16D0F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1733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E6 char1-5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2EC81EC-A6F0-4847-BE94-C0AABDB0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33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C7CB114-1567-4746-9ABC-3CFEDE39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3350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CCB7D1F-3A33-49B7-A05E-A77475EF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D020E61-08EC-40DB-95C3-1BF7D0BC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19550"/>
            <a:ext cx="800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0.890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0BF196C-882F-45F3-857C-130252A0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12F47C8-BBD0-4034-89B5-ED216E34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920C951-6E07-48F3-B0CD-61B41D09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A69EE4D-DE29-4AE7-98B7-E54B763A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19550"/>
            <a:ext cx="89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-0.019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4E6D09B-02C9-4EB9-B870-BD888AD0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433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08A8CCE-B7A5-4DC0-A9A7-63A0E1EC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4335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90D5FB4-35B6-437B-94B2-F19F3520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D11FF23-9759-4BEC-8800-DE9649AA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91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0.935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9980345-1B34-4754-9423-8C26C4D5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43350"/>
            <a:ext cx="440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3C53963-6843-4312-804A-B31C9893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4335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DA5E6FF-2DE1-485A-8B8D-0F20074B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3387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FA36FE6-967D-4F81-B290-B450454E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19550"/>
            <a:ext cx="424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t>跨域平衡最好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6AB8192-3EB8-47A0-A66F-20BB2678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696883A-4B36-446E-89A3-ACA10009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1EA58AC-11B4-400E-B998-184F14D9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563EB"/>
                </a:solidFill>
              </a:defRPr>
            </a:pPr>
            <a:r>
              <a:t>目标 F1 提升路径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6A45838-B67B-444C-A20A-5C5D19DF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21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0F172A"/>
                </a:solidFill>
              </a:defRPr>
            </a:pPr>
            <a:r>
              <a:t>E1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CAF610A-DA1D-4348-BC83-22DA2358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29200"/>
            <a:ext cx="31432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D916E1D-C3B4-4B49-A214-61997B68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29200"/>
            <a:ext cx="2024253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F6FFFF2-AD4F-4F56-BD44-503B0393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101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563EB"/>
                </a:solidFill>
              </a:defRPr>
            </a:pPr>
            <a:r>
              <a:t>0.644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D1E286C-B460-4F8E-A357-3268A3C6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21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0F172A"/>
                </a:solidFill>
              </a:defRPr>
            </a:pPr>
            <a:r>
              <a:t>E2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7CD67AB-6D6B-403A-96C2-6CE161C0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91150"/>
            <a:ext cx="31432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04797FE-73DA-4BCA-9350-ED68F2ED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91150"/>
            <a:ext cx="2366867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B0D700A-6D45-4268-BFC9-5CC286F3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7210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6A34A"/>
                </a:solidFill>
              </a:defRPr>
            </a:pPr>
            <a:r>
              <a:t>0.753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9569206-BA07-445A-B08F-7AF20860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21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0F172A"/>
                </a:solidFill>
              </a:defRPr>
            </a:pPr>
            <a:r>
              <a:t>E3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6BFB5BA-23EC-496B-89CD-54F60FB2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31432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107E8FE-DA77-40FB-9867-FBF8994C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2913793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B3DB49B-B0C4-4E5A-9008-E50D0977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340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6A34A"/>
                </a:solidFill>
              </a:defRPr>
            </a:pPr>
            <a:r>
              <a:t>0.927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A0A158B-BABA-4BB7-A3D1-08E24858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838700"/>
            <a:ext cx="5219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1AEA923-6738-4584-9B91-D93A7579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292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C2626"/>
                </a:solidFill>
              </a:defRPr>
            </a:pPr>
            <a:r>
              <a:t>负向发现也重要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3796DE5-83A8-4F71-8B42-C8C2FA9C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34000"/>
            <a:ext cx="449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F172A"/>
                </a:solidFill>
              </a:defRPr>
            </a:pPr>
            <a:r>
              <a:t>E5 的 MMD 从 0.049 降到 0.016，但目标 F1 只有 0.681。说明“对齐”不能只看分布距离，还要保护情感触发词。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BED11B2-F8EA-4633-AA78-722EC267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81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Source: results/final_summary.csv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D39BB88-7DCA-44B7-A94C-8F5DD583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1773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CCC211-6ABE-44ED-9FCA-856BB39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6A7FC-3841-48C3-A5B3-52E863CF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33D3D-DEC8-4915-A180-9CB9024D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563EB"/>
                </a:solidFill>
              </a:defRPr>
            </a:pPr>
            <a:r>
              <a:t>FAILURE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86304-7F51-441F-9D0D-0187FFD8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t>失败案例集中在微博语境混合：正向词并不总是正向情绪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4465C-2827-4222-84EF-B7311439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ABB54-5FF8-46EB-9796-0867BF2D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61912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3D882-1A24-4625-9D84-C537E71D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t>真实错误样本（E0）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7BE92-5E76-45B4-A972-2BC4F9E2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54292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72A"/>
                </a:solidFill>
              </a:defRPr>
            </a:pPr>
            <a:r>
              <a:t>“今天又吃多了[抓狂]这劲爆的音乐配上如此的美味，实在无法抗拒啊！黑菌意大利米饭配烤奶酪片太香……现在已经飘飘然了！”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D5872-916D-4FA0-85F2-186A4852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504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DC2626"/>
                </a:solidFill>
              </a:defRPr>
            </a:pPr>
            <a:r>
              <a:t>真实标签：负面 / 预测：正面 / positive prob=0.619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BEED1-DDDC-402B-BAD6-07BCD2D8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36576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2ADF6-9B40-4520-A0D5-D454AF80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0980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t>为什么会错？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C0241-5DD2-4001-9F64-65557C69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65184-8F06-4442-BC0F-12130728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289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F172A"/>
                </a:solidFill>
              </a:defRPr>
            </a:pPr>
            <a:r>
              <a:t>局部有“美味、太香、不错”等正向词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9174C-E0C6-45FB-9FC5-92B8B5A2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43E2A-BA74-4CA8-986A-F57474C4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F172A"/>
                </a:solidFill>
              </a:defRPr>
            </a:pPr>
            <a:r>
              <a:t>整体语境里有“吃多了、抓狂”负面体验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4C2BC-5555-4E6A-A999-2A961359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C1017-302B-42C0-87D2-A996F05F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0F172A"/>
                </a:solidFill>
              </a:defRPr>
            </a:pPr>
            <a:r>
              <a:t>线性 n-gram 缺少跨句语义和反讽建模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E6651-5D81-4E3E-8A47-5D5AD628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420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23B04-15EF-46C8-94DD-CB6EEE16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t>改进方向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2A8EE-3752-4C06-BA6C-0401F15A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72050"/>
            <a:ext cx="819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F172A"/>
                </a:solidFill>
              </a:defRPr>
            </a:pPr>
            <a:r>
              <a:t>加入上下文编码器、表情/反讽特征、人工校验的困难样本集，并把错误类型作为后续主动学习采样依据。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AAAA7-517A-4859-8F51-B938FF2D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81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Source: results/final_error_cases.csv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FD177-FEBA-4F0B-9859-1272BAE1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3897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8758A2-550E-428C-AD31-F1B3BE70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6EC3B-4891-466C-A25E-9094F601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9B5D9-E891-4CE3-BF46-E7AF2295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563EB"/>
                </a:solidFill>
              </a:defRPr>
            </a:pPr>
            <a:r>
              <a:t>WRAP-UP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C40EB-4985-49CA-A0D9-D024BE12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t>最终交付是一个可复现系统：数据、实验、报告和演示路径都闭合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8CB18-4C41-46BC-BFA7-8C325EB8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B113A-3D40-4D89-96A4-C130CB31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A34A"/>
                </a:solidFill>
              </a:defRPr>
            </a:pPr>
            <a:r>
              <a:t>主要贡献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D8E65-66BE-49B4-881F-C67CEEA8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7848A-E7D0-49D0-994A-33B0642E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4591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t>真实公开数据：源域 8000，目标域 6000，含 3600 unlabeled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6D995-5C5D-40F0-8D4F-8C7387B9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7BA20-130E-4592-9364-F8D07060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591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t>E0-E6 完整消融：每个方法 3 个随机种子均值±标准差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440AD-82EC-41B4-A74F-74D6A9BA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D347A-19B6-46A8-B7F2-67B9AF18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4591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t>交付闭环：prepare_real_data / run_final / verify_final /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71B6A-6F6F-4211-9C47-74B5D065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DC2626"/>
                </a:solidFill>
              </a:defRPr>
            </a:pPr>
            <a:r>
              <a:t>局限性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6305D-F736-4C57-8F05-28D82F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972C7-4828-4BA5-B0C8-5542B858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43150"/>
            <a:ext cx="4591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t>CPU 版本用 lexical/hash 特征模拟完整深度迁移框架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32426-F619-470F-BD78-47F9A068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400C3-DC85-482C-AD0B-9CB59C0F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4591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t>反讽、表情和长转发链仍是主要误差来源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4A844-EDAD-4DB5-8FA8-0020D36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B1C72-23A3-405A-8EBF-9CDBD91C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4591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t>后续可补 BERT/RoBERTa 微调和人工一致性评估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2EA19-1B21-493B-A4A9-27E133D4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DB9C1-57AE-4372-9F78-C3150446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80359-64C4-41E4-ABEA-DDADB069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114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6A34A"/>
                </a:solidFill>
              </a:defRPr>
            </a:pPr>
            <a:r>
              <a:t>0.927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87195-4C23-44B9-ABD8-31196774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2114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最佳目标 F1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285737-4B43-4669-96FA-478C7D08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E3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04A86-EAC7-4AEC-88E3-D67D44CE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672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DEB669-EF52-46B5-951D-5077A9BD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672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654EA-674B-41F1-AE0F-6B8B8EF0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19600"/>
            <a:ext cx="2114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563EB"/>
                </a:solidFill>
              </a:defRPr>
            </a:pPr>
            <a:r>
              <a:t>0.935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6ED24E-595F-4CFB-9BD2-B40D574E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10125"/>
            <a:ext cx="2114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E6 负面召回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30E0C3-8C26-4F4E-842B-D81A6BB4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6730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兼顾稳定性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F9DB71-576E-4315-806E-2A536E85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B9445D-08B5-4DAE-A98F-3052F8A9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C5182D-A123-4CFC-B5B5-0BD3314A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19600"/>
            <a:ext cx="2114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59E0B"/>
                </a:solidFill>
              </a:defRPr>
            </a:pPr>
            <a:r>
              <a:t>3 min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605E12-D9BF-41BF-A701-A5132EB2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2114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t>系统演示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B52722-0DAB-4163-939A-EE4F2D88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6730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终端 + 文件 + 报告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6B625E-2CF9-4E21-98FA-040E0B46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67200"/>
            <a:ext cx="2343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0D4E66-E3D4-4FD9-BF5A-8F42374E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5770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t>演示过渡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4B1D40-F283-40FF-A3F5-7BACD73D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81550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DE7F7"/>
                </a:solidFill>
              </a:defRPr>
            </a:pPr>
            <a:r>
              <a:t>接下来用 3 分钟展示：数据准备、最终实验、验证脚本和产物文件。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8646F9-076D-421D-BA5B-BBABB85C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81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t>Source: repository results and final report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8F48B7-BF4C-4C1A-B6FD-CD6CD9FC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7797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2026-06-11T17:35:22.8100000Z</dcterms:created>
  <dcterms:modified xsi:type="dcterms:W3CDTF">2026-06-11T17:35:22.8100000Z</dcterms:modified>
</coreProperties>
</file>